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99" r:id="rId5"/>
    <p:sldId id="295" r:id="rId6"/>
    <p:sldId id="296" r:id="rId7"/>
    <p:sldId id="304" r:id="rId8"/>
    <p:sldId id="301" r:id="rId9"/>
    <p:sldId id="302" r:id="rId10"/>
    <p:sldId id="303" r:id="rId11"/>
    <p:sldId id="30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0B4D7B-0856-3715-B728-DBA32042AA9E}" name="Pawlow, Patricia C." initials="PP" userId="S::pawlowp@upenn.edu::2d59d22e-fdf7-4f07-9ae0-89528d7bb246" providerId="AD"/>
  <p188:author id="{97347DDB-FC58-D303-C008-24FC0E438CF7}" name="Almutairi, Manal Awwadh" initials="MA" userId="S::manala@upenn.edu::c0cc9ec9-69b6-4719-8506-14f43e5261d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78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94" autoAdjust="0"/>
  </p:normalViewPr>
  <p:slideViewPr>
    <p:cSldViewPr>
      <p:cViewPr varScale="1">
        <p:scale>
          <a:sx n="59" d="100"/>
          <a:sy n="59" d="100"/>
        </p:scale>
        <p:origin x="149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54" y="14592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0" d="100"/>
          <a:sy n="100" d="100"/>
        </p:scale>
        <p:origin x="666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Relationship Id="rId1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265C4-1420-489A-965A-C701175D602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B6333-8A1F-44F7-8075-01F908087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2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B6333-8A1F-44F7-8075-01F908087C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887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1780593" y="1524000"/>
            <a:ext cx="6477000" cy="2171383"/>
          </a:xfrm>
        </p:spPr>
        <p:txBody>
          <a:bodyPr anchor="b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br>
              <a:rPr kumimoji="0" lang="en-US" dirty="0"/>
            </a:br>
            <a:br>
              <a:rPr kumimoji="0" lang="en-US" dirty="0"/>
            </a:br>
            <a:r>
              <a:rPr kumimoji="0" lang="en-US" dirty="0"/>
              <a:t>Presentation Title</a:t>
            </a:r>
            <a:br>
              <a:rPr kumimoji="0" lang="en-US" dirty="0"/>
            </a:br>
            <a:r>
              <a:rPr kumimoji="0" lang="en-US" dirty="0"/>
              <a:t>Presenter Name</a:t>
            </a:r>
            <a:br>
              <a:rPr kumimoji="0" lang="en-US" dirty="0"/>
            </a:br>
            <a:r>
              <a:rPr kumimoji="0" lang="en-US" dirty="0"/>
              <a:t>Presenter Organization</a:t>
            </a:r>
            <a:br>
              <a:rPr kumimoji="0" lang="en-US" dirty="0"/>
            </a:br>
            <a:r>
              <a:rPr kumimoji="0" lang="en-US" dirty="0"/>
              <a:t>Presentation Start Time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 baseline="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/>
              <a:t>June 2, 2026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 b="0">
                <a:solidFill>
                  <a:srgbClr val="00206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64179F-251D-43AF-8504-4D26CE72B0FE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096000"/>
            <a:ext cx="1600200" cy="623055"/>
          </a:xfrm>
          <a:prstGeom prst="rect">
            <a:avLst/>
          </a:prstGeom>
        </p:spPr>
      </p:pic>
      <p:sp>
        <p:nvSpPr>
          <p:cNvPr id="13" name="Title 7"/>
          <p:cNvSpPr txBox="1">
            <a:spLocks/>
          </p:cNvSpPr>
          <p:nvPr userDrawn="1"/>
        </p:nvSpPr>
        <p:spPr>
          <a:xfrm>
            <a:off x="4154424" y="4350660"/>
            <a:ext cx="4913376" cy="162342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z="2800" dirty="0">
                <a:solidFill>
                  <a:srgbClr val="002060"/>
                </a:solidFill>
              </a:rPr>
              <a:t>Eastern Pennsylvania Geriatrics Society (ePGS) </a:t>
            </a:r>
            <a:br>
              <a:rPr kumimoji="0" lang="en-US" sz="2800" dirty="0">
                <a:solidFill>
                  <a:srgbClr val="002060"/>
                </a:solidFill>
              </a:rPr>
            </a:br>
            <a:r>
              <a:rPr kumimoji="0" lang="en-US" sz="2800" dirty="0">
                <a:solidFill>
                  <a:srgbClr val="002060"/>
                </a:solidFill>
              </a:rPr>
              <a:t>35</a:t>
            </a:r>
            <a:r>
              <a:rPr kumimoji="0" lang="en-US" sz="2800" baseline="30000" dirty="0">
                <a:solidFill>
                  <a:srgbClr val="002060"/>
                </a:solidFill>
              </a:rPr>
              <a:t>th</a:t>
            </a:r>
            <a:r>
              <a:rPr kumimoji="0" lang="en-US" sz="2800" dirty="0">
                <a:solidFill>
                  <a:srgbClr val="002060"/>
                </a:solidFill>
              </a:rPr>
              <a:t> Annual Research Night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US" dirty="0"/>
              <a:t>Background Information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6/2/2026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264179F-251D-43AF-8504-4D26CE72B0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 hasCustomPrompt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/>
            </a:lvl1pPr>
            <a:lvl2pPr marL="365760" indent="0">
              <a:buNone/>
              <a:defRPr/>
            </a:lvl2pPr>
          </a:lstStyle>
          <a:p>
            <a:pPr lvl="0" eaLnBrk="1" latinLnBrk="0" hangingPunct="1"/>
            <a:r>
              <a:rPr lang="en-US" dirty="0"/>
              <a:t>Limit to 10 Lines of Text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6172200"/>
            <a:ext cx="1371605" cy="548642"/>
          </a:xfrm>
          <a:prstGeom prst="rect">
            <a:avLst/>
          </a:prstGeom>
        </p:spPr>
      </p:pic>
      <p:pic>
        <p:nvPicPr>
          <p:cNvPr id="5" name="Picture 4" descr="Text">
            <a:extLst>
              <a:ext uri="{FF2B5EF4-FFF2-40B4-BE49-F238E27FC236}">
                <a16:creationId xmlns:a16="http://schemas.microsoft.com/office/drawing/2014/main" id="{24E551FF-C3A2-1E30-CF63-B805758C51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6172202"/>
            <a:ext cx="2416761" cy="5486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610B2-3F7F-8B96-657D-646083CDDE03}"/>
              </a:ext>
            </a:extLst>
          </p:cNvPr>
          <p:cNvSpPr txBox="1"/>
          <p:nvPr userDrawn="1"/>
        </p:nvSpPr>
        <p:spPr>
          <a:xfrm>
            <a:off x="2973288" y="6265652"/>
            <a:ext cx="3048000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EPGS 34</a:t>
            </a:r>
            <a:r>
              <a:rPr lang="en-US" sz="1600" baseline="30000" dirty="0">
                <a:solidFill>
                  <a:schemeClr val="bg2"/>
                </a:solidFill>
              </a:rPr>
              <a:t>th</a:t>
            </a:r>
            <a:r>
              <a:rPr lang="en-US" sz="1600" dirty="0">
                <a:solidFill>
                  <a:schemeClr val="bg2"/>
                </a:solidFill>
              </a:rPr>
              <a:t> Annual Research Night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7F4063-2891-E6BA-D064-5763CBE7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6/2/2026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US" dirty="0"/>
              <a:t>Methods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 hasCustomPrompt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/>
            </a:lvl1pPr>
            <a:lvl2pPr marL="365760" indent="0">
              <a:buNone/>
              <a:defRPr/>
            </a:lvl2pPr>
          </a:lstStyle>
          <a:p>
            <a:pPr lvl="0" eaLnBrk="1" latinLnBrk="0" hangingPunct="1"/>
            <a:r>
              <a:rPr lang="en-US" dirty="0"/>
              <a:t>Limit to 10 Lines of Text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6172200"/>
            <a:ext cx="1371605" cy="548642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179F-251D-43AF-8504-4D26CE72B0FE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Text">
            <a:extLst>
              <a:ext uri="{FF2B5EF4-FFF2-40B4-BE49-F238E27FC236}">
                <a16:creationId xmlns:a16="http://schemas.microsoft.com/office/drawing/2014/main" id="{BD3EEF5F-2BFC-2B02-DCA4-D630AE0262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6172202"/>
            <a:ext cx="2416761" cy="548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7E571D-68F7-964F-5DDF-5DAD6FE84B8B}"/>
              </a:ext>
            </a:extLst>
          </p:cNvPr>
          <p:cNvSpPr txBox="1"/>
          <p:nvPr userDrawn="1"/>
        </p:nvSpPr>
        <p:spPr>
          <a:xfrm>
            <a:off x="2973288" y="6265652"/>
            <a:ext cx="3048000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EPGS 34</a:t>
            </a:r>
            <a:r>
              <a:rPr lang="en-US" sz="1600" baseline="30000" dirty="0">
                <a:solidFill>
                  <a:schemeClr val="bg2"/>
                </a:solidFill>
              </a:rPr>
              <a:t>th</a:t>
            </a:r>
            <a:r>
              <a:rPr lang="en-US" sz="1600" dirty="0">
                <a:solidFill>
                  <a:schemeClr val="bg2"/>
                </a:solidFill>
              </a:rPr>
              <a:t> Annual Research Night</a:t>
            </a:r>
          </a:p>
        </p:txBody>
      </p:sp>
    </p:spTree>
    <p:extLst>
      <p:ext uri="{BB962C8B-B14F-4D97-AF65-F5344CB8AC3E}">
        <p14:creationId xmlns:p14="http://schemas.microsoft.com/office/powerpoint/2010/main" val="288847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US" dirty="0"/>
              <a:t>Results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264179F-251D-43AF-8504-4D26CE72B0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 hasCustomPrompt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baseline="0"/>
            </a:lvl1pPr>
            <a:lvl2pPr marL="365760" indent="0">
              <a:buNone/>
              <a:defRPr/>
            </a:lvl2pPr>
          </a:lstStyle>
          <a:p>
            <a:pPr lvl="0" eaLnBrk="1" latinLnBrk="0" hangingPunct="1"/>
            <a:r>
              <a:rPr lang="en-US" dirty="0"/>
              <a:t>One figure or one table per slide – limited to 5 lines of text. References at bottom of slide.</a:t>
            </a:r>
          </a:p>
        </p:txBody>
      </p:sp>
      <p:pic>
        <p:nvPicPr>
          <p:cNvPr id="3" name="Picture 2" descr="Text">
            <a:extLst>
              <a:ext uri="{FF2B5EF4-FFF2-40B4-BE49-F238E27FC236}">
                <a16:creationId xmlns:a16="http://schemas.microsoft.com/office/drawing/2014/main" id="{0152B019-4223-6021-15D4-F07F7A3B58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6172202"/>
            <a:ext cx="2416761" cy="548640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AE3DEC5-D543-2202-2D6F-E90E258E83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6/2/2026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6172200"/>
            <a:ext cx="1371605" cy="5486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47C75-CCF2-3F9F-1C97-D9B78B061CA3}"/>
              </a:ext>
            </a:extLst>
          </p:cNvPr>
          <p:cNvSpPr txBox="1"/>
          <p:nvPr userDrawn="1"/>
        </p:nvSpPr>
        <p:spPr>
          <a:xfrm>
            <a:off x="2973288" y="6265652"/>
            <a:ext cx="3048000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EPGS 35</a:t>
            </a:r>
            <a:r>
              <a:rPr lang="en-US" sz="1600" baseline="30000" dirty="0">
                <a:solidFill>
                  <a:schemeClr val="bg2"/>
                </a:solidFill>
              </a:rPr>
              <a:t>th</a:t>
            </a:r>
            <a:r>
              <a:rPr lang="en-US" sz="1600" dirty="0">
                <a:solidFill>
                  <a:schemeClr val="bg2"/>
                </a:solidFill>
              </a:rPr>
              <a:t> Annual Research Night</a:t>
            </a:r>
          </a:p>
        </p:txBody>
      </p:sp>
    </p:spTree>
    <p:extLst>
      <p:ext uri="{BB962C8B-B14F-4D97-AF65-F5344CB8AC3E}">
        <p14:creationId xmlns:p14="http://schemas.microsoft.com/office/powerpoint/2010/main" val="345597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US" dirty="0"/>
              <a:t>Results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264179F-251D-43AF-8504-4D26CE72B0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 hasCustomPrompt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baseline="0"/>
            </a:lvl1pPr>
            <a:lvl2pPr marL="365760" indent="0">
              <a:buNone/>
              <a:defRPr/>
            </a:lvl2pPr>
          </a:lstStyle>
          <a:p>
            <a:pPr lvl="0" eaLnBrk="1" latinLnBrk="0" hangingPunct="1"/>
            <a:r>
              <a:rPr lang="en-US" dirty="0"/>
              <a:t>Objectives</a:t>
            </a:r>
          </a:p>
        </p:txBody>
      </p:sp>
      <p:pic>
        <p:nvPicPr>
          <p:cNvPr id="3" name="Picture 2" descr="Text">
            <a:extLst>
              <a:ext uri="{FF2B5EF4-FFF2-40B4-BE49-F238E27FC236}">
                <a16:creationId xmlns:a16="http://schemas.microsoft.com/office/drawing/2014/main" id="{0152B019-4223-6021-15D4-F07F7A3B58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6172202"/>
            <a:ext cx="2416761" cy="548640"/>
          </a:xfrm>
          <a:prstGeom prst="rect">
            <a:avLst/>
          </a:prstGeom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AE3DEC5-D543-2202-2D6F-E90E258E83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6/2/2026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6172200"/>
            <a:ext cx="1371605" cy="5486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47C75-CCF2-3F9F-1C97-D9B78B061CA3}"/>
              </a:ext>
            </a:extLst>
          </p:cNvPr>
          <p:cNvSpPr txBox="1"/>
          <p:nvPr userDrawn="1"/>
        </p:nvSpPr>
        <p:spPr>
          <a:xfrm>
            <a:off x="2973288" y="6265652"/>
            <a:ext cx="3048000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EPGS 35</a:t>
            </a:r>
            <a:r>
              <a:rPr lang="en-US" sz="1600" baseline="30000" dirty="0">
                <a:solidFill>
                  <a:schemeClr val="bg2"/>
                </a:solidFill>
              </a:rPr>
              <a:t>th</a:t>
            </a:r>
            <a:r>
              <a:rPr lang="en-US" sz="1600" dirty="0">
                <a:solidFill>
                  <a:schemeClr val="bg2"/>
                </a:solidFill>
              </a:rPr>
              <a:t> Annual Research Night</a:t>
            </a:r>
          </a:p>
        </p:txBody>
      </p:sp>
    </p:spTree>
    <p:extLst>
      <p:ext uri="{BB962C8B-B14F-4D97-AF65-F5344CB8AC3E}">
        <p14:creationId xmlns:p14="http://schemas.microsoft.com/office/powerpoint/2010/main" val="320960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3FBA496-ACD9-C75C-9F2C-9C096CBC46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</p:spPr>
        <p:txBody>
          <a:bodyPr/>
          <a:lstStyle/>
          <a:p>
            <a:r>
              <a:rPr lang="en-US" dirty="0"/>
              <a:t>6/2/2026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/>
            </a:lvl1pPr>
          </a:lstStyle>
          <a:p>
            <a:r>
              <a:rPr kumimoji="0" lang="en-US" dirty="0"/>
              <a:t>Results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264179F-251D-43AF-8504-4D26CE72B0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 hasCustomPrompt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32D2E"/>
              </a:buClr>
              <a:buSzPct val="60000"/>
              <a:buFont typeface="Wingdings"/>
              <a:buNone/>
              <a:tabLst/>
              <a:defRPr b="0" baseline="0"/>
            </a:lvl1pPr>
            <a:lvl2pPr marL="365760" marR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70C0"/>
              </a:buClr>
              <a:buSzPct val="70000"/>
              <a:buFont typeface="Wingdings 2"/>
              <a:buNone/>
              <a:tabLst/>
              <a:defRPr/>
            </a:lvl2pPr>
            <a:lvl3pPr marL="914400" marR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32D2E"/>
              </a:buClr>
              <a:buSzPct val="75000"/>
              <a:buFont typeface="Wingdings"/>
              <a:buChar char=""/>
              <a:tabLst/>
              <a:defRPr baseline="0"/>
            </a:lvl3pPr>
            <a:lvl4pPr marL="1371600" marR="0" indent="-228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32D2E"/>
              </a:buClr>
              <a:buSzPct val="75000"/>
              <a:buFont typeface="Wingdings"/>
              <a:buChar char=""/>
              <a:tabLst/>
              <a:defRPr/>
            </a:lvl4pPr>
            <a:lvl5pPr marL="1828800" marR="0" indent="-228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4AA33"/>
              </a:buClr>
              <a:buSzPct val="65000"/>
              <a:buFont typeface="Wingdings"/>
              <a:buChar char=""/>
              <a:tabLst/>
              <a:defRPr/>
            </a:lvl5pPr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32D2E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52F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One figure or table per slide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32D2E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52F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more than 5 lines of text per slide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32D2E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52F6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References can go at bottom of each slide</a:t>
            </a:r>
          </a:p>
        </p:txBody>
      </p:sp>
      <p:pic>
        <p:nvPicPr>
          <p:cNvPr id="3" name="Picture 2" descr="Text">
            <a:extLst>
              <a:ext uri="{FF2B5EF4-FFF2-40B4-BE49-F238E27FC236}">
                <a16:creationId xmlns:a16="http://schemas.microsoft.com/office/drawing/2014/main" id="{A50B4D62-E0A8-02C7-86F0-D006BB79AF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6172202"/>
            <a:ext cx="2416761" cy="548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1860DD-83DE-D07D-8DBB-05FEAF74593A}"/>
              </a:ext>
            </a:extLst>
          </p:cNvPr>
          <p:cNvSpPr txBox="1"/>
          <p:nvPr userDrawn="1"/>
        </p:nvSpPr>
        <p:spPr>
          <a:xfrm>
            <a:off x="2973288" y="6265652"/>
            <a:ext cx="3048000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EPGS 35</a:t>
            </a:r>
            <a:r>
              <a:rPr lang="en-US" sz="1600" baseline="30000" dirty="0">
                <a:solidFill>
                  <a:schemeClr val="bg2"/>
                </a:solidFill>
              </a:rPr>
              <a:t>th</a:t>
            </a:r>
            <a:r>
              <a:rPr lang="en-US" sz="1600" dirty="0">
                <a:solidFill>
                  <a:schemeClr val="bg2"/>
                </a:solidFill>
              </a:rPr>
              <a:t> Annual Research Night</a:t>
            </a:r>
          </a:p>
        </p:txBody>
      </p:sp>
    </p:spTree>
    <p:extLst>
      <p:ext uri="{BB962C8B-B14F-4D97-AF65-F5344CB8AC3E}">
        <p14:creationId xmlns:p14="http://schemas.microsoft.com/office/powerpoint/2010/main" val="159691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rgbClr val="002060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BE906-E1A1-479C-A10C-6E7A254BE853}" type="datetimeFigureOut">
              <a:rPr lang="en-US" smtClean="0"/>
              <a:t>5/30/26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6264179F-251D-43AF-8504-4D26CE72B0F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6181205"/>
            <a:ext cx="4191000" cy="443279"/>
          </a:xfrm>
          <a:prstGeom prst="rect">
            <a:avLst/>
          </a:prstGeom>
          <a:solidFill>
            <a:srgbClr val="002060"/>
          </a:solidFill>
        </p:spPr>
      </p:pic>
      <p:sp>
        <p:nvSpPr>
          <p:cNvPr id="6" name="TextBox 5"/>
          <p:cNvSpPr txBox="1"/>
          <p:nvPr userDrawn="1"/>
        </p:nvSpPr>
        <p:spPr>
          <a:xfrm>
            <a:off x="2209800" y="26061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Eastern Pennsylvania</a:t>
            </a:r>
            <a:r>
              <a:rPr lang="en-US" baseline="0" dirty="0"/>
              <a:t> Geriatrics Society’s (EPGS)</a:t>
            </a:r>
            <a:r>
              <a:rPr lang="en-US" dirty="0"/>
              <a:t> 35</a:t>
            </a:r>
            <a:r>
              <a:rPr lang="en-US" baseline="30000" dirty="0"/>
              <a:t>th</a:t>
            </a:r>
            <a:r>
              <a:rPr lang="en-US" dirty="0"/>
              <a:t>  Annual Research Night</a:t>
            </a:r>
          </a:p>
        </p:txBody>
      </p:sp>
      <p:pic>
        <p:nvPicPr>
          <p:cNvPr id="4" name="Picture 3" descr="Text">
            <a:extLst>
              <a:ext uri="{FF2B5EF4-FFF2-40B4-BE49-F238E27FC236}">
                <a16:creationId xmlns:a16="http://schemas.microsoft.com/office/drawing/2014/main" id="{C71BBC6B-0483-23E5-AF20-95461A68AC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59" y="6128524"/>
            <a:ext cx="2416761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9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B51EC0A-8D89-331A-BD9D-8811D943F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</p:spPr>
        <p:txBody>
          <a:bodyPr/>
          <a:lstStyle/>
          <a:p>
            <a:r>
              <a:rPr lang="en-US" dirty="0"/>
              <a:t>6/2/2026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 baseline="0"/>
            </a:lvl1pPr>
          </a:lstStyle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264179F-251D-43AF-8504-4D26CE72B0F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2400" baseline="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</a:lstStyle>
          <a:p>
            <a:pPr lvl="0" eaLnBrk="1" latinLnBrk="0" hangingPunct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6172200"/>
            <a:ext cx="1371605" cy="548642"/>
          </a:xfrm>
          <a:prstGeom prst="rect">
            <a:avLst/>
          </a:prstGeom>
        </p:spPr>
      </p:pic>
      <p:pic>
        <p:nvPicPr>
          <p:cNvPr id="3" name="Picture 2" descr="Text">
            <a:extLst>
              <a:ext uri="{FF2B5EF4-FFF2-40B4-BE49-F238E27FC236}">
                <a16:creationId xmlns:a16="http://schemas.microsoft.com/office/drawing/2014/main" id="{1CDE763C-E442-5D3B-F7B1-1FADF05B00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6172202"/>
            <a:ext cx="2416761" cy="548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5C3856-147A-3331-E4CA-847EFA5E0E37}"/>
              </a:ext>
            </a:extLst>
          </p:cNvPr>
          <p:cNvSpPr txBox="1"/>
          <p:nvPr userDrawn="1"/>
        </p:nvSpPr>
        <p:spPr>
          <a:xfrm>
            <a:off x="2973288" y="6265652"/>
            <a:ext cx="3048000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/>
                </a:solidFill>
              </a:rPr>
              <a:t>EPGS 35</a:t>
            </a:r>
            <a:r>
              <a:rPr lang="en-US" sz="1600" baseline="30000" dirty="0">
                <a:solidFill>
                  <a:schemeClr val="bg2"/>
                </a:solidFill>
              </a:rPr>
              <a:t>th</a:t>
            </a:r>
            <a:r>
              <a:rPr lang="en-US" sz="1600" dirty="0">
                <a:solidFill>
                  <a:schemeClr val="bg2"/>
                </a:solidFill>
              </a:rPr>
              <a:t> Annual Research Night</a:t>
            </a:r>
          </a:p>
        </p:txBody>
      </p:sp>
    </p:spTree>
    <p:extLst>
      <p:ext uri="{BB962C8B-B14F-4D97-AF65-F5344CB8AC3E}">
        <p14:creationId xmlns:p14="http://schemas.microsoft.com/office/powerpoint/2010/main" val="582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6/2/2026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 b="1">
                <a:solidFill>
                  <a:srgbClr val="002060"/>
                </a:solidFill>
              </a:defRPr>
            </a:lvl1pPr>
          </a:lstStyle>
          <a:p>
            <a:pPr algn="ctr"/>
            <a:endParaRPr lang="en-US" dirty="0"/>
          </a:p>
          <a:p>
            <a:pPr algn="ctr"/>
            <a:r>
              <a:rPr lang="en-US" dirty="0"/>
              <a:t>EPGS 35th Annual Research Night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264179F-251D-43AF-8504-4D26CE72B0F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6172200"/>
            <a:ext cx="1371605" cy="548642"/>
          </a:xfrm>
          <a:prstGeom prst="rect">
            <a:avLst/>
          </a:prstGeom>
          <a:solidFill>
            <a:srgbClr val="C00000"/>
          </a:solidFill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80" r:id="rId4"/>
    <p:sldLayoutId id="2147483682" r:id="rId5"/>
    <p:sldLayoutId id="2147483678" r:id="rId6"/>
    <p:sldLayoutId id="2147483681" r:id="rId7"/>
    <p:sldLayoutId id="2147483679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manala@upenn.edu" TargetMode="External"/><Relationship Id="rId3" Type="http://schemas.openxmlformats.org/officeDocument/2006/relationships/hyperlink" Target="mailto:Almutairimanal92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533400" y="685800"/>
            <a:ext cx="7876593" cy="21713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Procalcitonin-Guided Antibiotic Stewardship in Hospitalized Patients with Community-Acquired Pneumonia: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6705600" cy="6858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Manal Almutairi, RN, BSN</a:t>
            </a:r>
          </a:p>
          <a:p>
            <a:r>
              <a:rPr lang="en-US" dirty="0">
                <a:solidFill>
                  <a:srgbClr val="002060"/>
                </a:solidFill>
              </a:rPr>
              <a:t>AGACNP Student, University of Pennsylvania </a:t>
            </a:r>
            <a:r>
              <a:rPr lang="en-US" dirty="0"/>
              <a:t>School of Nursing</a:t>
            </a:r>
          </a:p>
        </p:txBody>
      </p:sp>
    </p:spTree>
    <p:extLst>
      <p:ext uri="{BB962C8B-B14F-4D97-AF65-F5344CB8AC3E}">
        <p14:creationId xmlns:p14="http://schemas.microsoft.com/office/powerpoint/2010/main" val="322242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Community Acquired Pneumonia (CAP) is a leading cause of hospitalization and in-hospital mortality worldwide</a:t>
            </a:r>
          </a:p>
          <a:p>
            <a:r>
              <a:rPr lang="en-US" dirty="0"/>
              <a:t>~1.5 million adults hospitalized annually in the U.S. due to CAP; morbidity and mortality disproportionately higher in older adults and those with comorbidities (File &amp; Ramirez, 2023)</a:t>
            </a:r>
          </a:p>
          <a:p>
            <a:r>
              <a:rPr lang="en-US" dirty="0"/>
              <a:t>CAP is a leading reason for antibiotic use and antibiotic overuse contributes to antimicrobial resistance</a:t>
            </a:r>
          </a:p>
          <a:p>
            <a:r>
              <a:rPr lang="en-US" dirty="0"/>
              <a:t>Optimal antibiotic duration in CAP remains poorly defined across clinical guidelines</a:t>
            </a:r>
          </a:p>
          <a:p>
            <a:r>
              <a:rPr lang="en-US" dirty="0"/>
              <a:t>Procalcitonin (PCT) is a biomarker that rises with bacterial infection and falls as infection resolves</a:t>
            </a:r>
          </a:p>
          <a:p>
            <a:r>
              <a:rPr lang="en-US" dirty="0"/>
              <a:t>PCT-guided algorithms have been proposed to safely shorten antibiotic duration</a:t>
            </a:r>
          </a:p>
          <a:p>
            <a:r>
              <a:rPr lang="en-US" dirty="0"/>
              <a:t>The aim of this literature review is to analyze and synthesize the evidence regarding the use of PCT to guide antibiotic treatment in hospitalized patients with CAP. </a:t>
            </a:r>
          </a:p>
          <a:p>
            <a:r>
              <a:rPr lang="en-US" i="1" dirty="0"/>
              <a:t>References: Duijkers et al. (2024); Voiriot et al. (2025); Bouadma et al. (2010)</a:t>
            </a:r>
          </a:p>
        </p:txBody>
      </p:sp>
    </p:spTree>
    <p:extLst>
      <p:ext uri="{BB962C8B-B14F-4D97-AF65-F5344CB8AC3E}">
        <p14:creationId xmlns:p14="http://schemas.microsoft.com/office/powerpoint/2010/main" val="231866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Design: </a:t>
            </a:r>
            <a:r>
              <a:rPr lang="en-US" dirty="0"/>
              <a:t>Systematic</a:t>
            </a:r>
            <a:r>
              <a:rPr lang="en-US" b="1" dirty="0"/>
              <a:t> </a:t>
            </a:r>
            <a:r>
              <a:rPr lang="en-US" dirty="0"/>
              <a:t>literature review following PRISMA guidelines</a:t>
            </a:r>
          </a:p>
          <a:p>
            <a:r>
              <a:rPr lang="en-US" b="1" dirty="0"/>
              <a:t>Databases: </a:t>
            </a:r>
            <a:r>
              <a:rPr lang="en-US" dirty="0"/>
              <a:t>CINAHL (n=113), Scopus (n=54), PubMed (n=4) Total = 171 </a:t>
            </a:r>
          </a:p>
          <a:p>
            <a:r>
              <a:rPr lang="en-US" b="1" dirty="0"/>
              <a:t>Keywords: </a:t>
            </a:r>
            <a:r>
              <a:rPr lang="en-US" dirty="0"/>
              <a:t>Procalcitonin, CAP, antibiotic stewardship, hospitalized adults</a:t>
            </a:r>
          </a:p>
          <a:p>
            <a:r>
              <a:rPr lang="en-US" b="1" dirty="0"/>
              <a:t>Inclusion criteria: </a:t>
            </a:r>
            <a:r>
              <a:rPr lang="en-US" dirty="0"/>
              <a:t>Hospitalized adults with CAP, PCT intervention, antibiotic outcome</a:t>
            </a:r>
          </a:p>
          <a:p>
            <a:r>
              <a:rPr lang="en-US" b="1" dirty="0"/>
              <a:t>Exclusion: </a:t>
            </a:r>
            <a:r>
              <a:rPr lang="en-US" dirty="0"/>
              <a:t>Non-adult populations, HAP/VAP, reviews, editorials, case reports; limited to RCTs and controlled study designs</a:t>
            </a:r>
          </a:p>
          <a:p>
            <a:r>
              <a:rPr lang="en-US" b="1" dirty="0"/>
              <a:t>Screening: </a:t>
            </a:r>
            <a:r>
              <a:rPr lang="en-US" dirty="0"/>
              <a:t>166 screened after deduplication; 17 sought for retrieval; 3 final studies included</a:t>
            </a:r>
          </a:p>
          <a:p>
            <a:r>
              <a:rPr lang="en-US" b="1" dirty="0"/>
              <a:t>Synthesis tool: </a:t>
            </a:r>
            <a:r>
              <a:rPr lang="en-US" dirty="0"/>
              <a:t>Table of Evidence (TOE) used to organize, compare, and contrast variables and findings</a:t>
            </a:r>
          </a:p>
          <a:p>
            <a:r>
              <a:rPr lang="en-US" b="1" dirty="0"/>
              <a:t>Quality appraisal: </a:t>
            </a:r>
            <a:r>
              <a:rPr lang="en-US" dirty="0"/>
              <a:t>All 3 studies rated Level I, Quality A (JHEBP framework)</a:t>
            </a:r>
          </a:p>
          <a:p>
            <a:r>
              <a:rPr lang="en-US" i="1" dirty="0"/>
              <a:t>References: Duijkers et al. (2024); Voiriot et al. (2025); Bouadma et al. (2010)</a:t>
            </a:r>
          </a:p>
        </p:txBody>
      </p:sp>
    </p:spTree>
    <p:extLst>
      <p:ext uri="{BB962C8B-B14F-4D97-AF65-F5344CB8AC3E}">
        <p14:creationId xmlns:p14="http://schemas.microsoft.com/office/powerpoint/2010/main" val="210348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PRISMA Flow Diagram</a:t>
            </a:r>
          </a:p>
        </p:txBody>
      </p:sp>
      <p:pic>
        <p:nvPicPr>
          <p:cNvPr id="3" name="Picture 2" descr="prisma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19" y="1481365"/>
            <a:ext cx="8438061" cy="5148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Results: Antibiotic Duration &amp; Safety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32515"/>
              </p:ext>
            </p:extLst>
          </p:nvPr>
        </p:nvGraphicFramePr>
        <p:xfrm>
          <a:off x="498474" y="1621517"/>
          <a:ext cx="8377554" cy="4666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15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6745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Study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Setting / 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Intervention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Key Finding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</a:rPr>
                        <a:t>Safety Outcome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6745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</a:rPr>
                        <a:t>Duijkers et al. (2024)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Non-ICU RCT
n=468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PCT- &amp; CRP-guided algorithms to stop antibiotics vs standard care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</a:rPr>
                        <a:t>PCT: 5.5 vs 7d (−22%); CRP: 4 vs 7d (−30%); p&lt;0.001 — </a:t>
                      </a:r>
                      <a:r>
                        <a:rPr sz="900" b="1">
                          <a:solidFill>
                            <a:srgbClr val="C00000"/>
                          </a:solidFill>
                        </a:rPr>
                        <a:t>NOT clinically significant</a:t>
                      </a:r>
                      <a:r>
                        <a:rPr sz="900">
                          <a:solidFill>
                            <a:srgbClr val="000000"/>
                          </a:solidFill>
                        </a:rPr>
                        <a:t> for PCT arm (1.5-day difference only)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No difference in mortality, LOS, or clinical stability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6745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</a:rPr>
                        <a:t>Voiriot et al.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ICU RCT
n=385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mPCR + PCT-guided decisions vs standard PCT-guided 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Antibiotic duration reduced by 3 days (95% CI −5.1 to −0.9); p&lt;0.001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No difference in mortality or adverse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745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000000"/>
                          </a:solidFill>
                        </a:rPr>
                        <a:t>Bouadma et al. (2010)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ICU RCT
n=621
(France)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PCT-guided algorithm to start &amp; stop antibiotics vs standard guideline-based care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00000"/>
                          </a:solidFill>
                        </a:rPr>
                        <a:t>+2.7 antibiotic-free days (14.3 vs 11.6d, p&lt;0.001); 23% reduction in ABX exposure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 dirty="0">
                          <a:solidFill>
                            <a:srgbClr val="000000"/>
                          </a:solidFill>
                        </a:rPr>
                        <a:t>Non-inferior mortality Day 28 &amp; 60; no relapse or superinfection difference</a:t>
                      </a:r>
                    </a:p>
                  </a:txBody>
                  <a:tcPr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61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915400" cy="990600"/>
          </a:xfrm>
        </p:spPr>
        <p:txBody>
          <a:bodyPr>
            <a:normAutofit/>
          </a:bodyPr>
          <a:lstStyle/>
          <a:p>
            <a:r>
              <a:rPr lang="en-US" sz="3600" b="1" dirty="0"/>
              <a:t>Discussion, Limitations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712231"/>
            <a:ext cx="8679997" cy="456791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Discussion: </a:t>
            </a:r>
            <a:r>
              <a:rPr lang="en-US" dirty="0"/>
              <a:t>3 RCTs demonstrated PCT-guided protocols reduced antibiotic use across non-ICU wards and ICUs without increasing adverse outcomes or mortality</a:t>
            </a:r>
          </a:p>
          <a:p>
            <a:r>
              <a:rPr lang="en-US" dirty="0"/>
              <a:t>Benefits on antimicrobial resistance were limited in low-resistance regions; larger reductions seen in non-ICU settings</a:t>
            </a:r>
          </a:p>
          <a:p>
            <a:pPr marL="0" indent="0">
              <a:buNone/>
            </a:pPr>
            <a:r>
              <a:rPr lang="en-US" b="1" dirty="0"/>
              <a:t>Limitations: </a:t>
            </a:r>
            <a:r>
              <a:rPr lang="en-US" dirty="0"/>
              <a:t>Only 3 studies met inclusion criteria; all conducted in Europe (low MRSA- may affect generalizability); open-label designs; not powered for safety</a:t>
            </a:r>
          </a:p>
          <a:p>
            <a:r>
              <a:rPr lang="en-US" dirty="0"/>
              <a:t>Selection bias in non-ICU trial (randomized after 2-3 days on antibiotics, milder cases); 53% non-adherence to PCT algorithm in PRORATA; PCT guidance used in both arms in MULTICAP trial</a:t>
            </a:r>
          </a:p>
          <a:p>
            <a:r>
              <a:rPr lang="en-US" dirty="0"/>
              <a:t>Lack of standardized intervention each study used different PCT thresholds, measurement frequencies, and decision algorithms, limiting direct comparison across studies</a:t>
            </a:r>
          </a:p>
          <a:p>
            <a:pPr marL="0" indent="0">
              <a:buNone/>
            </a:pPr>
            <a:r>
              <a:rPr lang="en-US" b="1" dirty="0"/>
              <a:t>Practice Recommendation: </a:t>
            </a:r>
            <a:r>
              <a:rPr lang="en-US" dirty="0"/>
              <a:t>PCT-guided stewardship is a low-risk intervention benefits of reduced antibiotic exposure outweigh minimal risk in stable, immunocompetent CAP patients; supports cautious integration into clinical stewardship programs</a:t>
            </a:r>
          </a:p>
          <a:p>
            <a:pPr marL="0" indent="0">
              <a:buNone/>
            </a:pPr>
            <a:r>
              <a:rPr lang="en-US" b="1" dirty="0"/>
              <a:t>Future Research: </a:t>
            </a:r>
            <a:r>
              <a:rPr lang="en-US" dirty="0"/>
              <a:t>(1) Standardize PCT algorithms with universal thresholds and measurement frequency across institutions; (2) Larger trials in high-resistance/diverse settings; (3) Non-inferiority trials in sicker/ICU populations</a:t>
            </a:r>
          </a:p>
          <a:p>
            <a:pPr marL="0" indent="0">
              <a:buNone/>
            </a:pPr>
            <a:r>
              <a:rPr lang="en-US" b="1" dirty="0"/>
              <a:t>Conclusion: </a:t>
            </a:r>
            <a:r>
              <a:rPr lang="en-US" dirty="0"/>
              <a:t>PCT-guided stewardship safely reduces antibiotic exposure in hospitalized CAP patients; evidence supports but does not yet mandate universal adoption</a:t>
            </a:r>
          </a:p>
          <a:p>
            <a:r>
              <a:rPr lang="en-US" i="1" dirty="0"/>
              <a:t>References: Duijkers et al. (2024) PLoS ONE; Voiriot et al. (2025) Intensive Care Med; Bouadma et al. (2010) Lancet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77EA5B-4093-B772-3C70-0C0D4CBAE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612" y="5721902"/>
            <a:ext cx="1051278" cy="105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3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28600" y="2743200"/>
            <a:ext cx="8266113" cy="2819400"/>
          </a:xfrm>
        </p:spPr>
        <p:txBody>
          <a:bodyPr>
            <a:normAutofit/>
          </a:bodyPr>
          <a:lstStyle/>
          <a:p>
            <a:r>
              <a:rPr lang="en-US" i="1" u="sng" dirty="0"/>
              <a:t>For more information, please contact:</a:t>
            </a:r>
          </a:p>
          <a:p>
            <a:r>
              <a:rPr lang="en-US" dirty="0"/>
              <a:t>Manal Almutairi, RN, BSN | AGACNP Student, University of Pennsylvania School of Nursing</a:t>
            </a:r>
          </a:p>
          <a:p>
            <a:r>
              <a:rPr lang="en-US" dirty="0">
                <a:hlinkClick r:id="rId2"/>
              </a:rPr>
              <a:t>manala@upenn.edu</a:t>
            </a:r>
            <a:endParaRPr lang="en-US" dirty="0"/>
          </a:p>
          <a:p>
            <a:r>
              <a:rPr lang="en-US" dirty="0">
                <a:hlinkClick r:id="rId3"/>
              </a:rPr>
              <a:t>Almutairimanal92@gmail.com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79315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360000" y="10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B3A5C"/>
                </a:solidFill>
              </a:rPr>
              <a:t>In hospitalized patients with community-acquired pneumonia, does the use of procalcitonin (PCT) decrease
antibiotic use?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72000" y="900000"/>
            <a:ext cx="360000" cy="234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Identification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72000" y="3420000"/>
            <a:ext cx="360000" cy="198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Screening</a:t>
            </a:r>
          </a:p>
        </p:txBody>
      </p:sp>
      <p:sp>
        <p:nvSpPr>
          <p:cNvPr id="7" name="Rectangle 6"/>
          <p:cNvSpPr/>
          <p:nvPr/>
        </p:nvSpPr>
        <p:spPr>
          <a:xfrm rot="16200000">
            <a:off x="72000" y="5580000"/>
            <a:ext cx="360000" cy="108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Included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0000" y="720000"/>
            <a:ext cx="2700000" cy="720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Studies from databases/registers </a:t>
            </a:r>
            <a:r>
              <a:rPr sz="700" b="1">
                <a:solidFill>
                  <a:srgbClr val="1B3A5C"/>
                </a:solidFill>
              </a:rPr>
              <a:t>(n = 171)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CINAHL (n = 113)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Scopus (n = 54)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PubMed (n = 4)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720000"/>
            <a:ext cx="3060000" cy="432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References from other sources </a:t>
            </a:r>
            <a:r>
              <a:rPr sz="700" b="1">
                <a:solidFill>
                  <a:srgbClr val="1B3A5C"/>
                </a:solidFill>
              </a:rPr>
              <a:t>(n = 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0000" y="1800000"/>
            <a:ext cx="3060000" cy="792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References removed </a:t>
            </a:r>
            <a:r>
              <a:rPr sz="700" b="1">
                <a:solidFill>
                  <a:srgbClr val="1B3A5C"/>
                </a:solidFill>
              </a:rPr>
              <a:t>(n = 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Duplicates identified manually (n = 2)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Duplicates identified by Covidence (n = 3)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Marked as ineligible by automation tools (n = 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Other reasons (n = 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60000" y="2880000"/>
            <a:ext cx="2700000" cy="432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Studies screened </a:t>
            </a:r>
            <a:r>
              <a:rPr sz="700" b="1">
                <a:solidFill>
                  <a:srgbClr val="1B3A5C"/>
                </a:solidFill>
              </a:rPr>
              <a:t>(n = 166)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0" y="2700000"/>
            <a:ext cx="3060000" cy="1260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1B3A5C"/>
                </a:solidFill>
              </a:rPr>
              <a:t>Studies excluded </a:t>
            </a:r>
            <a:r>
              <a:rPr sz="650" b="1">
                <a:solidFill>
                  <a:srgbClr val="1B3A5C"/>
                </a:solidFill>
              </a:rPr>
              <a:t>(n = 149)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1B3A5C"/>
                </a:solidFill>
              </a:rPr>
              <a:t>Not hospitalized adult population </a:t>
            </a:r>
            <a:r>
              <a:rPr sz="650" b="1">
                <a:solidFill>
                  <a:srgbClr val="1B3A5C"/>
                </a:solidFill>
              </a:rPr>
              <a:t>(n = 40)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1B3A5C"/>
                </a:solidFill>
              </a:rPr>
              <a:t>Did not evaluate procalcitonin or antibiotic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1B3A5C"/>
                </a:solidFill>
              </a:rPr>
              <a:t>stewardship intervention </a:t>
            </a:r>
            <a:r>
              <a:rPr sz="650" b="1">
                <a:solidFill>
                  <a:srgbClr val="1B3A5C"/>
                </a:solidFill>
              </a:rPr>
              <a:t>(n = 35)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1B3A5C"/>
                </a:solidFill>
              </a:rPr>
              <a:t>Did not report outcomes of interest (antibiotic use,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1B3A5C"/>
                </a:solidFill>
              </a:rPr>
              <a:t>appropriateness, or MDRO) </a:t>
            </a:r>
            <a:r>
              <a:rPr sz="650" b="1">
                <a:solidFill>
                  <a:srgbClr val="1B3A5C"/>
                </a:solidFill>
              </a:rPr>
              <a:t>(n = 30)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1B3A5C"/>
                </a:solidFill>
              </a:rPr>
              <a:t>Not primary research studies (reviews, editorials,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1B3A5C"/>
                </a:solidFill>
              </a:rPr>
              <a:t>case reports) </a:t>
            </a:r>
            <a:r>
              <a:rPr sz="650" b="1">
                <a:solidFill>
                  <a:srgbClr val="1B3A5C"/>
                </a:solidFill>
              </a:rPr>
              <a:t>(n = 25)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1B3A5C"/>
                </a:solidFill>
              </a:rPr>
              <a:t>Not related to community-acquired pneumonia </a:t>
            </a:r>
            <a:r>
              <a:rPr sz="650" b="1">
                <a:solidFill>
                  <a:srgbClr val="1B3A5C"/>
                </a:solidFill>
              </a:rPr>
              <a:t>(n = 19)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0000" y="4140000"/>
            <a:ext cx="2700000" cy="432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Studies sought for retrieval </a:t>
            </a:r>
            <a:r>
              <a:rPr sz="700" b="1">
                <a:solidFill>
                  <a:srgbClr val="1B3A5C"/>
                </a:solidFill>
              </a:rPr>
              <a:t>(n = 17)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0000" y="4140000"/>
            <a:ext cx="3060000" cy="432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Studies not retrieved </a:t>
            </a:r>
            <a:r>
              <a:rPr sz="700" b="1">
                <a:solidFill>
                  <a:srgbClr val="1B3A5C"/>
                </a:solidFill>
              </a:rPr>
              <a:t>(n = 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0000" y="4860000"/>
            <a:ext cx="2700000" cy="432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Studies assessed for eligibility </a:t>
            </a:r>
            <a:r>
              <a:rPr sz="700" b="1">
                <a:solidFill>
                  <a:srgbClr val="1B3A5C"/>
                </a:solidFill>
              </a:rPr>
              <a:t>(n = 17)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4608000"/>
            <a:ext cx="3060000" cy="900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Studies excluded </a:t>
            </a:r>
            <a:r>
              <a:rPr sz="700" b="1">
                <a:solidFill>
                  <a:srgbClr val="1B3A5C"/>
                </a:solidFill>
              </a:rPr>
              <a:t>(n = 14)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Wrong outcomes (n = 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Wrong indication (n = 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Wrong intervention (n = 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Wrong study design (n = 4)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Wrong patient population (n = 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60000" y="5688000"/>
            <a:ext cx="2700000" cy="432000"/>
          </a:xfrm>
          <a:prstGeom prst="rect">
            <a:avLst/>
          </a:prstGeom>
          <a:noFill/>
          <a:ln w="19050">
            <a:solidFill>
              <a:srgbClr val="4A9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Studies included in review </a:t>
            </a:r>
            <a:r>
              <a:rPr sz="700" b="1">
                <a:solidFill>
                  <a:srgbClr val="1B3A5C"/>
                </a:solidFill>
              </a:rPr>
              <a:t>(n = 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0000" y="5832000"/>
            <a:ext cx="3060000" cy="540000"/>
          </a:xfrm>
          <a:prstGeom prst="rect">
            <a:avLst/>
          </a:prstGeom>
          <a:noFill/>
          <a:ln w="19050">
            <a:solidFill>
              <a:srgbClr val="4A90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Included studies ongoing </a:t>
            </a:r>
            <a:r>
              <a:rPr sz="700" b="1">
                <a:solidFill>
                  <a:srgbClr val="1B3A5C"/>
                </a:solidFill>
              </a:rPr>
              <a:t>(n = 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1B3A5C"/>
                </a:solidFill>
              </a:rPr>
              <a:t>Studies awaiting classification </a:t>
            </a:r>
            <a:r>
              <a:rPr sz="700" b="1">
                <a:solidFill>
                  <a:srgbClr val="1B3A5C"/>
                </a:solidFill>
              </a:rPr>
              <a:t>(n = 0)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10000.0" y="1440000"/>
            <a:ext cx="0.0" cy="54000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10000.0" y="1980000"/>
            <a:ext cx="0.0" cy="90000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70000.0" y="1152000"/>
            <a:ext cx="0.0" cy="28800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610000.0" y="1440000"/>
            <a:ext cx="3960000.0" cy="54000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10000.0" y="3311999"/>
            <a:ext cx="0.0" cy="828001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10000.0" y="4572000"/>
            <a:ext cx="0.0" cy="28800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10000.0" y="5292000"/>
            <a:ext cx="0.0" cy="39600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10000.0" y="1980000"/>
            <a:ext cx="2430000.0" cy="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60000" y="3096000"/>
            <a:ext cx="1080000" cy="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960000" y="4356000"/>
            <a:ext cx="1080000" cy="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60000" y="5076000"/>
            <a:ext cx="1080000" cy="0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960000" y="5903999"/>
            <a:ext cx="1080000" cy="108001"/>
          </a:xfrm>
          <a:prstGeom prst="line">
            <a:avLst/>
          </a:prstGeom>
          <a:ln w="15240">
            <a:solidFill>
              <a:srgbClr val="4A90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0000" y="6408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1B3A5C"/>
                </a:solidFill>
              </a:rPr>
              <a:t>22nd March 2026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Custom 76">
      <a:dk1>
        <a:srgbClr val="FEB80A"/>
      </a:dk1>
      <a:lt1>
        <a:srgbClr val="152F69"/>
      </a:lt1>
      <a:dk2>
        <a:srgbClr val="FFFFFF"/>
      </a:dk2>
      <a:lt2>
        <a:srgbClr val="E7DEC9"/>
      </a:lt2>
      <a:accent1>
        <a:srgbClr val="0070C0"/>
      </a:accent1>
      <a:accent2>
        <a:srgbClr val="C32D2E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8318A286511247BDF2643BCBB4C605" ma:contentTypeVersion="12" ma:contentTypeDescription="Create a new document." ma:contentTypeScope="" ma:versionID="178fb17f301a51185125093511c106aa">
  <xsd:schema xmlns:xsd="http://www.w3.org/2001/XMLSchema" xmlns:xs="http://www.w3.org/2001/XMLSchema" xmlns:p="http://schemas.microsoft.com/office/2006/metadata/properties" xmlns:ns3="f2536f89-2217-4a28-8ef9-fe864954cbcc" xmlns:ns4="942ae9a1-e3b3-4112-85a1-36cb5e7dfe40" targetNamespace="http://schemas.microsoft.com/office/2006/metadata/properties" ma:root="true" ma:fieldsID="da3a34916d3a517ec1836168201f021e" ns3:_="" ns4:_="">
    <xsd:import namespace="f2536f89-2217-4a28-8ef9-fe864954cbcc"/>
    <xsd:import namespace="942ae9a1-e3b3-4112-85a1-36cb5e7dfe4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536f89-2217-4a28-8ef9-fe864954cb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ae9a1-e3b3-4112-85a1-36cb5e7dfe4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1C7C5A-1C9A-4A85-B321-996BF6F7CA2F}">
  <ds:schemaRefs>
    <ds:schemaRef ds:uri="http://schemas.microsoft.com/office/2006/metadata/properties"/>
    <ds:schemaRef ds:uri="http://www.w3.org/2000/xmlns/"/>
  </ds:schemaRefs>
</ds:datastoreItem>
</file>

<file path=customXml/itemProps2.xml><?xml version="1.0" encoding="utf-8"?>
<ds:datastoreItem xmlns:ds="http://schemas.openxmlformats.org/officeDocument/2006/customXml" ds:itemID="{1AE65457-30F1-4586-AE4F-4FCA275813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14EF8D-A2F1-49C2-AF2E-D027A112AD86}">
  <ds:schemaRefs>
    <ds:schemaRef ds:uri="http://schemas.microsoft.com/office/2006/metadata/contentType"/>
    <ds:schemaRef ds:uri="http://www.w3.org/2000/xmlns/"/>
    <ds:schemaRef ds:uri="http://schemas.microsoft.com/office/2006/metadata/properties/metaAttributes"/>
    <ds:schemaRef ds:uri="http://www.w3.org/2001/XMLSchema"/>
    <ds:schemaRef ds:uri="f2536f89-2217-4a28-8ef9-fe864954cbcc"/>
    <ds:schemaRef ds:uri="942ae9a1-e3b3-4112-85a1-36cb5e7dfe4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1204</TotalTime>
  <Words>778</Words>
  <Application>Microsoft Office PowerPoint</Application>
  <PresentationFormat>On-screen Show (4:3)</PresentationFormat>
  <Paragraphs>57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Median</vt:lpstr>
      <vt:lpstr>Procalcitonin-Guided Antibiotic Stewardship in Hospitalized Patients with Community-Acquired Pneumonia:</vt:lpstr>
      <vt:lpstr>Background</vt:lpstr>
      <vt:lpstr>Methods</vt:lpstr>
      <vt:lpstr>PRISMA Flow Diagram</vt:lpstr>
      <vt:lpstr>Results: Antibiotic Duration &amp; Safety</vt:lpstr>
      <vt:lpstr>Discussion, Limitations &amp; Recommendations</vt:lpstr>
      <vt:lpstr>Questions and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AGS MEMBERS BUSINESS MEETING AND PLENARY SESSION  John Heath, MD 2011 Annual Meeting Chair</dc:title>
  <dc:creator>Christine Campanelli</dc:creator>
  <cp:lastModifiedBy>Almutairi, Manal Awwadh</cp:lastModifiedBy>
  <cp:revision>104</cp:revision>
  <dcterms:created xsi:type="dcterms:W3CDTF">2011-05-09T18:18:13Z</dcterms:created>
  <dcterms:modified xsi:type="dcterms:W3CDTF">2026-05-30T21:06:18Z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0x0101008B8318A286511247BDF2643BCBB4C605</vt:lpwstr>
  </property>
</Properties>
</file>