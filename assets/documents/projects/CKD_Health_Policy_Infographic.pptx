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63" r:id="rId2"/>
    <p:sldId id="264" r:id="rId3"/>
    <p:sldId id="265" r:id="rId4"/>
    <p:sldId id="314" r:id="rId5"/>
    <p:sldId id="315" r:id="rId6"/>
    <p:sldId id="279" r:id="rId7"/>
    <p:sldId id="280" r:id="rId8"/>
    <p:sldId id="316" r:id="rId9"/>
    <p:sldId id="290" r:id="rId10"/>
    <p:sldId id="259" r:id="rId11"/>
    <p:sldId id="260" r:id="rId12"/>
    <p:sldId id="261" r:id="rId13"/>
    <p:sldId id="262" r:id="rId14"/>
    <p:sldId id="292" r:id="rId15"/>
    <p:sldId id="293" r:id="rId16"/>
    <p:sldId id="294" r:id="rId17"/>
    <p:sldId id="295" r:id="rId18"/>
    <p:sldId id="267" r:id="rId19"/>
    <p:sldId id="268" r:id="rId20"/>
    <p:sldId id="269" r:id="rId21"/>
    <p:sldId id="270" r:id="rId22"/>
    <p:sldId id="271" r:id="rId23"/>
    <p:sldId id="272" r:id="rId24"/>
    <p:sldId id="273" r:id="rId25"/>
    <p:sldId id="274" r:id="rId26"/>
    <p:sldId id="275"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405"/>
  </p:normalViewPr>
  <p:slideViewPr>
    <p:cSldViewPr snapToGrid="0">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Pennsylvania</c:v>
                </c:pt>
              </c:strCache>
            </c:strRef>
          </c:tx>
          <c:spPr>
            <a:solidFill>
              <a:srgbClr val="378ADD"/>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Premature death
(YPLL/100K)</c:v>
                </c:pt>
                <c:pt idx="1">
                  <c:v>CV deaths
(/100K)</c:v>
                </c:pt>
              </c:strCache>
            </c:strRef>
          </c:cat>
          <c:val>
            <c:numRef>
              <c:f>Sheet1!$B$2:$B$3</c:f>
              <c:numCache>
                <c:formatCode>General</c:formatCode>
                <c:ptCount val="2"/>
                <c:pt idx="0">
                  <c:v>6200</c:v>
                </c:pt>
                <c:pt idx="1">
                  <c:v>240</c:v>
                </c:pt>
              </c:numCache>
            </c:numRef>
          </c:val>
          <c:extLst>
            <c:ext xmlns:c16="http://schemas.microsoft.com/office/drawing/2014/chart" uri="{C3380CC4-5D6E-409C-BE32-E72D297353CC}">
              <c16:uniqueId val="{00000000-B055-8C49-828E-98EE00B563CC}"/>
            </c:ext>
          </c:extLst>
        </c:ser>
        <c:ser>
          <c:idx val="1"/>
          <c:order val="1"/>
          <c:tx>
            <c:strRef>
              <c:f>Sheet1!$C$1</c:f>
              <c:strCache>
                <c:ptCount val="1"/>
                <c:pt idx="0">
                  <c:v>Chester</c:v>
                </c:pt>
              </c:strCache>
            </c:strRef>
          </c:tx>
          <c:spPr>
            <a:solidFill>
              <a:srgbClr val="185FA5"/>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Premature death
(YPLL/100K)</c:v>
                </c:pt>
                <c:pt idx="1">
                  <c:v>CV deaths
(/100K)</c:v>
                </c:pt>
              </c:strCache>
            </c:strRef>
          </c:cat>
          <c:val>
            <c:numRef>
              <c:f>Sheet1!$C$2:$C$3</c:f>
              <c:numCache>
                <c:formatCode>General</c:formatCode>
                <c:ptCount val="2"/>
                <c:pt idx="0">
                  <c:v>3800</c:v>
                </c:pt>
                <c:pt idx="1">
                  <c:v>175</c:v>
                </c:pt>
              </c:numCache>
            </c:numRef>
          </c:val>
          <c:extLst>
            <c:ext xmlns:c16="http://schemas.microsoft.com/office/drawing/2014/chart" uri="{C3380CC4-5D6E-409C-BE32-E72D297353CC}">
              <c16:uniqueId val="{00000001-B055-8C49-828E-98EE00B563CC}"/>
            </c:ext>
          </c:extLst>
        </c:ser>
        <c:ser>
          <c:idx val="2"/>
          <c:order val="2"/>
          <c:tx>
            <c:strRef>
              <c:f>Sheet1!$D$1</c:f>
              <c:strCache>
                <c:ptCount val="1"/>
                <c:pt idx="0">
                  <c:v>Philadelphia</c:v>
                </c:pt>
              </c:strCache>
            </c:strRef>
          </c:tx>
          <c:spPr>
            <a:solidFill>
              <a:srgbClr val="E24B4A"/>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Premature death
(YPLL/100K)</c:v>
                </c:pt>
                <c:pt idx="1">
                  <c:v>CV deaths
(/100K)</c:v>
                </c:pt>
              </c:strCache>
            </c:strRef>
          </c:cat>
          <c:val>
            <c:numRef>
              <c:f>Sheet1!$D$2:$D$3</c:f>
              <c:numCache>
                <c:formatCode>General</c:formatCode>
                <c:ptCount val="2"/>
                <c:pt idx="0">
                  <c:v>9100</c:v>
                </c:pt>
                <c:pt idx="1">
                  <c:v>320</c:v>
                </c:pt>
              </c:numCache>
            </c:numRef>
          </c:val>
          <c:extLst>
            <c:ext xmlns:c16="http://schemas.microsoft.com/office/drawing/2014/chart" uri="{C3380CC4-5D6E-409C-BE32-E72D297353CC}">
              <c16:uniqueId val="{00000002-B055-8C49-828E-98EE00B563CC}"/>
            </c:ext>
          </c:extLst>
        </c:ser>
        <c:ser>
          <c:idx val="3"/>
          <c:order val="3"/>
          <c:tx>
            <c:strRef>
              <c:f>Sheet1!$E$1</c:f>
              <c:strCache>
                <c:ptCount val="1"/>
                <c:pt idx="0">
                  <c:v>Luzerne</c:v>
                </c:pt>
              </c:strCache>
            </c:strRef>
          </c:tx>
          <c:spPr>
            <a:solidFill>
              <a:srgbClr val="BA7517"/>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Premature death
(YPLL/100K)</c:v>
                </c:pt>
                <c:pt idx="1">
                  <c:v>CV deaths
(/100K)</c:v>
                </c:pt>
              </c:strCache>
            </c:strRef>
          </c:cat>
          <c:val>
            <c:numRef>
              <c:f>Sheet1!$E$2:$E$3</c:f>
              <c:numCache>
                <c:formatCode>General</c:formatCode>
                <c:ptCount val="2"/>
                <c:pt idx="0">
                  <c:v>7500</c:v>
                </c:pt>
                <c:pt idx="1">
                  <c:v>290</c:v>
                </c:pt>
              </c:numCache>
            </c:numRef>
          </c:val>
          <c:extLst>
            <c:ext xmlns:c16="http://schemas.microsoft.com/office/drawing/2014/chart" uri="{C3380CC4-5D6E-409C-BE32-E72D297353CC}">
              <c16:uniqueId val="{00000003-B055-8C49-828E-98EE00B563C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3D1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Pennsylvania</c:v>
                </c:pt>
              </c:strCache>
            </c:strRef>
          </c:tx>
          <c:spPr>
            <a:solidFill>
              <a:srgbClr val="378ADD"/>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Diabetes (%)</c:v>
                </c:pt>
                <c:pt idx="1">
                  <c:v>Poor/fair health (%)</c:v>
                </c:pt>
              </c:strCache>
            </c:strRef>
          </c:cat>
          <c:val>
            <c:numRef>
              <c:f>Sheet1!$B$2:$B$3</c:f>
              <c:numCache>
                <c:formatCode>General</c:formatCode>
                <c:ptCount val="2"/>
                <c:pt idx="0">
                  <c:v>11</c:v>
                </c:pt>
                <c:pt idx="1">
                  <c:v>17</c:v>
                </c:pt>
              </c:numCache>
            </c:numRef>
          </c:val>
          <c:extLst>
            <c:ext xmlns:c16="http://schemas.microsoft.com/office/drawing/2014/chart" uri="{C3380CC4-5D6E-409C-BE32-E72D297353CC}">
              <c16:uniqueId val="{00000000-5AAB-C445-AB48-E92C71E57EA8}"/>
            </c:ext>
          </c:extLst>
        </c:ser>
        <c:ser>
          <c:idx val="1"/>
          <c:order val="1"/>
          <c:tx>
            <c:strRef>
              <c:f>Sheet1!$C$1</c:f>
              <c:strCache>
                <c:ptCount val="1"/>
                <c:pt idx="0">
                  <c:v>Chester</c:v>
                </c:pt>
              </c:strCache>
            </c:strRef>
          </c:tx>
          <c:spPr>
            <a:solidFill>
              <a:srgbClr val="185FA5"/>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Diabetes (%)</c:v>
                </c:pt>
                <c:pt idx="1">
                  <c:v>Poor/fair health (%)</c:v>
                </c:pt>
              </c:strCache>
            </c:strRef>
          </c:cat>
          <c:val>
            <c:numRef>
              <c:f>Sheet1!$C$2:$C$3</c:f>
              <c:numCache>
                <c:formatCode>General</c:formatCode>
                <c:ptCount val="2"/>
                <c:pt idx="0">
                  <c:v>8</c:v>
                </c:pt>
                <c:pt idx="1">
                  <c:v>9</c:v>
                </c:pt>
              </c:numCache>
            </c:numRef>
          </c:val>
          <c:extLst>
            <c:ext xmlns:c16="http://schemas.microsoft.com/office/drawing/2014/chart" uri="{C3380CC4-5D6E-409C-BE32-E72D297353CC}">
              <c16:uniqueId val="{00000001-5AAB-C445-AB48-E92C71E57EA8}"/>
            </c:ext>
          </c:extLst>
        </c:ser>
        <c:ser>
          <c:idx val="2"/>
          <c:order val="2"/>
          <c:tx>
            <c:strRef>
              <c:f>Sheet1!$D$1</c:f>
              <c:strCache>
                <c:ptCount val="1"/>
                <c:pt idx="0">
                  <c:v>Philadelphia</c:v>
                </c:pt>
              </c:strCache>
            </c:strRef>
          </c:tx>
          <c:spPr>
            <a:solidFill>
              <a:srgbClr val="E24B4A"/>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Diabetes (%)</c:v>
                </c:pt>
                <c:pt idx="1">
                  <c:v>Poor/fair health (%)</c:v>
                </c:pt>
              </c:strCache>
            </c:strRef>
          </c:cat>
          <c:val>
            <c:numRef>
              <c:f>Sheet1!$D$2:$D$3</c:f>
              <c:numCache>
                <c:formatCode>General</c:formatCode>
                <c:ptCount val="2"/>
                <c:pt idx="0">
                  <c:v>15</c:v>
                </c:pt>
                <c:pt idx="1">
                  <c:v>29</c:v>
                </c:pt>
              </c:numCache>
            </c:numRef>
          </c:val>
          <c:extLst>
            <c:ext xmlns:c16="http://schemas.microsoft.com/office/drawing/2014/chart" uri="{C3380CC4-5D6E-409C-BE32-E72D297353CC}">
              <c16:uniqueId val="{00000002-5AAB-C445-AB48-E92C71E57EA8}"/>
            </c:ext>
          </c:extLst>
        </c:ser>
        <c:ser>
          <c:idx val="3"/>
          <c:order val="3"/>
          <c:tx>
            <c:strRef>
              <c:f>Sheet1!$E$1</c:f>
              <c:strCache>
                <c:ptCount val="1"/>
                <c:pt idx="0">
                  <c:v>Luzerne</c:v>
                </c:pt>
              </c:strCache>
            </c:strRef>
          </c:tx>
          <c:spPr>
            <a:solidFill>
              <a:srgbClr val="BA7517"/>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Diabetes (%)</c:v>
                </c:pt>
                <c:pt idx="1">
                  <c:v>Poor/fair health (%)</c:v>
                </c:pt>
              </c:strCache>
            </c:strRef>
          </c:cat>
          <c:val>
            <c:numRef>
              <c:f>Sheet1!$E$2:$E$3</c:f>
              <c:numCache>
                <c:formatCode>General</c:formatCode>
                <c:ptCount val="2"/>
                <c:pt idx="0">
                  <c:v>13</c:v>
                </c:pt>
                <c:pt idx="1">
                  <c:v>22</c:v>
                </c:pt>
              </c:numCache>
            </c:numRef>
          </c:val>
          <c:extLst>
            <c:ext xmlns:c16="http://schemas.microsoft.com/office/drawing/2014/chart" uri="{C3380CC4-5D6E-409C-BE32-E72D297353CC}">
              <c16:uniqueId val="{00000003-5AAB-C445-AB48-E92C71E57E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3D1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Pennsylvania</c:v>
                </c:pt>
              </c:strCache>
            </c:strRef>
          </c:tx>
          <c:spPr>
            <a:solidFill>
              <a:srgbClr val="378ADD"/>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Uninsured (%)</c:v>
                </c:pt>
                <c:pt idx="1">
                  <c:v>Food insecure (%)</c:v>
                </c:pt>
                <c:pt idx="2">
                  <c:v>Children in
poverty (%)</c:v>
                </c:pt>
              </c:strCache>
            </c:strRef>
          </c:cat>
          <c:val>
            <c:numRef>
              <c:f>Sheet1!$B$2:$B$4</c:f>
              <c:numCache>
                <c:formatCode>General</c:formatCode>
                <c:ptCount val="3"/>
                <c:pt idx="0">
                  <c:v>7</c:v>
                </c:pt>
                <c:pt idx="1">
                  <c:v>13</c:v>
                </c:pt>
                <c:pt idx="2">
                  <c:v>18</c:v>
                </c:pt>
              </c:numCache>
            </c:numRef>
          </c:val>
          <c:extLst>
            <c:ext xmlns:c16="http://schemas.microsoft.com/office/drawing/2014/chart" uri="{C3380CC4-5D6E-409C-BE32-E72D297353CC}">
              <c16:uniqueId val="{00000000-F3E4-B14D-8A02-AE1FBF52A96B}"/>
            </c:ext>
          </c:extLst>
        </c:ser>
        <c:ser>
          <c:idx val="1"/>
          <c:order val="1"/>
          <c:tx>
            <c:strRef>
              <c:f>Sheet1!$C$1</c:f>
              <c:strCache>
                <c:ptCount val="1"/>
                <c:pt idx="0">
                  <c:v>Chester</c:v>
                </c:pt>
              </c:strCache>
            </c:strRef>
          </c:tx>
          <c:spPr>
            <a:solidFill>
              <a:srgbClr val="185FA5"/>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Uninsured (%)</c:v>
                </c:pt>
                <c:pt idx="1">
                  <c:v>Food insecure (%)</c:v>
                </c:pt>
                <c:pt idx="2">
                  <c:v>Children in
poverty (%)</c:v>
                </c:pt>
              </c:strCache>
            </c:strRef>
          </c:cat>
          <c:val>
            <c:numRef>
              <c:f>Sheet1!$C$2:$C$4</c:f>
              <c:numCache>
                <c:formatCode>General</c:formatCode>
                <c:ptCount val="3"/>
                <c:pt idx="0">
                  <c:v>4</c:v>
                </c:pt>
                <c:pt idx="1">
                  <c:v>7</c:v>
                </c:pt>
                <c:pt idx="2">
                  <c:v>6</c:v>
                </c:pt>
              </c:numCache>
            </c:numRef>
          </c:val>
          <c:extLst>
            <c:ext xmlns:c16="http://schemas.microsoft.com/office/drawing/2014/chart" uri="{C3380CC4-5D6E-409C-BE32-E72D297353CC}">
              <c16:uniqueId val="{00000001-F3E4-B14D-8A02-AE1FBF52A96B}"/>
            </c:ext>
          </c:extLst>
        </c:ser>
        <c:ser>
          <c:idx val="2"/>
          <c:order val="2"/>
          <c:tx>
            <c:strRef>
              <c:f>Sheet1!$D$1</c:f>
              <c:strCache>
                <c:ptCount val="1"/>
                <c:pt idx="0">
                  <c:v>Philadelphia</c:v>
                </c:pt>
              </c:strCache>
            </c:strRef>
          </c:tx>
          <c:spPr>
            <a:solidFill>
              <a:srgbClr val="E24B4A"/>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Uninsured (%)</c:v>
                </c:pt>
                <c:pt idx="1">
                  <c:v>Food insecure (%)</c:v>
                </c:pt>
                <c:pt idx="2">
                  <c:v>Children in
poverty (%)</c:v>
                </c:pt>
              </c:strCache>
            </c:strRef>
          </c:cat>
          <c:val>
            <c:numRef>
              <c:f>Sheet1!$D$2:$D$4</c:f>
              <c:numCache>
                <c:formatCode>General</c:formatCode>
                <c:ptCount val="3"/>
                <c:pt idx="0">
                  <c:v>12</c:v>
                </c:pt>
                <c:pt idx="1">
                  <c:v>21</c:v>
                </c:pt>
                <c:pt idx="2">
                  <c:v>34</c:v>
                </c:pt>
              </c:numCache>
            </c:numRef>
          </c:val>
          <c:extLst>
            <c:ext xmlns:c16="http://schemas.microsoft.com/office/drawing/2014/chart" uri="{C3380CC4-5D6E-409C-BE32-E72D297353CC}">
              <c16:uniqueId val="{00000002-F3E4-B14D-8A02-AE1FBF52A96B}"/>
            </c:ext>
          </c:extLst>
        </c:ser>
        <c:ser>
          <c:idx val="3"/>
          <c:order val="3"/>
          <c:tx>
            <c:strRef>
              <c:f>Sheet1!$E$1</c:f>
              <c:strCache>
                <c:ptCount val="1"/>
                <c:pt idx="0">
                  <c:v>Luzerne</c:v>
                </c:pt>
              </c:strCache>
            </c:strRef>
          </c:tx>
          <c:spPr>
            <a:solidFill>
              <a:srgbClr val="BA7517"/>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Uninsured (%)</c:v>
                </c:pt>
                <c:pt idx="1">
                  <c:v>Food insecure (%)</c:v>
                </c:pt>
                <c:pt idx="2">
                  <c:v>Children in
poverty (%)</c:v>
                </c:pt>
              </c:strCache>
            </c:strRef>
          </c:cat>
          <c:val>
            <c:numRef>
              <c:f>Sheet1!$E$2:$E$4</c:f>
              <c:numCache>
                <c:formatCode>General</c:formatCode>
                <c:ptCount val="3"/>
                <c:pt idx="0">
                  <c:v>9</c:v>
                </c:pt>
                <c:pt idx="1">
                  <c:v>15</c:v>
                </c:pt>
                <c:pt idx="2">
                  <c:v>21</c:v>
                </c:pt>
              </c:numCache>
            </c:numRef>
          </c:val>
          <c:extLst>
            <c:ext xmlns:c16="http://schemas.microsoft.com/office/drawing/2014/chart" uri="{C3380CC4-5D6E-409C-BE32-E72D297353CC}">
              <c16:uniqueId val="{00000003-F3E4-B14D-8A02-AE1FBF52A9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3D1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Pennsylvania</c:v>
                </c:pt>
              </c:strCache>
            </c:strRef>
          </c:tx>
          <c:spPr>
            <a:solidFill>
              <a:srgbClr val="378ADD"/>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Physically
inactive (%)</c:v>
                </c:pt>
                <c:pt idx="1">
                  <c:v>Smokers (%)</c:v>
                </c:pt>
              </c:strCache>
            </c:strRef>
          </c:cat>
          <c:val>
            <c:numRef>
              <c:f>Sheet1!$B$2:$B$3</c:f>
              <c:numCache>
                <c:formatCode>General</c:formatCode>
                <c:ptCount val="2"/>
                <c:pt idx="0">
                  <c:v>25</c:v>
                </c:pt>
                <c:pt idx="1">
                  <c:v>17</c:v>
                </c:pt>
              </c:numCache>
            </c:numRef>
          </c:val>
          <c:extLst>
            <c:ext xmlns:c16="http://schemas.microsoft.com/office/drawing/2014/chart" uri="{C3380CC4-5D6E-409C-BE32-E72D297353CC}">
              <c16:uniqueId val="{00000000-63BD-634B-910B-5271C3955D0C}"/>
            </c:ext>
          </c:extLst>
        </c:ser>
        <c:ser>
          <c:idx val="1"/>
          <c:order val="1"/>
          <c:tx>
            <c:strRef>
              <c:f>Sheet1!$C$1</c:f>
              <c:strCache>
                <c:ptCount val="1"/>
                <c:pt idx="0">
                  <c:v>Chester</c:v>
                </c:pt>
              </c:strCache>
            </c:strRef>
          </c:tx>
          <c:spPr>
            <a:solidFill>
              <a:srgbClr val="185FA5"/>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Physically
inactive (%)</c:v>
                </c:pt>
                <c:pt idx="1">
                  <c:v>Smokers (%)</c:v>
                </c:pt>
              </c:strCache>
            </c:strRef>
          </c:cat>
          <c:val>
            <c:numRef>
              <c:f>Sheet1!$C$2:$C$3</c:f>
              <c:numCache>
                <c:formatCode>General</c:formatCode>
                <c:ptCount val="2"/>
                <c:pt idx="0">
                  <c:v>17</c:v>
                </c:pt>
                <c:pt idx="1">
                  <c:v>11</c:v>
                </c:pt>
              </c:numCache>
            </c:numRef>
          </c:val>
          <c:extLst>
            <c:ext xmlns:c16="http://schemas.microsoft.com/office/drawing/2014/chart" uri="{C3380CC4-5D6E-409C-BE32-E72D297353CC}">
              <c16:uniqueId val="{00000001-63BD-634B-910B-5271C3955D0C}"/>
            </c:ext>
          </c:extLst>
        </c:ser>
        <c:ser>
          <c:idx val="2"/>
          <c:order val="2"/>
          <c:tx>
            <c:strRef>
              <c:f>Sheet1!$D$1</c:f>
              <c:strCache>
                <c:ptCount val="1"/>
                <c:pt idx="0">
                  <c:v>Philadelphia</c:v>
                </c:pt>
              </c:strCache>
            </c:strRef>
          </c:tx>
          <c:spPr>
            <a:solidFill>
              <a:srgbClr val="E24B4A"/>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Physically
inactive (%)</c:v>
                </c:pt>
                <c:pt idx="1">
                  <c:v>Smokers (%)</c:v>
                </c:pt>
              </c:strCache>
            </c:strRef>
          </c:cat>
          <c:val>
            <c:numRef>
              <c:f>Sheet1!$D$2:$D$3</c:f>
              <c:numCache>
                <c:formatCode>General</c:formatCode>
                <c:ptCount val="2"/>
                <c:pt idx="0">
                  <c:v>32</c:v>
                </c:pt>
                <c:pt idx="1">
                  <c:v>22</c:v>
                </c:pt>
              </c:numCache>
            </c:numRef>
          </c:val>
          <c:extLst>
            <c:ext xmlns:c16="http://schemas.microsoft.com/office/drawing/2014/chart" uri="{C3380CC4-5D6E-409C-BE32-E72D297353CC}">
              <c16:uniqueId val="{00000002-63BD-634B-910B-5271C3955D0C}"/>
            </c:ext>
          </c:extLst>
        </c:ser>
        <c:ser>
          <c:idx val="3"/>
          <c:order val="3"/>
          <c:tx>
            <c:strRef>
              <c:f>Sheet1!$E$1</c:f>
              <c:strCache>
                <c:ptCount val="1"/>
                <c:pt idx="0">
                  <c:v>Luzerne</c:v>
                </c:pt>
              </c:strCache>
            </c:strRef>
          </c:tx>
          <c:spPr>
            <a:solidFill>
              <a:srgbClr val="BA7517"/>
            </a:solidFill>
            <a:effectLst/>
          </c:spPr>
          <c:invertIfNegative val="0"/>
          <c:dLbls>
            <c:numFmt formatCode="#,##0" sourceLinked="0"/>
            <c:spPr>
              <a:noFill/>
              <a:ln>
                <a:noFill/>
              </a:ln>
              <a:effectLst/>
            </c:spPr>
            <c:txPr>
              <a:bodyPr/>
              <a:lstStyle/>
              <a:p>
                <a:pPr>
                  <a:defRPr sz="900" b="0" i="0" u="none" strike="noStrike">
                    <a:solidFill>
                      <a:srgbClr val="444441"/>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Physically
inactive (%)</c:v>
                </c:pt>
                <c:pt idx="1">
                  <c:v>Smokers (%)</c:v>
                </c:pt>
              </c:strCache>
            </c:strRef>
          </c:cat>
          <c:val>
            <c:numRef>
              <c:f>Sheet1!$E$2:$E$3</c:f>
              <c:numCache>
                <c:formatCode>General</c:formatCode>
                <c:ptCount val="2"/>
                <c:pt idx="0">
                  <c:v>31</c:v>
                </c:pt>
                <c:pt idx="1">
                  <c:v>25</c:v>
                </c:pt>
              </c:numCache>
            </c:numRef>
          </c:val>
          <c:extLst>
            <c:ext xmlns:c16="http://schemas.microsoft.com/office/drawing/2014/chart" uri="{C3380CC4-5D6E-409C-BE32-E72D297353CC}">
              <c16:uniqueId val="{00000003-63BD-634B-910B-5271C3955D0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3D1C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78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CEBD6-2440-7D47-AEAC-6C22047CA5AB}" type="datetimeFigureOut">
              <a:rPr lang="en-SA" smtClean="0"/>
              <a:t>18/04/2026 R</a:t>
            </a:fld>
            <a:endParaRPr lang="en-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8AD38-BE6E-5644-8516-5EFE6A8F8CBD}" type="slidenum">
              <a:rPr lang="en-SA" smtClean="0"/>
              <a:t>‹#›</a:t>
            </a:fld>
            <a:endParaRPr lang="en-SA"/>
          </a:p>
        </p:txBody>
      </p:sp>
    </p:spTree>
    <p:extLst>
      <p:ext uri="{BB962C8B-B14F-4D97-AF65-F5344CB8AC3E}">
        <p14:creationId xmlns:p14="http://schemas.microsoft.com/office/powerpoint/2010/main" val="2803017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healio.com/news/nephrology/20230801/house-bill-would-pay-for-workforce-innovative-drugs-and-expand-coverage-for-treating-ckd"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www.kidneyfund.org/article/fighting-kidney-community-what-akf-and-our-ambassadors-accomplished-2024#:~:text=Join%20our%20Mobile%20Advocacy%20Network,efforts%20with%20you%20this%20year"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SzPts val="1100"/>
              <a:buNone/>
            </a:pPr>
            <a:endParaRPr sz="1200" dirty="0">
              <a:solidFill>
                <a:schemeClr val="dk1"/>
              </a:solidFill>
              <a:latin typeface="Georgia"/>
              <a:ea typeface="Georgia"/>
              <a:cs typeface="Georgia"/>
              <a:sym typeface="Georgi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96e6e4ccdb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6e6e4ccd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a:t>
            </a:r>
            <a:r>
              <a:rPr lang="en" sz="1200">
                <a:solidFill>
                  <a:schemeClr val="dk1"/>
                </a:solidFill>
                <a:latin typeface="Georgia"/>
                <a:ea typeface="Georgia"/>
                <a:cs typeface="Georgia"/>
                <a:sym typeface="Georgia"/>
              </a:rPr>
              <a:t>This is a CDC public health surveillance effort that tracks CKD burden, risk factors, and outcomes so health systems and communities can identify trends, high-risk groups, and gaps in care. CDC uses CKD surveillance as part of its broader kidney disease prevention strategy to support prevention, early diagnosis, and improved outcomes</a:t>
            </a:r>
            <a:endParaRPr sz="1200">
              <a:solidFill>
                <a:schemeClr val="dk1"/>
              </a:solidFill>
              <a:latin typeface="Georgia"/>
              <a:ea typeface="Georgia"/>
              <a:cs typeface="Georgia"/>
              <a:sym typeface="Georgia"/>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latin typeface="Georgia"/>
                <a:ea typeface="Georgia"/>
                <a:cs typeface="Georgia"/>
                <a:sym typeface="Georgia"/>
              </a:rPr>
              <a:t>the aim is to monitor kidney disease at the population level and guide prevention efforts by showing where CKD risk is highest and where earlier testing or treatment is needed. That makes it useful for planning community-based interventions in Philadelphia, especially in neighborhoods with high diabetes, hypertension, or cardiovascular disease burden, since CDC highlights these as major CKD risk factors.</a:t>
            </a:r>
            <a:endParaRPr sz="1200">
              <a:solidFill>
                <a:schemeClr val="dk1"/>
              </a:solidFill>
              <a:latin typeface="Georgia"/>
              <a:ea typeface="Georgia"/>
              <a:cs typeface="Georgia"/>
              <a:sym typeface="Georgi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96e6e4ccdb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96e6e4ccd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Times New Roman"/>
                <a:ea typeface="Times New Roman"/>
                <a:cs typeface="Times New Roman"/>
                <a:sym typeface="Times New Roman"/>
              </a:rPr>
              <a:t>This is a systems-level strategy that improves CKD outcomes by guiding where and how interventions should occur.</a:t>
            </a:r>
            <a:endParaRPr sz="12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96e6e4ccd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96e6e4ccd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273540"/>
                </a:solidFill>
              </a:rPr>
              <a:t>How it works: offers free evidenced-based resource such as “check your kidneys” campaign, educational handouts (diet, BP control, diabetes management)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d518c8877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d518c8877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CKNEP strongest “real-world referral” strategy for patient education and self-management support.</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d518c88770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d518c8877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Georgia"/>
                <a:ea typeface="Georgia"/>
                <a:cs typeface="Georgia"/>
                <a:sym typeface="Georgia"/>
              </a:rPr>
              <a:t>2019 federal initiative was designed to shift practice toward better diagnosis, prevention of kidney failure, improved access to person-centered treatment options, and greater access to transplantation. It also supports expanded use of home dialysis and transplantation through system-level reforms</a:t>
            </a:r>
            <a:endParaRPr sz="1200">
              <a:solidFill>
                <a:schemeClr val="dk1"/>
              </a:solidFill>
              <a:latin typeface="Georgia"/>
              <a:ea typeface="Georgia"/>
              <a:cs typeface="Georgia"/>
              <a:sym typeface="Georgia"/>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Georgia"/>
              <a:ea typeface="Georgia"/>
              <a:cs typeface="Georgia"/>
              <a:sym typeface="Georgia"/>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Georgia"/>
                <a:ea typeface="Georgia"/>
                <a:cs typeface="Georgia"/>
                <a:sym typeface="Georgia"/>
              </a:rPr>
              <a:t>Its broad goals are to reduce kidney failure risk, improve treatment options, and increase access to transplants. That makes it more of a national policy/health-system strategy than a direct patient education program.</a:t>
            </a:r>
            <a:endParaRPr sz="12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d518c8877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d518c8877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This initiative does NOT directly provide patient support services</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It supports infrastructure (e.g., transplant systems), not individual referrals</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 policy-level strategy that reshapes CKD care delivery and improves long-term outcomes.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d518c88770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d518c88770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Using National Kidney Disease Education Program- </a:t>
            </a:r>
            <a:r>
              <a:rPr lang="en" sz="1200">
                <a:solidFill>
                  <a:srgbClr val="273540"/>
                </a:solidFill>
                <a:latin typeface="Georgia"/>
                <a:ea typeface="Georgia"/>
                <a:cs typeface="Georgia"/>
                <a:sym typeface="Georgia"/>
              </a:rPr>
              <a:t>NKDEP was created to improve understanding, detection, and management of kidney disease</a:t>
            </a:r>
            <a:endParaRPr sz="1200">
              <a:solidFill>
                <a:srgbClr val="273540"/>
              </a:solidFill>
              <a:latin typeface="Georgia"/>
              <a:ea typeface="Georgia"/>
              <a:cs typeface="Georgia"/>
              <a:sym typeface="Georgia"/>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A systematic review by Chrvala et al. (2016) found that diabetes self-management education significantly improved glycemic control in adults with type 2 diabetes, with an average A1C reduction of 0.57, especially in programs that included both group and individual sessions, at least 10 contact hours, and participants with baseline A1C levels greater than 9%.</a:t>
            </a:r>
            <a:endParaRPr sz="1200" u="sng">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200">
              <a:solidFill>
                <a:srgbClr val="273540"/>
              </a:solidFill>
              <a:latin typeface="Georgia"/>
              <a:ea typeface="Georgia"/>
              <a:cs typeface="Georgia"/>
              <a:sym typeface="Georgia"/>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The primary aim is to reduce the incidence and progression of CKD in patients with diabetes by improving self-management skills and long-term glycemic control. This aligns with NKDEP’s broader mission to increase awareness, promote early detection, and empower patients and providers to take evidence-based actions that preserve kidney function and improve overall health outcomes</a:t>
            </a:r>
            <a:endParaRPr sz="1200">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sz="1200">
              <a:solidFill>
                <a:srgbClr val="273540"/>
              </a:solidFill>
              <a:latin typeface="Georgia"/>
              <a:ea typeface="Georgia"/>
              <a:cs typeface="Georgia"/>
              <a:sym typeface="Georgi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d518c8877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d518c8877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rPr>
              <a:t>Diabetes Self-Management Education (DSME) program are designed to help patients with diabetes better manage their condition to prevent or slow CKD. It works by providing structured education and ongoing support on key areas such as blood glucose monitoring, medication adherence, diet, physical activity, and routine lab follow-up</a:t>
            </a:r>
            <a:endParaRPr sz="1200">
              <a:solidFill>
                <a:schemeClr val="dk1"/>
              </a:solidFill>
            </a:endParaRPr>
          </a:p>
          <a:p>
            <a:pPr marL="0" lvl="0" indent="0" algn="l" rtl="0">
              <a:lnSpc>
                <a:spcPct val="115000"/>
              </a:lnSpc>
              <a:spcBef>
                <a:spcPts val="1200"/>
              </a:spcBef>
              <a:spcAft>
                <a:spcPts val="0"/>
              </a:spcAft>
              <a:buNone/>
            </a:pPr>
            <a:r>
              <a:rPr lang="en" sz="1200">
                <a:solidFill>
                  <a:schemeClr val="dk1"/>
                </a:solidFill>
              </a:rPr>
              <a:t>A systematic review by Chrvala et al. (2016) found that diabetes self-management education significantly improved glycemic control in adults with type 2 diabetes, with an average A1C reduction of 0.57, especially in programs that included both group and individual sessions, at least 10 contact hours, and participants with baseline A1C levels greater than 9%.</a:t>
            </a:r>
            <a:endParaRPr sz="1200" u="sng">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sz="12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d518c8877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d518c8877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This strategy focuses on early detection of chronic kidney disease in adults at higher risk, especially those with diabetes, hypertension, or other CKD risk factors. The screening uses two main tests: a blood test for serum creatinine to calculate eGFR and a urine test for uACR to detect albuminuria.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d549623f8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549623f8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r>
              <a:rPr lang="en" sz="1200">
                <a:solidFill>
                  <a:schemeClr val="dk1"/>
                </a:solidFill>
              </a:rPr>
              <a:t>Cost: A systematic review by Yeo et al. (2024) found that many CKD screening strategies were cost-effective, particularly in high-risk populations such as adults with diabetes and hypertension, with a median cost of approximately $26,662 per quality-adjusted life year (QALY)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Evidence: ~20% albuminuria detected; low awareness (~15.8%)</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sz="1200">
                <a:solidFill>
                  <a:schemeClr val="dk1"/>
                </a:solidFill>
              </a:rPr>
              <a:t>A screening study by Zhuo et al., found that among 2,304 participants, 461 people, or 20.0%, had albuminuria, but overall awareness was only 15.8%. The authors concluded that KDSAP may be a useful model for detecting albuminuria and raising awareness in communities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Maybe stronger studies needed? </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d623ecbfc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d623ecbfc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200" b="1">
                <a:solidFill>
                  <a:schemeClr val="dk1"/>
                </a:solidFill>
              </a:rPr>
              <a:t>Hypertension control with self-measured blood pressure monitoring and follow-up care</a:t>
            </a:r>
            <a:endParaRPr sz="12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200">
                <a:solidFill>
                  <a:schemeClr val="dk1"/>
                </a:solidFill>
              </a:rPr>
              <a:t>This strategy focuses on improving blood pressure control in adults with hypertension by having patients check their blood pressure at home with a validated monitor and share readings with their healthcare team.</a:t>
            </a:r>
            <a:endParaRPr sz="1200" b="1">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623ecbfc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d623ecbfc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r>
              <a:rPr lang="en" sz="1200">
                <a:solidFill>
                  <a:schemeClr val="dk1"/>
                </a:solidFill>
              </a:rPr>
              <a:t>a systematic review by Uhlig et al. found that self-measured blood pressure monitoring, with or without additional support, improves blood pressure control compared with usual care, although its effects beyond 12 months and long-term benefits are still unclear. Programs that include additional support appear to produce greater blood pressure reduction.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d549623f8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d549623f8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introduced in 2023-2024 </a:t>
            </a:r>
            <a:endParaRPr/>
          </a:p>
          <a:p>
            <a:pPr marL="0" lvl="0" indent="0" algn="l" rtl="0">
              <a:spcBef>
                <a:spcPts val="0"/>
              </a:spcBef>
              <a:spcAft>
                <a:spcPts val="0"/>
              </a:spcAft>
              <a:buNone/>
            </a:pPr>
            <a:r>
              <a:rPr lang="en"/>
              <a:t>-The bill has been introduced and </a:t>
            </a:r>
            <a:r>
              <a:rPr lang="en" b="1"/>
              <a:t>referred to committee</a:t>
            </a:r>
            <a:r>
              <a:rPr lang="en"/>
              <a:t> (the bill is active and has not yet been passed into law) </a:t>
            </a:r>
            <a:endParaRPr/>
          </a:p>
          <a:p>
            <a:pPr marL="0" lvl="0" indent="0" algn="l" rtl="0">
              <a:spcBef>
                <a:spcPts val="0"/>
              </a:spcBef>
              <a:spcAft>
                <a:spcPts val="0"/>
              </a:spcAft>
              <a:buNone/>
            </a:pPr>
            <a:r>
              <a:rPr lang="en"/>
              <a:t>	-Committee on was and means </a:t>
            </a:r>
            <a:endParaRPr/>
          </a:p>
          <a:p>
            <a:pPr marL="0" lvl="0" indent="0" algn="l" rtl="0">
              <a:spcBef>
                <a:spcPts val="0"/>
              </a:spcBef>
              <a:spcAft>
                <a:spcPts val="0"/>
              </a:spcAft>
              <a:buNone/>
            </a:pPr>
            <a:r>
              <a:rPr lang="en"/>
              <a:t>	-committee on energy and commerce </a:t>
            </a:r>
            <a:endParaRPr/>
          </a:p>
          <a:p>
            <a:pPr marL="0" lvl="0" indent="0" algn="l" rtl="0">
              <a:spcBef>
                <a:spcPts val="0"/>
              </a:spcBef>
              <a:spcAft>
                <a:spcPts val="0"/>
              </a:spcAft>
              <a:buNone/>
            </a:pPr>
            <a:r>
              <a:rPr lang="en"/>
              <a:t>	-commitee on finance </a:t>
            </a:r>
            <a:endParaRPr/>
          </a:p>
          <a:p>
            <a:pPr marL="0" lvl="0" indent="0" algn="l" rtl="0">
              <a:spcBef>
                <a:spcPts val="0"/>
              </a:spcBef>
              <a:spcAft>
                <a:spcPts val="0"/>
              </a:spcAft>
              <a:buNone/>
            </a:pPr>
            <a:r>
              <a:rPr lang="en"/>
              <a:t>-The bill is now in the committee stage where public hearings to hear from experts, patients, and officials are held, members can debate the bill’s text, and if the committee votes in favor the bill is reported to the full chamber for a vote</a:t>
            </a:r>
            <a:endParaRPr/>
          </a:p>
          <a:p>
            <a:pPr marL="0" lvl="0" indent="0" algn="l" rtl="0">
              <a:spcBef>
                <a:spcPts val="0"/>
              </a:spcBef>
              <a:spcAft>
                <a:spcPts val="0"/>
              </a:spcAft>
              <a:buNone/>
            </a:pPr>
            <a:r>
              <a:rPr lang="en"/>
              <a:t>-Floor debate and voting </a:t>
            </a:r>
            <a:endParaRPr/>
          </a:p>
          <a:p>
            <a:pPr marL="0" lvl="0" indent="0" algn="l" rtl="0">
              <a:spcBef>
                <a:spcPts val="0"/>
              </a:spcBef>
              <a:spcAft>
                <a:spcPts val="0"/>
              </a:spcAft>
              <a:buNone/>
            </a:pPr>
            <a:r>
              <a:rPr lang="en"/>
              <a:t>-house and senate may need to compromise on the version of the bill</a:t>
            </a:r>
            <a:endParaRPr/>
          </a:p>
          <a:p>
            <a:pPr marL="0" lvl="0" indent="0" algn="l" rtl="0">
              <a:spcBef>
                <a:spcPts val="0"/>
              </a:spcBef>
              <a:spcAft>
                <a:spcPts val="0"/>
              </a:spcAft>
              <a:buNone/>
            </a:pPr>
            <a:r>
              <a:rPr lang="en"/>
              <a:t>-presidential action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d549623f8e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d549623f8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d549623f8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d549623f8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62baf2cf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d62baf2cf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https://www.healio.com/news/nephrology/20230801/house-bill-would-pay-for-workforce-innovative-drugs-and-expand-coverage-for-treating-ckd</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https://www.kidneyfund.org/article/fighting-kidney-community-what-akf-and-our-ambassadors-accomplished-2024#:~:text=Join%20our%20Mobile%20Advocacy%20Network,efforts%20with%20you%20this%20year</a:t>
            </a:r>
            <a:r>
              <a:rPr lang="en"/>
              <a:t>!</a:t>
            </a:r>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97699dcf91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97699dcf91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d549623f8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d549623f8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4D255-CD04-2040-17C0-CEDC705A25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92715C-9A40-C6B8-F045-153E041382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426B0B-72C3-09EC-09AD-ABF654F47C9D}"/>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5" name="Footer Placeholder 4">
            <a:extLst>
              <a:ext uri="{FF2B5EF4-FFF2-40B4-BE49-F238E27FC236}">
                <a16:creationId xmlns:a16="http://schemas.microsoft.com/office/drawing/2014/main" id="{62474CF3-0C38-81F6-7B40-FF646594E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2EC868-3E11-9B31-05B6-6DBDD58A1A6F}"/>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3294684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ABD9F-17D5-3053-4FA6-351739D419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95773D-611B-53AE-DDD1-B024E2F05A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CB4046-ED73-B8B2-8075-1E15104E45D6}"/>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5" name="Footer Placeholder 4">
            <a:extLst>
              <a:ext uri="{FF2B5EF4-FFF2-40B4-BE49-F238E27FC236}">
                <a16:creationId xmlns:a16="http://schemas.microsoft.com/office/drawing/2014/main" id="{DE4900DC-A4B7-F9CE-3AE0-924C4E15E3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FA214-8BFB-5A11-2ED9-9459E94BB06D}"/>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3577735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70623-5A14-4996-9B0C-6E0DD45EC5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C8EA8D-0C02-3BDE-EE7A-03E13E0903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5D8D75-63BF-D244-A258-D9A7C9AD2E49}"/>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5" name="Footer Placeholder 4">
            <a:extLst>
              <a:ext uri="{FF2B5EF4-FFF2-40B4-BE49-F238E27FC236}">
                <a16:creationId xmlns:a16="http://schemas.microsoft.com/office/drawing/2014/main" id="{B6C6A4DF-4B63-966B-068F-767AC56EA5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9E9D65-5DB2-1106-D87C-82E022668AC9}"/>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256982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43F61-7BC4-9EAC-41ED-75AE08A533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47E5B1-BB9A-261C-63AC-4A274AF2EC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8209AF-0F0D-9A66-722A-A7A165964D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DD4C09-C1AE-211F-390B-3ABD8DB2D80A}"/>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6" name="Footer Placeholder 5">
            <a:extLst>
              <a:ext uri="{FF2B5EF4-FFF2-40B4-BE49-F238E27FC236}">
                <a16:creationId xmlns:a16="http://schemas.microsoft.com/office/drawing/2014/main" id="{DA7FC5E6-BF11-90E1-2488-504CA79386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D89242-6CF1-B4A5-9949-FDB1023CD607}"/>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1772118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6DB59-FA12-27B4-792D-688ED32F44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F40231-3687-7FBE-60DB-5938D1A0EF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123A32-69A6-1D15-7C12-33C1A94F11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FBF690-0FD2-762D-C9A7-901AD28A9E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0578E-6917-A833-0735-1066E78529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FCB98A-13AD-2B51-4186-89ECD589A32A}"/>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8" name="Footer Placeholder 7">
            <a:extLst>
              <a:ext uri="{FF2B5EF4-FFF2-40B4-BE49-F238E27FC236}">
                <a16:creationId xmlns:a16="http://schemas.microsoft.com/office/drawing/2014/main" id="{38EC30C5-8977-DAAE-3317-147C29A4D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BC89C8-6FEE-EFFF-AA50-B6F6732FC908}"/>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1343274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27240-B181-15A7-1C61-F5A2A3604F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08FF98-5E46-2F23-3CA9-7ABD69EEFB1C}"/>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4" name="Footer Placeholder 3">
            <a:extLst>
              <a:ext uri="{FF2B5EF4-FFF2-40B4-BE49-F238E27FC236}">
                <a16:creationId xmlns:a16="http://schemas.microsoft.com/office/drawing/2014/main" id="{3A6E47AC-F59F-AAAE-1905-F153CD8CBA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B0FFC3-D333-875C-F760-F35EFBC61736}"/>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1489382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BAB26-EC66-FE24-2699-E28906E07975}"/>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3" name="Footer Placeholder 2">
            <a:extLst>
              <a:ext uri="{FF2B5EF4-FFF2-40B4-BE49-F238E27FC236}">
                <a16:creationId xmlns:a16="http://schemas.microsoft.com/office/drawing/2014/main" id="{C7795647-27DB-D00B-DB13-F94A54A21D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D58178-DCFB-3D79-E99E-A5C0D5827EE2}"/>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64120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99FA-DA6F-5B77-782D-85D6D78AFB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B4A091-AEE0-2721-1357-6F7E45EA7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DC49F6-36D9-299A-80A5-2FD74F4F2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2D036-AEA8-CDDC-B05D-926E026602CF}"/>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6" name="Footer Placeholder 5">
            <a:extLst>
              <a:ext uri="{FF2B5EF4-FFF2-40B4-BE49-F238E27FC236}">
                <a16:creationId xmlns:a16="http://schemas.microsoft.com/office/drawing/2014/main" id="{9DC52C6E-904F-0E17-ED79-B18AF12C20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FFADB-CE5A-A74C-0562-E7913D4EA5ED}"/>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3671563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0B52B-F628-832B-C545-903C2AA594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73B130-42D9-0F8D-A5E3-778B7726BB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48A211-CCB3-E257-1A9D-C9DBABAC4E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4E86F-7286-4507-DE1A-7F7641AD0409}"/>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6" name="Footer Placeholder 5">
            <a:extLst>
              <a:ext uri="{FF2B5EF4-FFF2-40B4-BE49-F238E27FC236}">
                <a16:creationId xmlns:a16="http://schemas.microsoft.com/office/drawing/2014/main" id="{C30C0D91-02D1-7187-1F92-2D93372A08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F20A40-FF0A-0BAF-2334-405A265DACE0}"/>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814965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7DDEE-3ACC-6D6B-BB15-016C89ACF4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F8363A-1C66-D6AC-3A7A-4F549B943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46B875-09D0-8BA1-BDB3-DD32B431672F}"/>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5" name="Footer Placeholder 4">
            <a:extLst>
              <a:ext uri="{FF2B5EF4-FFF2-40B4-BE49-F238E27FC236}">
                <a16:creationId xmlns:a16="http://schemas.microsoft.com/office/drawing/2014/main" id="{A840E36C-54D0-FBAE-0D42-1537352CA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CAAEAB-C6DA-F841-8FF2-C86136E8F854}"/>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1821008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B2009B-339A-9F82-3A79-F6580A239B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12BD87-D3C5-0656-C169-869CCA1D63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10061-4824-61B0-808F-F5D7F2699123}"/>
              </a:ext>
            </a:extLst>
          </p:cNvPr>
          <p:cNvSpPr>
            <a:spLocks noGrp="1"/>
          </p:cNvSpPr>
          <p:nvPr>
            <p:ph type="dt" sz="half" idx="10"/>
          </p:nvPr>
        </p:nvSpPr>
        <p:spPr/>
        <p:txBody>
          <a:bodyPr/>
          <a:lstStyle/>
          <a:p>
            <a:fld id="{900B144F-F19D-9041-8A99-DF95E8ED866E}" type="datetimeFigureOut">
              <a:rPr lang="en-US" smtClean="0"/>
              <a:t>4/18/26</a:t>
            </a:fld>
            <a:endParaRPr lang="en-US"/>
          </a:p>
        </p:txBody>
      </p:sp>
      <p:sp>
        <p:nvSpPr>
          <p:cNvPr id="5" name="Footer Placeholder 4">
            <a:extLst>
              <a:ext uri="{FF2B5EF4-FFF2-40B4-BE49-F238E27FC236}">
                <a16:creationId xmlns:a16="http://schemas.microsoft.com/office/drawing/2014/main" id="{F8B2586A-D3DA-5F6C-3866-A5819BC555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93A2BC-3F33-F321-FE05-BEC2292B8F3C}"/>
              </a:ext>
            </a:extLst>
          </p:cNvPr>
          <p:cNvSpPr>
            <a:spLocks noGrp="1"/>
          </p:cNvSpPr>
          <p:nvPr>
            <p:ph type="sldNum" sz="quarter" idx="12"/>
          </p:nvPr>
        </p:nvSpPr>
        <p:spPr/>
        <p:txBody>
          <a:bodyPr/>
          <a:lstStyle/>
          <a:p>
            <a:fld id="{944DEDC5-432D-734B-BC60-8B7B457BC150}" type="slidenum">
              <a:rPr lang="en-US" smtClean="0"/>
              <a:t>‹#›</a:t>
            </a:fld>
            <a:endParaRPr lang="en-US"/>
          </a:p>
        </p:txBody>
      </p:sp>
    </p:spTree>
    <p:extLst>
      <p:ext uri="{BB962C8B-B14F-4D97-AF65-F5344CB8AC3E}">
        <p14:creationId xmlns:p14="http://schemas.microsoft.com/office/powerpoint/2010/main" val="3036358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5"/>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2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70980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26"/>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26"/>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0"/>
              </a:spcBef>
              <a:spcAft>
                <a:spcPts val="0"/>
              </a:spcAft>
              <a:buSzPts val="1200"/>
              <a:buChar char="○"/>
              <a:defRPr sz="1600"/>
            </a:lvl2pPr>
            <a:lvl3pPr marL="1828754" lvl="2" indent="-406390" algn="l">
              <a:lnSpc>
                <a:spcPct val="115000"/>
              </a:lnSpc>
              <a:spcBef>
                <a:spcPts val="0"/>
              </a:spcBef>
              <a:spcAft>
                <a:spcPts val="0"/>
              </a:spcAft>
              <a:buSzPts val="1200"/>
              <a:buChar char="■"/>
              <a:defRPr sz="1600"/>
            </a:lvl3pPr>
            <a:lvl4pPr marL="2438339" lvl="3" indent="-406390" algn="l">
              <a:lnSpc>
                <a:spcPct val="115000"/>
              </a:lnSpc>
              <a:spcBef>
                <a:spcPts val="0"/>
              </a:spcBef>
              <a:spcAft>
                <a:spcPts val="0"/>
              </a:spcAft>
              <a:buSzPts val="1200"/>
              <a:buChar char="●"/>
              <a:defRPr sz="1600"/>
            </a:lvl4pPr>
            <a:lvl5pPr marL="3047924" lvl="4" indent="-406390" algn="l">
              <a:lnSpc>
                <a:spcPct val="115000"/>
              </a:lnSpc>
              <a:spcBef>
                <a:spcPts val="0"/>
              </a:spcBef>
              <a:spcAft>
                <a:spcPts val="0"/>
              </a:spcAft>
              <a:buSzPts val="1200"/>
              <a:buChar char="○"/>
              <a:defRPr sz="1600"/>
            </a:lvl5pPr>
            <a:lvl6pPr marL="3657509" lvl="5" indent="-406390" algn="l">
              <a:lnSpc>
                <a:spcPct val="115000"/>
              </a:lnSpc>
              <a:spcBef>
                <a:spcPts val="0"/>
              </a:spcBef>
              <a:spcAft>
                <a:spcPts val="0"/>
              </a:spcAft>
              <a:buSzPts val="1200"/>
              <a:buChar char="■"/>
              <a:defRPr sz="1600"/>
            </a:lvl6pPr>
            <a:lvl7pPr marL="4267093" lvl="6" indent="-406390" algn="l">
              <a:lnSpc>
                <a:spcPct val="115000"/>
              </a:lnSpc>
              <a:spcBef>
                <a:spcPts val="0"/>
              </a:spcBef>
              <a:spcAft>
                <a:spcPts val="0"/>
              </a:spcAft>
              <a:buSzPts val="1200"/>
              <a:buChar char="●"/>
              <a:defRPr sz="1600"/>
            </a:lvl7pPr>
            <a:lvl8pPr marL="4876678" lvl="7" indent="-406390" algn="l">
              <a:lnSpc>
                <a:spcPct val="115000"/>
              </a:lnSpc>
              <a:spcBef>
                <a:spcPts val="0"/>
              </a:spcBef>
              <a:spcAft>
                <a:spcPts val="0"/>
              </a:spcAft>
              <a:buSzPts val="1200"/>
              <a:buChar char="○"/>
              <a:defRPr sz="1600"/>
            </a:lvl8pPr>
            <a:lvl9pPr marL="5486263" lvl="8" indent="-406390" algn="l">
              <a:lnSpc>
                <a:spcPct val="115000"/>
              </a:lnSpc>
              <a:spcBef>
                <a:spcPts val="0"/>
              </a:spcBef>
              <a:spcAft>
                <a:spcPts val="0"/>
              </a:spcAft>
              <a:buSzPts val="1200"/>
              <a:buChar char="■"/>
              <a:defRPr sz="1600"/>
            </a:lvl9pPr>
          </a:lstStyle>
          <a:p>
            <a:endParaRPr/>
          </a:p>
        </p:txBody>
      </p:sp>
      <p:sp>
        <p:nvSpPr>
          <p:cNvPr id="20" name="Google Shape;20;p26"/>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rm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0"/>
              </a:spcBef>
              <a:spcAft>
                <a:spcPts val="0"/>
              </a:spcAft>
              <a:buSzPts val="1200"/>
              <a:buChar char="○"/>
              <a:defRPr sz="1600"/>
            </a:lvl2pPr>
            <a:lvl3pPr marL="1828754" lvl="2" indent="-406390" algn="l">
              <a:lnSpc>
                <a:spcPct val="115000"/>
              </a:lnSpc>
              <a:spcBef>
                <a:spcPts val="0"/>
              </a:spcBef>
              <a:spcAft>
                <a:spcPts val="0"/>
              </a:spcAft>
              <a:buSzPts val="1200"/>
              <a:buChar char="■"/>
              <a:defRPr sz="1600"/>
            </a:lvl3pPr>
            <a:lvl4pPr marL="2438339" lvl="3" indent="-406390" algn="l">
              <a:lnSpc>
                <a:spcPct val="115000"/>
              </a:lnSpc>
              <a:spcBef>
                <a:spcPts val="0"/>
              </a:spcBef>
              <a:spcAft>
                <a:spcPts val="0"/>
              </a:spcAft>
              <a:buSzPts val="1200"/>
              <a:buChar char="●"/>
              <a:defRPr sz="1600"/>
            </a:lvl4pPr>
            <a:lvl5pPr marL="3047924" lvl="4" indent="-406390" algn="l">
              <a:lnSpc>
                <a:spcPct val="115000"/>
              </a:lnSpc>
              <a:spcBef>
                <a:spcPts val="0"/>
              </a:spcBef>
              <a:spcAft>
                <a:spcPts val="0"/>
              </a:spcAft>
              <a:buSzPts val="1200"/>
              <a:buChar char="○"/>
              <a:defRPr sz="1600"/>
            </a:lvl5pPr>
            <a:lvl6pPr marL="3657509" lvl="5" indent="-406390" algn="l">
              <a:lnSpc>
                <a:spcPct val="115000"/>
              </a:lnSpc>
              <a:spcBef>
                <a:spcPts val="0"/>
              </a:spcBef>
              <a:spcAft>
                <a:spcPts val="0"/>
              </a:spcAft>
              <a:buSzPts val="1200"/>
              <a:buChar char="■"/>
              <a:defRPr sz="1600"/>
            </a:lvl6pPr>
            <a:lvl7pPr marL="4267093" lvl="6" indent="-406390" algn="l">
              <a:lnSpc>
                <a:spcPct val="115000"/>
              </a:lnSpc>
              <a:spcBef>
                <a:spcPts val="0"/>
              </a:spcBef>
              <a:spcAft>
                <a:spcPts val="0"/>
              </a:spcAft>
              <a:buSzPts val="1200"/>
              <a:buChar char="●"/>
              <a:defRPr sz="1600"/>
            </a:lvl7pPr>
            <a:lvl8pPr marL="4876678" lvl="7" indent="-406390" algn="l">
              <a:lnSpc>
                <a:spcPct val="115000"/>
              </a:lnSpc>
              <a:spcBef>
                <a:spcPts val="0"/>
              </a:spcBef>
              <a:spcAft>
                <a:spcPts val="0"/>
              </a:spcAft>
              <a:buSzPts val="1200"/>
              <a:buChar char="○"/>
              <a:defRPr sz="1600"/>
            </a:lvl8pPr>
            <a:lvl9pPr marL="5486263" lvl="8" indent="-406390" algn="l">
              <a:lnSpc>
                <a:spcPct val="115000"/>
              </a:lnSpc>
              <a:spcBef>
                <a:spcPts val="0"/>
              </a:spcBef>
              <a:spcAft>
                <a:spcPts val="0"/>
              </a:spcAft>
              <a:buSzPts val="1200"/>
              <a:buChar char="■"/>
              <a:defRPr sz="1600"/>
            </a:lvl9pPr>
          </a:lstStyle>
          <a:p>
            <a:endParaRPr/>
          </a:p>
        </p:txBody>
      </p:sp>
      <p:sp>
        <p:nvSpPr>
          <p:cNvPr id="21" name="Google Shape;21;p2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727211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51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60A320-8226-7E04-2363-4D31BA1B2C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F5E767-EB97-8F63-D0BF-D12066160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9E8F45-126D-3B38-844B-E29A94EF4F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0B144F-F19D-9041-8A99-DF95E8ED866E}" type="datetimeFigureOut">
              <a:rPr lang="en-US" smtClean="0"/>
              <a:t>4/18/26</a:t>
            </a:fld>
            <a:endParaRPr lang="en-US"/>
          </a:p>
        </p:txBody>
      </p:sp>
      <p:sp>
        <p:nvSpPr>
          <p:cNvPr id="5" name="Footer Placeholder 4">
            <a:extLst>
              <a:ext uri="{FF2B5EF4-FFF2-40B4-BE49-F238E27FC236}">
                <a16:creationId xmlns:a16="http://schemas.microsoft.com/office/drawing/2014/main" id="{74C8CAF8-D1BF-232C-2EEA-F5812808A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4507ABF-E5C0-5B06-071D-DF7AE228F2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4DEDC5-432D-734B-BC60-8B7B457BC150}" type="slidenum">
              <a:rPr lang="en-US" smtClean="0"/>
              <a:t>‹#›</a:t>
            </a:fld>
            <a:endParaRPr lang="en-US"/>
          </a:p>
        </p:txBody>
      </p:sp>
    </p:spTree>
    <p:extLst>
      <p:ext uri="{BB962C8B-B14F-4D97-AF65-F5344CB8AC3E}">
        <p14:creationId xmlns:p14="http://schemas.microsoft.com/office/powerpoint/2010/main" val="2559943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hyperlink" Target="https://www.templehealth.org/services/heart-vascular/patient-care/programs/comprehensive-hypertension?utm_source=chatgpt.com" TargetMode="External"/><Relationship Id="rId13" Type="http://schemas.openxmlformats.org/officeDocument/2006/relationships/hyperlink" Target="https://www.congress.gov/bill/118th-congress/senate-bill/4469" TargetMode="External"/><Relationship Id="rId3" Type="http://schemas.openxmlformats.org/officeDocument/2006/relationships/hyperlink" Target="https://doi.org/10.1016/j.pec.2015.11.003" TargetMode="External"/><Relationship Id="rId7" Type="http://schemas.openxmlformats.org/officeDocument/2006/relationships/hyperlink" Target="https://www.pennkdsap.org/kdsap" TargetMode="External"/><Relationship Id="rId12" Type="http://schemas.openxmlformats.org/officeDocument/2006/relationships/hyperlink" Target="https://www.congress.gov/bill/118th-congress/house-bill/5027"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hyperlink" Target="https://nccd.cdc.gov/CKD/" TargetMode="External"/><Relationship Id="rId11" Type="http://schemas.openxmlformats.org/officeDocument/2006/relationships/hyperlink" Target="https://www.thecommunityguide.org/findings/heart-disease-stroke-prevention-self-measured-blood-pressure-with-additional-support.html" TargetMode="External"/><Relationship Id="rId5" Type="http://schemas.openxmlformats.org/officeDocument/2006/relationships/hyperlink" Target="https://www.niddk.nih.gov/health-information/professionals/clinical-tools-patient-management/kidney-disease" TargetMode="External"/><Relationship Id="rId10" Type="http://schemas.openxmlformats.org/officeDocument/2006/relationships/hyperlink" Target="https://www.thecommunityguide.org/findings/heart-disease-stroke-prevention-self-measured-blood-pressure-with-additional-support.html?utm_source=chatgpt.com" TargetMode="External"/><Relationship Id="rId4" Type="http://schemas.openxmlformats.org/officeDocument/2006/relationships/hyperlink" Target="https://aspe.hhs.gov/reports/advancing-american-kidney-health" TargetMode="External"/><Relationship Id="rId9" Type="http://schemas.openxmlformats.org/officeDocument/2006/relationships/hyperlink" Target="https://www.templehealth.org/services/heart-vascular/patient-care/programs/comprehensive-hypertens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79035" y="876943"/>
            <a:ext cx="11360800" cy="2736800"/>
          </a:xfrm>
          <a:prstGeom prst="rect">
            <a:avLst/>
          </a:prstGeom>
          <a:noFill/>
          <a:ln>
            <a:noFill/>
          </a:ln>
        </p:spPr>
        <p:txBody>
          <a:bodyPr spcFirstLastPara="1" wrap="square" lIns="121900" tIns="121900" rIns="121900" bIns="1219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lnSpc>
                <a:spcPct val="100000"/>
              </a:lnSpc>
              <a:spcBef>
                <a:spcPts val="0"/>
              </a:spcBef>
              <a:spcAft>
                <a:spcPts val="0"/>
              </a:spcAft>
              <a:buSzPts val="5200"/>
              <a:buNone/>
            </a:pPr>
            <a:r>
              <a:rPr lang="en"/>
              <a:t>Chronic Kidney Disease </a:t>
            </a:r>
            <a:endParaRPr/>
          </a:p>
        </p:txBody>
      </p:sp>
      <p:sp>
        <p:nvSpPr>
          <p:cNvPr id="55" name="Google Shape;55;p1"/>
          <p:cNvSpPr txBox="1">
            <a:spLocks noGrp="1"/>
          </p:cNvSpPr>
          <p:nvPr>
            <p:ph type="subTitle" idx="1"/>
          </p:nvPr>
        </p:nvSpPr>
        <p:spPr>
          <a:xfrm>
            <a:off x="379024" y="3663009"/>
            <a:ext cx="11360800" cy="1056800"/>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lnSpc>
                <a:spcPct val="100000"/>
              </a:lnSpc>
              <a:spcBef>
                <a:spcPts val="0"/>
              </a:spcBef>
              <a:spcAft>
                <a:spcPts val="0"/>
              </a:spcAft>
              <a:buSzPts val="2800"/>
              <a:buNone/>
            </a:pPr>
            <a:endParaRPr/>
          </a:p>
        </p:txBody>
      </p:sp>
      <p:pic>
        <p:nvPicPr>
          <p:cNvPr id="56" name="Google Shape;56;p1"/>
          <p:cNvPicPr preferRelativeResize="0"/>
          <p:nvPr/>
        </p:nvPicPr>
        <p:blipFill rotWithShape="1">
          <a:blip r:embed="rId3">
            <a:alphaModFix/>
          </a:blip>
          <a:srcRect/>
          <a:stretch/>
        </p:blipFill>
        <p:spPr>
          <a:xfrm>
            <a:off x="-73409" y="-115824"/>
            <a:ext cx="12192000" cy="6858000"/>
          </a:xfrm>
          <a:prstGeom prst="rect">
            <a:avLst/>
          </a:prstGeom>
          <a:noFill/>
          <a:ln>
            <a:noFill/>
          </a:ln>
        </p:spPr>
      </p:pic>
      <p:sp>
        <p:nvSpPr>
          <p:cNvPr id="57" name="Google Shape;57;p1"/>
          <p:cNvSpPr txBox="1"/>
          <p:nvPr/>
        </p:nvSpPr>
        <p:spPr>
          <a:xfrm>
            <a:off x="420191" y="1581343"/>
            <a:ext cx="11204800" cy="2528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5500"/>
              <a:buFont typeface="Arial"/>
              <a:buNone/>
            </a:pPr>
            <a:r>
              <a:rPr lang="en" sz="7333" b="0" i="0" u="none" strike="noStrike" cap="none" dirty="0">
                <a:solidFill>
                  <a:schemeClr val="dk2"/>
                </a:solidFill>
                <a:latin typeface="Arial"/>
                <a:ea typeface="Arial"/>
                <a:cs typeface="Arial"/>
                <a:sym typeface="Arial"/>
              </a:rPr>
              <a:t> Chronic Kidney Disease  </a:t>
            </a:r>
            <a:endParaRPr sz="7333" b="0" i="0" u="none" strike="noStrike" cap="none" dirty="0">
              <a:solidFill>
                <a:schemeClr val="dk2"/>
              </a:solidFill>
              <a:latin typeface="Arial"/>
              <a:ea typeface="Arial"/>
              <a:cs typeface="Arial"/>
              <a:sym typeface="Arial"/>
            </a:endParaRPr>
          </a:p>
        </p:txBody>
      </p:sp>
      <p:sp>
        <p:nvSpPr>
          <p:cNvPr id="58" name="Google Shape;58;p1"/>
          <p:cNvSpPr txBox="1"/>
          <p:nvPr/>
        </p:nvSpPr>
        <p:spPr>
          <a:xfrm>
            <a:off x="1504724" y="3734609"/>
            <a:ext cx="8434000" cy="99040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800"/>
              <a:buFont typeface="Arial"/>
              <a:buNone/>
            </a:pPr>
            <a:r>
              <a:rPr lang="en" sz="2400" b="0" i="0" u="none" strike="noStrike" cap="none">
                <a:solidFill>
                  <a:schemeClr val="dk2"/>
                </a:solidFill>
                <a:latin typeface="Arial"/>
                <a:ea typeface="Arial"/>
                <a:cs typeface="Arial"/>
                <a:sym typeface="Arial"/>
              </a:rPr>
              <a:t>Sandy Chen, Manal Almutairi, Katerina Fella, Emem Adanga, Surayyo Khusenova</a:t>
            </a:r>
            <a:endParaRPr sz="2400" b="0" i="0" u="none" strike="noStrike" cap="none">
              <a:solidFill>
                <a:schemeClr val="dk2"/>
              </a:solidFill>
              <a:latin typeface="Arial"/>
              <a:ea typeface="Arial"/>
              <a:cs typeface="Arial"/>
              <a:sym typeface="Arial"/>
            </a:endParaRPr>
          </a:p>
        </p:txBody>
      </p:sp>
    </p:spTree>
    <p:extLst>
      <p:ext uri="{BB962C8B-B14F-4D97-AF65-F5344CB8AC3E}">
        <p14:creationId xmlns:p14="http://schemas.microsoft.com/office/powerpoint/2010/main" val="2030431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838200" y="1358020"/>
            <a:ext cx="10415760" cy="1008298"/>
          </a:xfrm>
          <a:prstGeom prst="rect">
            <a:avLst/>
          </a:prstGeom>
          <a:noFill/>
          <a:ln>
            <a:solidFill>
              <a:schemeClr val="accent1"/>
            </a:solid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ct val="111111"/>
              <a:buNone/>
            </a:pPr>
            <a:r>
              <a:rPr lang="en" sz="2500" b="1" dirty="0">
                <a:solidFill>
                  <a:schemeClr val="dk2"/>
                </a:solidFill>
                <a:latin typeface="Times New Roman" panose="02020603050405020304" pitchFamily="18" charset="0"/>
                <a:cs typeface="Times New Roman" panose="02020603050405020304" pitchFamily="18" charset="0"/>
              </a:rPr>
              <a:t>Chronic Kidney Disease</a:t>
            </a:r>
            <a:r>
              <a:rPr lang="en" sz="2500" dirty="0">
                <a:solidFill>
                  <a:schemeClr val="dk2"/>
                </a:solidFill>
                <a:latin typeface="Times New Roman" panose="02020603050405020304" pitchFamily="18" charset="0"/>
                <a:cs typeface="Times New Roman" panose="02020603050405020304" pitchFamily="18" charset="0"/>
              </a:rPr>
              <a:t> </a:t>
            </a:r>
            <a:endParaRPr sz="2500" dirty="0">
              <a:solidFill>
                <a:schemeClr val="dk2"/>
              </a:solidFill>
              <a:latin typeface="Times New Roman" panose="02020603050405020304" pitchFamily="18" charset="0"/>
              <a:cs typeface="Times New Roman" panose="02020603050405020304" pitchFamily="18" charset="0"/>
            </a:endParaRPr>
          </a:p>
        </p:txBody>
      </p:sp>
      <p:sp>
        <p:nvSpPr>
          <p:cNvPr id="64" name="Google Shape;64;p2"/>
          <p:cNvSpPr txBox="1">
            <a:spLocks noGrp="1"/>
          </p:cNvSpPr>
          <p:nvPr>
            <p:ph idx="1"/>
          </p:nvPr>
        </p:nvSpPr>
        <p:spPr>
          <a:xfrm>
            <a:off x="821350" y="2506662"/>
            <a:ext cx="10515600" cy="435133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SzPts val="1800"/>
              <a:buNone/>
            </a:pPr>
            <a:r>
              <a:rPr lang="en-US" sz="1800" dirty="0">
                <a:latin typeface="Times New Roman" panose="02020603050405020304" pitchFamily="18" charset="0"/>
                <a:cs typeface="Times New Roman" panose="02020603050405020304" pitchFamily="18" charset="0"/>
              </a:rPr>
              <a:t>O</a:t>
            </a:r>
            <a:r>
              <a:rPr lang="en" sz="1800" dirty="0" err="1">
                <a:latin typeface="Times New Roman" panose="02020603050405020304" pitchFamily="18" charset="0"/>
                <a:cs typeface="Times New Roman" panose="02020603050405020304" pitchFamily="18" charset="0"/>
              </a:rPr>
              <a:t>ccurs</a:t>
            </a:r>
            <a:r>
              <a:rPr lang="en" sz="1800" dirty="0">
                <a:latin typeface="Times New Roman" panose="02020603050405020304" pitchFamily="18" charset="0"/>
                <a:cs typeface="Times New Roman" panose="02020603050405020304" pitchFamily="18" charset="0"/>
              </a:rPr>
              <a:t> due to progressive nephron damage from conditions such as: Diabetes mellitus, Hypertension, Glomerulonephritis and Polycystic kidney disease </a:t>
            </a:r>
            <a:endParaRPr sz="1800" dirty="0">
              <a:latin typeface="Times New Roman" panose="02020603050405020304" pitchFamily="18" charset="0"/>
              <a:cs typeface="Times New Roman" panose="02020603050405020304" pitchFamily="18" charset="0"/>
            </a:endParaRPr>
          </a:p>
          <a:p>
            <a:pPr marL="0" lvl="0" indent="0" algn="l" rtl="0">
              <a:spcBef>
                <a:spcPts val="667"/>
              </a:spcBef>
              <a:spcAft>
                <a:spcPts val="0"/>
              </a:spcAft>
              <a:buSzPts val="1800"/>
              <a:buNone/>
            </a:pPr>
            <a:r>
              <a:rPr lang="en" sz="1800" b="1" dirty="0">
                <a:latin typeface="Times New Roman" panose="02020603050405020304" pitchFamily="18" charset="0"/>
                <a:cs typeface="Times New Roman" panose="02020603050405020304" pitchFamily="18" charset="0"/>
              </a:rPr>
              <a:t>Pathophysiology includes:</a:t>
            </a:r>
            <a:endParaRPr sz="1800" b="1" dirty="0">
              <a:latin typeface="Times New Roman" panose="02020603050405020304" pitchFamily="18" charset="0"/>
              <a:cs typeface="Times New Roman" panose="02020603050405020304" pitchFamily="18" charset="0"/>
            </a:endParaRPr>
          </a:p>
          <a:p>
            <a:pPr indent="-397923">
              <a:spcBef>
                <a:spcPts val="667"/>
              </a:spcBef>
              <a:buClr>
                <a:schemeClr val="dk2"/>
              </a:buClr>
              <a:buSzPts val="1100"/>
            </a:pPr>
            <a:r>
              <a:rPr lang="en" sz="1800" dirty="0">
                <a:latin typeface="Times New Roman" panose="02020603050405020304" pitchFamily="18" charset="0"/>
                <a:cs typeface="Times New Roman" panose="02020603050405020304" pitchFamily="18" charset="0"/>
              </a:rPr>
              <a:t>Glomerular </a:t>
            </a:r>
            <a:r>
              <a:rPr lang="en" sz="1800" dirty="0" err="1">
                <a:latin typeface="Times New Roman" panose="02020603050405020304" pitchFamily="18" charset="0"/>
                <a:cs typeface="Times New Roman" panose="02020603050405020304" pitchFamily="18" charset="0"/>
              </a:rPr>
              <a:t>hyperfiltration</a:t>
            </a:r>
            <a:endParaRPr sz="1800" dirty="0">
              <a:latin typeface="Times New Roman" panose="02020603050405020304" pitchFamily="18" charset="0"/>
              <a:cs typeface="Times New Roman" panose="02020603050405020304" pitchFamily="18" charset="0"/>
            </a:endParaRPr>
          </a:p>
          <a:p>
            <a:pPr indent="-397923">
              <a:spcBef>
                <a:spcPts val="0"/>
              </a:spcBef>
              <a:buClr>
                <a:schemeClr val="dk2"/>
              </a:buClr>
              <a:buSzPts val="1100"/>
            </a:pPr>
            <a:r>
              <a:rPr lang="en" sz="1800" dirty="0">
                <a:latin typeface="Times New Roman" panose="02020603050405020304" pitchFamily="18" charset="0"/>
                <a:cs typeface="Times New Roman" panose="02020603050405020304" pitchFamily="18" charset="0"/>
              </a:rPr>
              <a:t>Nephron loss</a:t>
            </a:r>
            <a:endParaRPr sz="1800" dirty="0">
              <a:latin typeface="Times New Roman" panose="02020603050405020304" pitchFamily="18" charset="0"/>
              <a:cs typeface="Times New Roman" panose="02020603050405020304" pitchFamily="18" charset="0"/>
            </a:endParaRPr>
          </a:p>
          <a:p>
            <a:pPr indent="-397923">
              <a:spcBef>
                <a:spcPts val="0"/>
              </a:spcBef>
              <a:buClr>
                <a:schemeClr val="dk2"/>
              </a:buClr>
              <a:buSzPts val="1100"/>
            </a:pPr>
            <a:r>
              <a:rPr lang="en" sz="1800" dirty="0">
                <a:latin typeface="Times New Roman" panose="02020603050405020304" pitchFamily="18" charset="0"/>
                <a:cs typeface="Times New Roman" panose="02020603050405020304" pitchFamily="18" charset="0"/>
              </a:rPr>
              <a:t>Compensatory hypertrophy of remaining nephrons</a:t>
            </a:r>
            <a:endParaRPr sz="1800" dirty="0">
              <a:latin typeface="Times New Roman" panose="02020603050405020304" pitchFamily="18" charset="0"/>
              <a:cs typeface="Times New Roman" panose="02020603050405020304" pitchFamily="18" charset="0"/>
            </a:endParaRPr>
          </a:p>
          <a:p>
            <a:pPr indent="-397923">
              <a:spcBef>
                <a:spcPts val="0"/>
              </a:spcBef>
              <a:buClr>
                <a:schemeClr val="dk2"/>
              </a:buClr>
              <a:buSzPts val="1100"/>
            </a:pPr>
            <a:r>
              <a:rPr lang="en" sz="1800" dirty="0">
                <a:latin typeface="Times New Roman" panose="02020603050405020304" pitchFamily="18" charset="0"/>
                <a:cs typeface="Times New Roman" panose="02020603050405020304" pitchFamily="18" charset="0"/>
              </a:rPr>
              <a:t>Progressive fibrosis and sclerosis</a:t>
            </a:r>
            <a:endParaRPr sz="1800" dirty="0">
              <a:latin typeface="Times New Roman" panose="02020603050405020304" pitchFamily="18" charset="0"/>
              <a:cs typeface="Times New Roman" panose="02020603050405020304" pitchFamily="18" charset="0"/>
            </a:endParaRPr>
          </a:p>
          <a:p>
            <a:pPr indent="-397923">
              <a:spcBef>
                <a:spcPts val="0"/>
              </a:spcBef>
              <a:buClr>
                <a:schemeClr val="dk2"/>
              </a:buClr>
              <a:buSzPts val="1100"/>
            </a:pPr>
            <a:r>
              <a:rPr lang="en" sz="1800" dirty="0">
                <a:latin typeface="Times New Roman" panose="02020603050405020304" pitchFamily="18" charset="0"/>
                <a:cs typeface="Times New Roman" panose="02020603050405020304" pitchFamily="18" charset="0"/>
              </a:rPr>
              <a:t>Decline in GFR </a:t>
            </a:r>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515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3"/>
          <p:cNvSpPr txBox="1">
            <a:spLocks noGrp="1"/>
          </p:cNvSpPr>
          <p:nvPr>
            <p:ph type="body" idx="1"/>
          </p:nvPr>
        </p:nvSpPr>
        <p:spPr>
          <a:xfrm>
            <a:off x="415599" y="1536633"/>
            <a:ext cx="9314748" cy="4555200"/>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228594" lvl="0" indent="-228594" algn="l" rtl="0">
              <a:spcBef>
                <a:spcPts val="0"/>
              </a:spcBef>
              <a:spcAft>
                <a:spcPts val="0"/>
              </a:spcAft>
              <a:buSzPts val="1400"/>
              <a:buFont typeface="Wingdings" pitchFamily="2" charset="2"/>
              <a:buChar char="Ø"/>
            </a:pPr>
            <a:r>
              <a:rPr lang="en" sz="1800" b="1" dirty="0">
                <a:solidFill>
                  <a:srgbClr val="273540"/>
                </a:solidFill>
                <a:highlight>
                  <a:srgbClr val="FFFFFF"/>
                </a:highlight>
                <a:latin typeface="Times New Roman" panose="02020603050405020304" pitchFamily="18" charset="0"/>
                <a:ea typeface="Lato"/>
                <a:cs typeface="Times New Roman" panose="02020603050405020304" pitchFamily="18" charset="0"/>
                <a:sym typeface="Lato"/>
              </a:rPr>
              <a:t>What sequelae are common for someone who has this disease</a:t>
            </a:r>
            <a:r>
              <a:rPr lang="en-US" sz="1800" b="1" dirty="0">
                <a:solidFill>
                  <a:srgbClr val="273540"/>
                </a:solidFill>
                <a:highlight>
                  <a:srgbClr val="FFFFFF"/>
                </a:highlight>
                <a:latin typeface="Times New Roman" panose="02020603050405020304" pitchFamily="18" charset="0"/>
                <a:ea typeface="Lato"/>
                <a:cs typeface="Times New Roman" panose="02020603050405020304" pitchFamily="18" charset="0"/>
                <a:sym typeface="Lato"/>
              </a:rPr>
              <a:t> </a:t>
            </a:r>
          </a:p>
          <a:p>
            <a:pPr marL="285750" lvl="0" indent="-285750" algn="l" rtl="0">
              <a:spcBef>
                <a:spcPts val="0"/>
              </a:spcBef>
              <a:spcAft>
                <a:spcPts val="0"/>
              </a:spcAft>
              <a:buSzPts val="1400"/>
              <a:buFont typeface="Arial" panose="020B0604020202020204" pitchFamily="34" charset="0"/>
              <a:buChar char="•"/>
            </a:pPr>
            <a:r>
              <a:rPr lang="en-US" sz="1800" b="1" dirty="0">
                <a:solidFill>
                  <a:srgbClr val="273540"/>
                </a:solidFill>
                <a:highlight>
                  <a:srgbClr val="FFFFFF"/>
                </a:highlight>
                <a:latin typeface="Times New Roman" panose="02020603050405020304" pitchFamily="18" charset="0"/>
                <a:ea typeface="Lato"/>
                <a:cs typeface="Times New Roman" panose="02020603050405020304" pitchFamily="18" charset="0"/>
                <a:sym typeface="Lato"/>
              </a:rPr>
              <a:t>   </a:t>
            </a:r>
            <a:r>
              <a:rPr lang="en" sz="1800" dirty="0">
                <a:solidFill>
                  <a:srgbClr val="273540"/>
                </a:solidFill>
                <a:latin typeface="Times New Roman" panose="02020603050405020304" pitchFamily="18" charset="0"/>
                <a:cs typeface="Times New Roman" panose="02020603050405020304" pitchFamily="18" charset="0"/>
              </a:rPr>
              <a:t>Cardiovascular complications: Heart failure, CKD and stroke</a:t>
            </a:r>
            <a:endParaRPr sz="1800" dirty="0">
              <a:solidFill>
                <a:srgbClr val="273540"/>
              </a:solidFill>
              <a:latin typeface="Times New Roman" panose="02020603050405020304" pitchFamily="18" charset="0"/>
              <a:cs typeface="Times New Roman" panose="02020603050405020304" pitchFamily="18" charset="0"/>
            </a:endParaRPr>
          </a:p>
          <a:p>
            <a:pPr>
              <a:buClr>
                <a:srgbClr val="273540"/>
              </a:buClr>
              <a:buFont typeface="Arial" panose="020B0604020202020204" pitchFamily="34" charset="0"/>
              <a:buChar char="•"/>
            </a:pPr>
            <a:r>
              <a:rPr lang="en" sz="1800" dirty="0">
                <a:solidFill>
                  <a:srgbClr val="273540"/>
                </a:solidFill>
                <a:latin typeface="Times New Roman" panose="02020603050405020304" pitchFamily="18" charset="0"/>
                <a:cs typeface="Times New Roman" panose="02020603050405020304" pitchFamily="18" charset="0"/>
              </a:rPr>
              <a:t>Metabolic complications: metabolic acidosis, </a:t>
            </a:r>
            <a:r>
              <a:rPr lang="en" sz="1800" dirty="0" err="1">
                <a:solidFill>
                  <a:srgbClr val="273540"/>
                </a:solidFill>
                <a:latin typeface="Times New Roman" panose="02020603050405020304" pitchFamily="18" charset="0"/>
                <a:cs typeface="Times New Roman" panose="02020603050405020304" pitchFamily="18" charset="0"/>
              </a:rPr>
              <a:t>hyperkalemia</a:t>
            </a:r>
            <a:r>
              <a:rPr lang="en" sz="1800" dirty="0">
                <a:solidFill>
                  <a:srgbClr val="273540"/>
                </a:solidFill>
                <a:latin typeface="Times New Roman" panose="02020603050405020304" pitchFamily="18" charset="0"/>
                <a:cs typeface="Times New Roman" panose="02020603050405020304" pitchFamily="18" charset="0"/>
              </a:rPr>
              <a:t> </a:t>
            </a:r>
            <a:r>
              <a:rPr lang="en-US" sz="1800" dirty="0">
                <a:solidFill>
                  <a:srgbClr val="273540"/>
                </a:solidFill>
                <a:latin typeface="Times New Roman" panose="02020603050405020304" pitchFamily="18" charset="0"/>
                <a:cs typeface="Times New Roman" panose="02020603050405020304" pitchFamily="18" charset="0"/>
              </a:rPr>
              <a:t>and</a:t>
            </a:r>
            <a:r>
              <a:rPr lang="en" sz="1800" dirty="0">
                <a:solidFill>
                  <a:srgbClr val="273540"/>
                </a:solidFill>
                <a:latin typeface="Times New Roman" panose="02020603050405020304" pitchFamily="18" charset="0"/>
                <a:cs typeface="Times New Roman" panose="02020603050405020304" pitchFamily="18" charset="0"/>
              </a:rPr>
              <a:t> </a:t>
            </a:r>
            <a:r>
              <a:rPr lang="en" sz="1800" dirty="0" err="1">
                <a:solidFill>
                  <a:srgbClr val="273540"/>
                </a:solidFill>
                <a:latin typeface="Times New Roman" panose="02020603050405020304" pitchFamily="18" charset="0"/>
                <a:cs typeface="Times New Roman" panose="02020603050405020304" pitchFamily="18" charset="0"/>
              </a:rPr>
              <a:t>hyperphosphatemia</a:t>
            </a:r>
            <a:endParaRPr sz="1800" dirty="0">
              <a:solidFill>
                <a:srgbClr val="273540"/>
              </a:solidFill>
              <a:latin typeface="Times New Roman" panose="02020603050405020304" pitchFamily="18" charset="0"/>
              <a:cs typeface="Times New Roman" panose="02020603050405020304" pitchFamily="18" charset="0"/>
            </a:endParaRPr>
          </a:p>
          <a:p>
            <a:pPr>
              <a:buClr>
                <a:srgbClr val="273540"/>
              </a:buClr>
              <a:buFont typeface="Arial" panose="020B0604020202020204" pitchFamily="34" charset="0"/>
              <a:buChar char="•"/>
            </a:pPr>
            <a:r>
              <a:rPr lang="en" sz="1800" dirty="0">
                <a:solidFill>
                  <a:srgbClr val="273540"/>
                </a:solidFill>
                <a:latin typeface="Times New Roman" panose="02020603050405020304" pitchFamily="18" charset="0"/>
                <a:cs typeface="Times New Roman" panose="02020603050405020304" pitchFamily="18" charset="0"/>
              </a:rPr>
              <a:t>Hematologic : anemia due to reduced erythropoietin </a:t>
            </a:r>
            <a:endParaRPr sz="1800" dirty="0">
              <a:solidFill>
                <a:srgbClr val="273540"/>
              </a:solidFill>
              <a:latin typeface="Times New Roman" panose="02020603050405020304" pitchFamily="18" charset="0"/>
              <a:cs typeface="Times New Roman" panose="02020603050405020304" pitchFamily="18" charset="0"/>
            </a:endParaRPr>
          </a:p>
          <a:p>
            <a:pPr>
              <a:buClr>
                <a:srgbClr val="273540"/>
              </a:buClr>
              <a:buFont typeface="Arial" panose="020B0604020202020204" pitchFamily="34" charset="0"/>
              <a:buChar char="•"/>
            </a:pPr>
            <a:r>
              <a:rPr lang="en" sz="1800" dirty="0">
                <a:solidFill>
                  <a:srgbClr val="273540"/>
                </a:solidFill>
                <a:latin typeface="Times New Roman" panose="02020603050405020304" pitchFamily="18" charset="0"/>
                <a:cs typeface="Times New Roman" panose="02020603050405020304" pitchFamily="18" charset="0"/>
              </a:rPr>
              <a:t>Bone disease: renal </a:t>
            </a:r>
            <a:r>
              <a:rPr lang="en" sz="1800" dirty="0" err="1">
                <a:solidFill>
                  <a:srgbClr val="273540"/>
                </a:solidFill>
                <a:latin typeface="Times New Roman" panose="02020603050405020304" pitchFamily="18" charset="0"/>
                <a:cs typeface="Times New Roman" panose="02020603050405020304" pitchFamily="18" charset="0"/>
              </a:rPr>
              <a:t>osteodystrophy</a:t>
            </a:r>
            <a:endParaRPr sz="1800" dirty="0">
              <a:solidFill>
                <a:srgbClr val="273540"/>
              </a:solidFill>
              <a:latin typeface="Times New Roman" panose="02020603050405020304" pitchFamily="18" charset="0"/>
              <a:cs typeface="Times New Roman" panose="02020603050405020304" pitchFamily="18" charset="0"/>
            </a:endParaRPr>
          </a:p>
          <a:p>
            <a:pPr>
              <a:buClr>
                <a:srgbClr val="273540"/>
              </a:buClr>
              <a:buFont typeface="Arial" panose="020B0604020202020204" pitchFamily="34" charset="0"/>
              <a:buChar char="•"/>
            </a:pPr>
            <a:r>
              <a:rPr lang="en" sz="1800" dirty="0">
                <a:solidFill>
                  <a:srgbClr val="273540"/>
                </a:solidFill>
                <a:latin typeface="Times New Roman" panose="02020603050405020304" pitchFamily="18" charset="0"/>
                <a:cs typeface="Times New Roman" panose="02020603050405020304" pitchFamily="18" charset="0"/>
              </a:rPr>
              <a:t>ESRD: Patients may require dialysis or kidney transplantation</a:t>
            </a:r>
            <a:endParaRPr lang="en-US" sz="1800" dirty="0">
              <a:solidFill>
                <a:srgbClr val="273540"/>
              </a:solidFill>
              <a:latin typeface="Times New Roman" panose="02020603050405020304" pitchFamily="18" charset="0"/>
              <a:cs typeface="Times New Roman" panose="02020603050405020304" pitchFamily="18" charset="0"/>
            </a:endParaRPr>
          </a:p>
          <a:p>
            <a:pPr marL="609585" lvl="0" indent="-423323" algn="l" rtl="0">
              <a:spcBef>
                <a:spcPts val="0"/>
              </a:spcBef>
              <a:spcAft>
                <a:spcPts val="0"/>
              </a:spcAft>
              <a:buClr>
                <a:srgbClr val="273540"/>
              </a:buClr>
              <a:buSzPts val="1400"/>
              <a:buFont typeface="Arial"/>
              <a:buChar char="●"/>
            </a:pPr>
            <a:endParaRPr lang="en-US" sz="1800" b="1" i="0" u="none" strike="noStrike" dirty="0">
              <a:solidFill>
                <a:srgbClr val="273540"/>
              </a:solidFill>
              <a:effectLst/>
              <a:latin typeface="Times New Roman" panose="02020603050405020304" pitchFamily="18" charset="0"/>
              <a:cs typeface="Times New Roman" panose="02020603050405020304" pitchFamily="18" charset="0"/>
            </a:endParaRPr>
          </a:p>
          <a:p>
            <a:pPr lvl="0" algn="l" rtl="0">
              <a:spcBef>
                <a:spcPts val="0"/>
              </a:spcBef>
              <a:spcAft>
                <a:spcPts val="0"/>
              </a:spcAft>
              <a:buClr>
                <a:srgbClr val="273540"/>
              </a:buClr>
              <a:buSzPts val="1400"/>
              <a:buFont typeface="Wingdings" pitchFamily="2" charset="2"/>
              <a:buChar char="Ø"/>
            </a:pPr>
            <a:r>
              <a:rPr lang="en-US" sz="1800" b="1" i="0" u="none" strike="noStrike" dirty="0">
                <a:solidFill>
                  <a:srgbClr val="273540"/>
                </a:solidFill>
                <a:effectLst/>
                <a:latin typeface="Times New Roman" panose="02020603050405020304" pitchFamily="18" charset="0"/>
                <a:cs typeface="Times New Roman" panose="02020603050405020304" pitchFamily="18" charset="0"/>
              </a:rPr>
              <a:t>What determinants of health increase the risk of developing or worsening the disease?</a:t>
            </a:r>
          </a:p>
          <a:p>
            <a:pPr fontAlgn="base"/>
            <a:r>
              <a:rPr lang="en-US" sz="1800" dirty="0">
                <a:solidFill>
                  <a:srgbClr val="273540"/>
                </a:solidFill>
                <a:latin typeface="Times New Roman" panose="02020603050405020304" pitchFamily="18" charset="0"/>
                <a:cs typeface="Times New Roman" panose="02020603050405020304" pitchFamily="18" charset="0"/>
              </a:rPr>
              <a:t>Social and economic environment: income, education, &amp; support</a:t>
            </a:r>
          </a:p>
          <a:p>
            <a:pPr fontAlgn="base"/>
            <a:r>
              <a:rPr lang="en-US" sz="1800" dirty="0">
                <a:solidFill>
                  <a:srgbClr val="273540"/>
                </a:solidFill>
                <a:latin typeface="Times New Roman" panose="02020603050405020304" pitchFamily="18" charset="0"/>
                <a:cs typeface="Times New Roman" panose="02020603050405020304" pitchFamily="18" charset="0"/>
              </a:rPr>
              <a:t>Physical environment: Housing, food, air quality, urban design</a:t>
            </a:r>
          </a:p>
          <a:p>
            <a:pPr fontAlgn="base"/>
            <a:r>
              <a:rPr lang="en-US" sz="1800" dirty="0">
                <a:solidFill>
                  <a:srgbClr val="273540"/>
                </a:solidFill>
                <a:latin typeface="Times New Roman" panose="02020603050405020304" pitchFamily="18" charset="0"/>
                <a:cs typeface="Times New Roman" panose="02020603050405020304" pitchFamily="18" charset="0"/>
              </a:rPr>
              <a:t>Health care access</a:t>
            </a:r>
          </a:p>
          <a:p>
            <a:pPr fontAlgn="base"/>
            <a:r>
              <a:rPr lang="en-US" sz="1800" dirty="0">
                <a:solidFill>
                  <a:srgbClr val="273540"/>
                </a:solidFill>
                <a:latin typeface="Times New Roman" panose="02020603050405020304" pitchFamily="18" charset="0"/>
                <a:cs typeface="Times New Roman" panose="02020603050405020304" pitchFamily="18" charset="0"/>
              </a:rPr>
              <a:t>Genetics &amp; </a:t>
            </a:r>
            <a:r>
              <a:rPr lang="en-US" sz="1800" dirty="0" err="1">
                <a:solidFill>
                  <a:srgbClr val="273540"/>
                </a:solidFill>
                <a:latin typeface="Times New Roman" panose="02020603050405020304" pitchFamily="18" charset="0"/>
                <a:cs typeface="Times New Roman" panose="02020603050405020304" pitchFamily="18" charset="0"/>
              </a:rPr>
              <a:t>epigenetics</a:t>
            </a:r>
            <a:r>
              <a:rPr lang="en-US" sz="1800" dirty="0">
                <a:solidFill>
                  <a:srgbClr val="273540"/>
                </a:solidFill>
                <a:latin typeface="Times New Roman" panose="02020603050405020304" pitchFamily="18" charset="0"/>
                <a:cs typeface="Times New Roman" panose="02020603050405020304" pitchFamily="18" charset="0"/>
              </a:rPr>
              <a:t> (gene-environment interactions)</a:t>
            </a:r>
          </a:p>
          <a:p>
            <a:pPr fontAlgn="base"/>
            <a:r>
              <a:rPr lang="en-US" sz="1800" dirty="0">
                <a:solidFill>
                  <a:srgbClr val="273540"/>
                </a:solidFill>
                <a:latin typeface="Times New Roman" panose="02020603050405020304" pitchFamily="18" charset="0"/>
                <a:cs typeface="Times New Roman" panose="02020603050405020304" pitchFamily="18" charset="0"/>
              </a:rPr>
              <a:t>Health related behaviors</a:t>
            </a:r>
          </a:p>
          <a:p>
            <a:pPr marL="0" lvl="0" indent="0" algn="l" rtl="0">
              <a:lnSpc>
                <a:spcPct val="115000"/>
              </a:lnSpc>
              <a:spcBef>
                <a:spcPts val="533"/>
              </a:spcBef>
              <a:spcAft>
                <a:spcPts val="1600"/>
              </a:spcAft>
              <a:buSzPts val="1400"/>
              <a:buNone/>
            </a:pPr>
            <a:endParaRPr dirty="0"/>
          </a:p>
        </p:txBody>
      </p:sp>
    </p:spTree>
    <p:extLst>
      <p:ext uri="{BB962C8B-B14F-4D97-AF65-F5344CB8AC3E}">
        <p14:creationId xmlns:p14="http://schemas.microsoft.com/office/powerpoint/2010/main" val="2549742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A173238B-C9B2-9BD8-204E-F4814F736170}"/>
              </a:ext>
            </a:extLst>
          </p:cNvPr>
          <p:cNvSpPr/>
          <p:nvPr/>
        </p:nvSpPr>
        <p:spPr>
          <a:xfrm>
            <a:off x="487680" y="219456"/>
            <a:ext cx="11216640" cy="5486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5D73B6FA-3EFD-15ED-1C75-0602D0F6C299}"/>
              </a:ext>
            </a:extLst>
          </p:cNvPr>
          <p:cNvSpPr/>
          <p:nvPr/>
        </p:nvSpPr>
        <p:spPr>
          <a:xfrm>
            <a:off x="487680" y="780288"/>
            <a:ext cx="11216640" cy="536448"/>
          </a:xfrm>
          <a:prstGeom prst="rect">
            <a:avLst/>
          </a:prstGeom>
          <a:noFill/>
          <a:ln>
            <a:solidFill>
              <a:schemeClr val="tx2"/>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273540"/>
                </a:solidFill>
                <a:highlight>
                  <a:srgbClr val="FFFFFF"/>
                </a:highlight>
                <a:latin typeface="Times New Roman" panose="02020603050405020304" pitchFamily="18" charset="0"/>
                <a:ea typeface="Lato"/>
                <a:cs typeface="Times New Roman" panose="02020603050405020304" pitchFamily="18" charset="0"/>
              </a:rPr>
              <a:t>Which health factors can be changed and at what level of intervention?</a:t>
            </a:r>
          </a:p>
        </p:txBody>
      </p:sp>
      <p:sp>
        <p:nvSpPr>
          <p:cNvPr id="10" name="Shape 2">
            <a:extLst>
              <a:ext uri="{FF2B5EF4-FFF2-40B4-BE49-F238E27FC236}">
                <a16:creationId xmlns:a16="http://schemas.microsoft.com/office/drawing/2014/main" id="{68B0EF02-DB78-4833-9B26-18644A2291A9}"/>
              </a:ext>
            </a:extLst>
          </p:cNvPr>
          <p:cNvSpPr/>
          <p:nvPr/>
        </p:nvSpPr>
        <p:spPr>
          <a:xfrm>
            <a:off x="487680" y="1280160"/>
            <a:ext cx="3657600" cy="5120640"/>
          </a:xfrm>
          <a:prstGeom prst="rect">
            <a:avLst/>
          </a:prstGeom>
          <a:solidFill>
            <a:srgbClr val="FCEBEB"/>
          </a:solidFill>
          <a:ln w="12700">
            <a:solidFill>
              <a:srgbClr val="E24B4A"/>
            </a:solidFill>
            <a:prstDash val="solid"/>
          </a:ln>
        </p:spPr>
      </p:sp>
      <p:sp>
        <p:nvSpPr>
          <p:cNvPr id="12" name="Shape 3">
            <a:extLst>
              <a:ext uri="{FF2B5EF4-FFF2-40B4-BE49-F238E27FC236}">
                <a16:creationId xmlns:a16="http://schemas.microsoft.com/office/drawing/2014/main" id="{AFC76776-D9AD-4CC9-4F29-0C37B495322A}"/>
              </a:ext>
            </a:extLst>
          </p:cNvPr>
          <p:cNvSpPr/>
          <p:nvPr/>
        </p:nvSpPr>
        <p:spPr>
          <a:xfrm>
            <a:off x="487680" y="1280160"/>
            <a:ext cx="3657600" cy="670560"/>
          </a:xfrm>
          <a:prstGeom prst="rect">
            <a:avLst/>
          </a:prstGeom>
          <a:solidFill>
            <a:srgbClr val="E24B4A"/>
          </a:solidFill>
          <a:ln w="12700">
            <a:solidFill>
              <a:srgbClr val="E24B4A"/>
            </a:solidFill>
            <a:prstDash val="solid"/>
          </a:ln>
        </p:spPr>
      </p:sp>
      <p:sp>
        <p:nvSpPr>
          <p:cNvPr id="14" name="Text 4">
            <a:extLst>
              <a:ext uri="{FF2B5EF4-FFF2-40B4-BE49-F238E27FC236}">
                <a16:creationId xmlns:a16="http://schemas.microsoft.com/office/drawing/2014/main" id="{C5130DFA-8BC0-5514-D568-6AE025C08217}"/>
              </a:ext>
            </a:extLst>
          </p:cNvPr>
          <p:cNvSpPr/>
          <p:nvPr/>
        </p:nvSpPr>
        <p:spPr>
          <a:xfrm>
            <a:off x="609600" y="1341120"/>
            <a:ext cx="341376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kern="0" spc="133" dirty="0">
                <a:solidFill>
                  <a:schemeClr val="tx1"/>
                </a:solidFill>
                <a:latin typeface="Times New Roman" panose="02020603050405020304" pitchFamily="18" charset="0"/>
                <a:ea typeface="Calibri" pitchFamily="34" charset="-122"/>
                <a:cs typeface="Times New Roman" panose="02020603050405020304" pitchFamily="18" charset="0"/>
              </a:rPr>
              <a:t>HIGH IMPACT</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6" name="Text 5">
            <a:extLst>
              <a:ext uri="{FF2B5EF4-FFF2-40B4-BE49-F238E27FC236}">
                <a16:creationId xmlns:a16="http://schemas.microsoft.com/office/drawing/2014/main" id="{47CD9427-BCDC-373D-3E68-1E1C70894EEA}"/>
              </a:ext>
            </a:extLst>
          </p:cNvPr>
          <p:cNvSpPr/>
          <p:nvPr/>
        </p:nvSpPr>
        <p:spPr>
          <a:xfrm>
            <a:off x="609600" y="1682496"/>
            <a:ext cx="3413760" cy="2438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Individual + community level</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972CC0E3-C2D9-A948-1AD9-772D7E436FE0}"/>
              </a:ext>
            </a:extLst>
          </p:cNvPr>
          <p:cNvSpPr/>
          <p:nvPr/>
        </p:nvSpPr>
        <p:spPr>
          <a:xfrm>
            <a:off x="670560" y="2218944"/>
            <a:ext cx="146304" cy="146304"/>
          </a:xfrm>
          <a:prstGeom prst="ellipse">
            <a:avLst/>
          </a:prstGeom>
          <a:solidFill>
            <a:srgbClr val="E24B4A"/>
          </a:solidFill>
          <a:ln w="12700">
            <a:solidFill>
              <a:srgbClr val="E24B4A"/>
            </a:solidFill>
            <a:prstDash val="solid"/>
          </a:ln>
        </p:spPr>
      </p:sp>
      <p:sp>
        <p:nvSpPr>
          <p:cNvPr id="20" name="Text 7">
            <a:extLst>
              <a:ext uri="{FF2B5EF4-FFF2-40B4-BE49-F238E27FC236}">
                <a16:creationId xmlns:a16="http://schemas.microsoft.com/office/drawing/2014/main" id="{C2A88A10-62A0-F255-8BF9-A68EBF3E7E47}"/>
              </a:ext>
            </a:extLst>
          </p:cNvPr>
          <p:cNvSpPr/>
          <p:nvPr/>
        </p:nvSpPr>
        <p:spPr>
          <a:xfrm>
            <a:off x="914400" y="2182368"/>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Insurance coverage</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34205E87-3B6F-C13A-CB77-C397972583AB}"/>
              </a:ext>
            </a:extLst>
          </p:cNvPr>
          <p:cNvSpPr/>
          <p:nvPr/>
        </p:nvSpPr>
        <p:spPr>
          <a:xfrm>
            <a:off x="670560" y="3145536"/>
            <a:ext cx="146304" cy="146304"/>
          </a:xfrm>
          <a:prstGeom prst="ellipse">
            <a:avLst/>
          </a:prstGeom>
          <a:solidFill>
            <a:srgbClr val="E24B4A"/>
          </a:solidFill>
          <a:ln w="12700">
            <a:solidFill>
              <a:srgbClr val="E24B4A"/>
            </a:solidFill>
            <a:prstDash val="solid"/>
          </a:ln>
        </p:spPr>
      </p:sp>
      <p:sp>
        <p:nvSpPr>
          <p:cNvPr id="24" name="Text 9">
            <a:extLst>
              <a:ext uri="{FF2B5EF4-FFF2-40B4-BE49-F238E27FC236}">
                <a16:creationId xmlns:a16="http://schemas.microsoft.com/office/drawing/2014/main" id="{8704B8EF-4F71-B256-CFF4-6770406BC1F5}"/>
              </a:ext>
            </a:extLst>
          </p:cNvPr>
          <p:cNvSpPr/>
          <p:nvPr/>
        </p:nvSpPr>
        <p:spPr>
          <a:xfrm>
            <a:off x="914400" y="3108960"/>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Food security access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26" name="Shape 10">
            <a:extLst>
              <a:ext uri="{FF2B5EF4-FFF2-40B4-BE49-F238E27FC236}">
                <a16:creationId xmlns:a16="http://schemas.microsoft.com/office/drawing/2014/main" id="{E42C5272-7599-2103-C233-B162A3A3CAF0}"/>
              </a:ext>
            </a:extLst>
          </p:cNvPr>
          <p:cNvSpPr/>
          <p:nvPr/>
        </p:nvSpPr>
        <p:spPr>
          <a:xfrm>
            <a:off x="670560" y="4072128"/>
            <a:ext cx="146304" cy="146304"/>
          </a:xfrm>
          <a:prstGeom prst="ellipse">
            <a:avLst/>
          </a:prstGeom>
          <a:solidFill>
            <a:srgbClr val="E24B4A"/>
          </a:solidFill>
          <a:ln w="12700">
            <a:solidFill>
              <a:srgbClr val="E24B4A"/>
            </a:solidFill>
            <a:prstDash val="solid"/>
          </a:ln>
        </p:spPr>
      </p:sp>
      <p:sp>
        <p:nvSpPr>
          <p:cNvPr id="28" name="Text 11">
            <a:extLst>
              <a:ext uri="{FF2B5EF4-FFF2-40B4-BE49-F238E27FC236}">
                <a16:creationId xmlns:a16="http://schemas.microsoft.com/office/drawing/2014/main" id="{170625B7-5E7C-10BF-A7B4-6AE451827506}"/>
              </a:ext>
            </a:extLst>
          </p:cNvPr>
          <p:cNvSpPr/>
          <p:nvPr/>
        </p:nvSpPr>
        <p:spPr>
          <a:xfrm>
            <a:off x="914400" y="4035552"/>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Physical inactivity</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B26C6DF-AE97-9486-8B89-98ADBC5466FA}"/>
              </a:ext>
            </a:extLst>
          </p:cNvPr>
          <p:cNvSpPr/>
          <p:nvPr/>
        </p:nvSpPr>
        <p:spPr>
          <a:xfrm>
            <a:off x="670560" y="4998720"/>
            <a:ext cx="146304" cy="146304"/>
          </a:xfrm>
          <a:prstGeom prst="ellipse">
            <a:avLst/>
          </a:prstGeom>
          <a:solidFill>
            <a:srgbClr val="E24B4A"/>
          </a:solidFill>
          <a:ln w="12700">
            <a:solidFill>
              <a:srgbClr val="E24B4A"/>
            </a:solidFill>
            <a:prstDash val="solid"/>
          </a:ln>
        </p:spPr>
      </p:sp>
      <p:sp>
        <p:nvSpPr>
          <p:cNvPr id="32" name="Text 13">
            <a:extLst>
              <a:ext uri="{FF2B5EF4-FFF2-40B4-BE49-F238E27FC236}">
                <a16:creationId xmlns:a16="http://schemas.microsoft.com/office/drawing/2014/main" id="{9C0E1B90-A720-345E-0861-A9CA561C3BA7}"/>
              </a:ext>
            </a:extLst>
          </p:cNvPr>
          <p:cNvSpPr/>
          <p:nvPr/>
        </p:nvSpPr>
        <p:spPr>
          <a:xfrm>
            <a:off x="914400" y="4962144"/>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Tobacco use / smoking</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34" name="Shape 14">
            <a:extLst>
              <a:ext uri="{FF2B5EF4-FFF2-40B4-BE49-F238E27FC236}">
                <a16:creationId xmlns:a16="http://schemas.microsoft.com/office/drawing/2014/main" id="{E9ACEFB7-6C4A-A644-AF0C-EEA1C2BE941D}"/>
              </a:ext>
            </a:extLst>
          </p:cNvPr>
          <p:cNvSpPr/>
          <p:nvPr/>
        </p:nvSpPr>
        <p:spPr>
          <a:xfrm>
            <a:off x="4389120" y="1280160"/>
            <a:ext cx="3657600" cy="5120640"/>
          </a:xfrm>
          <a:prstGeom prst="rect">
            <a:avLst/>
          </a:prstGeom>
          <a:solidFill>
            <a:srgbClr val="FFFFFF"/>
          </a:solidFill>
          <a:ln w="12700">
            <a:solidFill>
              <a:srgbClr val="BA7517"/>
            </a:solidFill>
            <a:prstDash val="solid"/>
          </a:ln>
        </p:spPr>
      </p:sp>
      <p:sp>
        <p:nvSpPr>
          <p:cNvPr id="36" name="Shape 15">
            <a:extLst>
              <a:ext uri="{FF2B5EF4-FFF2-40B4-BE49-F238E27FC236}">
                <a16:creationId xmlns:a16="http://schemas.microsoft.com/office/drawing/2014/main" id="{B8260175-B520-3548-DEF2-3F6BE63CD818}"/>
              </a:ext>
            </a:extLst>
          </p:cNvPr>
          <p:cNvSpPr/>
          <p:nvPr/>
        </p:nvSpPr>
        <p:spPr>
          <a:xfrm>
            <a:off x="4389120" y="1280160"/>
            <a:ext cx="3657600" cy="670560"/>
          </a:xfrm>
          <a:prstGeom prst="rect">
            <a:avLst/>
          </a:prstGeom>
          <a:solidFill>
            <a:srgbClr val="BA7517"/>
          </a:solidFill>
          <a:ln w="12700">
            <a:solidFill>
              <a:srgbClr val="BA7517"/>
            </a:solidFill>
            <a:prstDash val="solid"/>
          </a:ln>
        </p:spPr>
      </p:sp>
      <p:sp>
        <p:nvSpPr>
          <p:cNvPr id="38" name="Text 16">
            <a:extLst>
              <a:ext uri="{FF2B5EF4-FFF2-40B4-BE49-F238E27FC236}">
                <a16:creationId xmlns:a16="http://schemas.microsoft.com/office/drawing/2014/main" id="{61DA3EF2-9CB7-57CC-273B-DDAF02B0E12A}"/>
              </a:ext>
            </a:extLst>
          </p:cNvPr>
          <p:cNvSpPr/>
          <p:nvPr/>
        </p:nvSpPr>
        <p:spPr>
          <a:xfrm>
            <a:off x="4511040" y="1341120"/>
            <a:ext cx="341376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kern="0" spc="133" dirty="0">
                <a:solidFill>
                  <a:schemeClr val="tx1"/>
                </a:solidFill>
                <a:latin typeface="Times New Roman" panose="02020603050405020304" pitchFamily="18" charset="0"/>
                <a:ea typeface="Calibri" pitchFamily="34" charset="-122"/>
                <a:cs typeface="Times New Roman" panose="02020603050405020304" pitchFamily="18" charset="0"/>
              </a:rPr>
              <a:t>MODERATE IMPACT</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0" name="Text 17">
            <a:extLst>
              <a:ext uri="{FF2B5EF4-FFF2-40B4-BE49-F238E27FC236}">
                <a16:creationId xmlns:a16="http://schemas.microsoft.com/office/drawing/2014/main" id="{136A620E-32D5-F604-3325-BD5D5C5AD457}"/>
              </a:ext>
            </a:extLst>
          </p:cNvPr>
          <p:cNvSpPr/>
          <p:nvPr/>
        </p:nvSpPr>
        <p:spPr>
          <a:xfrm>
            <a:off x="4511040" y="1682496"/>
            <a:ext cx="3413760" cy="2438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Community + policy level</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2" name="Shape 18">
            <a:extLst>
              <a:ext uri="{FF2B5EF4-FFF2-40B4-BE49-F238E27FC236}">
                <a16:creationId xmlns:a16="http://schemas.microsoft.com/office/drawing/2014/main" id="{C0466F09-5925-EAF9-AE8F-951034C44C4D}"/>
              </a:ext>
            </a:extLst>
          </p:cNvPr>
          <p:cNvSpPr/>
          <p:nvPr/>
        </p:nvSpPr>
        <p:spPr>
          <a:xfrm>
            <a:off x="4572000" y="2218944"/>
            <a:ext cx="146304" cy="146304"/>
          </a:xfrm>
          <a:prstGeom prst="ellipse">
            <a:avLst/>
          </a:prstGeom>
          <a:solidFill>
            <a:srgbClr val="BA7517"/>
          </a:solidFill>
          <a:ln w="12700">
            <a:solidFill>
              <a:srgbClr val="BA7517"/>
            </a:solidFill>
            <a:prstDash val="solid"/>
          </a:ln>
        </p:spPr>
      </p:sp>
      <p:sp>
        <p:nvSpPr>
          <p:cNvPr id="44" name="Text 19">
            <a:extLst>
              <a:ext uri="{FF2B5EF4-FFF2-40B4-BE49-F238E27FC236}">
                <a16:creationId xmlns:a16="http://schemas.microsoft.com/office/drawing/2014/main" id="{33196BC6-A0FB-3D55-6CFD-34C0AE341113}"/>
              </a:ext>
            </a:extLst>
          </p:cNvPr>
          <p:cNvSpPr/>
          <p:nvPr/>
        </p:nvSpPr>
        <p:spPr>
          <a:xfrm>
            <a:off x="4815840" y="2182368"/>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Income / poverty rate</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ABDF2AAD-89BB-130B-F3E3-0EA015B64854}"/>
              </a:ext>
            </a:extLst>
          </p:cNvPr>
          <p:cNvSpPr/>
          <p:nvPr/>
        </p:nvSpPr>
        <p:spPr>
          <a:xfrm>
            <a:off x="4572000" y="3145536"/>
            <a:ext cx="146304" cy="146304"/>
          </a:xfrm>
          <a:prstGeom prst="ellipse">
            <a:avLst/>
          </a:prstGeom>
          <a:solidFill>
            <a:srgbClr val="BA7517"/>
          </a:solidFill>
          <a:ln w="12700">
            <a:solidFill>
              <a:srgbClr val="BA7517"/>
            </a:solidFill>
            <a:prstDash val="solid"/>
          </a:ln>
        </p:spPr>
      </p:sp>
      <p:sp>
        <p:nvSpPr>
          <p:cNvPr id="48" name="Text 21">
            <a:extLst>
              <a:ext uri="{FF2B5EF4-FFF2-40B4-BE49-F238E27FC236}">
                <a16:creationId xmlns:a16="http://schemas.microsoft.com/office/drawing/2014/main" id="{501CA59A-D74A-6769-A426-EA033642F518}"/>
              </a:ext>
            </a:extLst>
          </p:cNvPr>
          <p:cNvSpPr/>
          <p:nvPr/>
        </p:nvSpPr>
        <p:spPr>
          <a:xfrm>
            <a:off x="4815840" y="3108960"/>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Education level</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50" name="Shape 22">
            <a:extLst>
              <a:ext uri="{FF2B5EF4-FFF2-40B4-BE49-F238E27FC236}">
                <a16:creationId xmlns:a16="http://schemas.microsoft.com/office/drawing/2014/main" id="{48EEBD19-C494-99D1-ACDD-BB297F27387C}"/>
              </a:ext>
            </a:extLst>
          </p:cNvPr>
          <p:cNvSpPr/>
          <p:nvPr/>
        </p:nvSpPr>
        <p:spPr>
          <a:xfrm>
            <a:off x="4572000" y="4072128"/>
            <a:ext cx="146304" cy="146304"/>
          </a:xfrm>
          <a:prstGeom prst="ellipse">
            <a:avLst/>
          </a:prstGeom>
          <a:solidFill>
            <a:srgbClr val="BA7517"/>
          </a:solidFill>
          <a:ln w="12700">
            <a:solidFill>
              <a:srgbClr val="BA7517"/>
            </a:solidFill>
            <a:prstDash val="solid"/>
          </a:ln>
        </p:spPr>
      </p:sp>
      <p:sp>
        <p:nvSpPr>
          <p:cNvPr id="52" name="Text 23">
            <a:extLst>
              <a:ext uri="{FF2B5EF4-FFF2-40B4-BE49-F238E27FC236}">
                <a16:creationId xmlns:a16="http://schemas.microsoft.com/office/drawing/2014/main" id="{392BC89D-517C-63BC-0189-85A21C7BA45A}"/>
              </a:ext>
            </a:extLst>
          </p:cNvPr>
          <p:cNvSpPr/>
          <p:nvPr/>
        </p:nvSpPr>
        <p:spPr>
          <a:xfrm>
            <a:off x="4815840" y="4035552"/>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Housing quality</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54" name="Shape 24">
            <a:extLst>
              <a:ext uri="{FF2B5EF4-FFF2-40B4-BE49-F238E27FC236}">
                <a16:creationId xmlns:a16="http://schemas.microsoft.com/office/drawing/2014/main" id="{1029230F-5119-F1FA-19E3-10278779F8DC}"/>
              </a:ext>
            </a:extLst>
          </p:cNvPr>
          <p:cNvSpPr/>
          <p:nvPr/>
        </p:nvSpPr>
        <p:spPr>
          <a:xfrm>
            <a:off x="4572000" y="4998720"/>
            <a:ext cx="146304" cy="146304"/>
          </a:xfrm>
          <a:prstGeom prst="ellipse">
            <a:avLst/>
          </a:prstGeom>
          <a:solidFill>
            <a:srgbClr val="BA7517"/>
          </a:solidFill>
          <a:ln w="12700">
            <a:solidFill>
              <a:srgbClr val="BA7517"/>
            </a:solidFill>
            <a:prstDash val="solid"/>
          </a:ln>
        </p:spPr>
      </p:sp>
      <p:sp>
        <p:nvSpPr>
          <p:cNvPr id="56" name="Text 25">
            <a:extLst>
              <a:ext uri="{FF2B5EF4-FFF2-40B4-BE49-F238E27FC236}">
                <a16:creationId xmlns:a16="http://schemas.microsoft.com/office/drawing/2014/main" id="{90697698-5B85-3BDB-05EE-4147FB24E858}"/>
              </a:ext>
            </a:extLst>
          </p:cNvPr>
          <p:cNvSpPr/>
          <p:nvPr/>
        </p:nvSpPr>
        <p:spPr>
          <a:xfrm>
            <a:off x="4815840" y="4962144"/>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Air quality index</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58" name="Shape 26">
            <a:extLst>
              <a:ext uri="{FF2B5EF4-FFF2-40B4-BE49-F238E27FC236}">
                <a16:creationId xmlns:a16="http://schemas.microsoft.com/office/drawing/2014/main" id="{D847626F-2CA2-65FD-18B4-7E780129A278}"/>
              </a:ext>
            </a:extLst>
          </p:cNvPr>
          <p:cNvSpPr/>
          <p:nvPr/>
        </p:nvSpPr>
        <p:spPr>
          <a:xfrm>
            <a:off x="8290560" y="1280160"/>
            <a:ext cx="3657600" cy="5120640"/>
          </a:xfrm>
          <a:prstGeom prst="rect">
            <a:avLst/>
          </a:prstGeom>
          <a:solidFill>
            <a:srgbClr val="E6F1FB"/>
          </a:solidFill>
          <a:ln w="12700">
            <a:solidFill>
              <a:srgbClr val="185FA5"/>
            </a:solidFill>
            <a:prstDash val="solid"/>
          </a:ln>
        </p:spPr>
      </p:sp>
      <p:sp>
        <p:nvSpPr>
          <p:cNvPr id="60" name="Shape 27">
            <a:extLst>
              <a:ext uri="{FF2B5EF4-FFF2-40B4-BE49-F238E27FC236}">
                <a16:creationId xmlns:a16="http://schemas.microsoft.com/office/drawing/2014/main" id="{400F24FC-8F3C-0539-1AD0-D85D2CC91BAA}"/>
              </a:ext>
            </a:extLst>
          </p:cNvPr>
          <p:cNvSpPr/>
          <p:nvPr/>
        </p:nvSpPr>
        <p:spPr>
          <a:xfrm>
            <a:off x="8290560" y="1280160"/>
            <a:ext cx="3657600" cy="670560"/>
          </a:xfrm>
          <a:prstGeom prst="rect">
            <a:avLst/>
          </a:prstGeom>
          <a:solidFill>
            <a:srgbClr val="185FA5"/>
          </a:solidFill>
          <a:ln w="12700">
            <a:solidFill>
              <a:srgbClr val="185FA5"/>
            </a:solidFill>
            <a:prstDash val="solid"/>
          </a:ln>
        </p:spPr>
      </p:sp>
      <p:sp>
        <p:nvSpPr>
          <p:cNvPr id="62" name="Text 28">
            <a:extLst>
              <a:ext uri="{FF2B5EF4-FFF2-40B4-BE49-F238E27FC236}">
                <a16:creationId xmlns:a16="http://schemas.microsoft.com/office/drawing/2014/main" id="{ADEB2013-3480-E1EC-E0F3-7B428E932D3F}"/>
              </a:ext>
            </a:extLst>
          </p:cNvPr>
          <p:cNvSpPr/>
          <p:nvPr/>
        </p:nvSpPr>
        <p:spPr>
          <a:xfrm>
            <a:off x="8412480" y="1341120"/>
            <a:ext cx="341376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kern="0" spc="133" dirty="0">
                <a:solidFill>
                  <a:schemeClr val="tx1"/>
                </a:solidFill>
                <a:latin typeface="Times New Roman" panose="02020603050405020304" pitchFamily="18" charset="0"/>
                <a:ea typeface="Calibri" pitchFamily="34" charset="-122"/>
                <a:cs typeface="Times New Roman" panose="02020603050405020304" pitchFamily="18" charset="0"/>
              </a:rPr>
              <a:t>STRUCTURAL / DISTAL</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64" name="Text 29">
            <a:extLst>
              <a:ext uri="{FF2B5EF4-FFF2-40B4-BE49-F238E27FC236}">
                <a16:creationId xmlns:a16="http://schemas.microsoft.com/office/drawing/2014/main" id="{134C91BE-0BF1-2657-A1AA-EEBD8103B69D}"/>
              </a:ext>
            </a:extLst>
          </p:cNvPr>
          <p:cNvSpPr/>
          <p:nvPr/>
        </p:nvSpPr>
        <p:spPr>
          <a:xfrm>
            <a:off x="8412480" y="1682496"/>
            <a:ext cx="3413760" cy="2438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Policy + systems level</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66" name="Shape 30">
            <a:extLst>
              <a:ext uri="{FF2B5EF4-FFF2-40B4-BE49-F238E27FC236}">
                <a16:creationId xmlns:a16="http://schemas.microsoft.com/office/drawing/2014/main" id="{5ED02F1E-A8D9-2449-2B69-132F5EFD601D}"/>
              </a:ext>
            </a:extLst>
          </p:cNvPr>
          <p:cNvSpPr/>
          <p:nvPr/>
        </p:nvSpPr>
        <p:spPr>
          <a:xfrm>
            <a:off x="8473440" y="2218944"/>
            <a:ext cx="146304" cy="146304"/>
          </a:xfrm>
          <a:prstGeom prst="ellipse">
            <a:avLst/>
          </a:prstGeom>
          <a:solidFill>
            <a:srgbClr val="185FA5"/>
          </a:solidFill>
          <a:ln w="12700">
            <a:solidFill>
              <a:srgbClr val="185FA5"/>
            </a:solidFill>
            <a:prstDash val="solid"/>
          </a:ln>
        </p:spPr>
      </p:sp>
      <p:sp>
        <p:nvSpPr>
          <p:cNvPr id="68" name="Text 31">
            <a:extLst>
              <a:ext uri="{FF2B5EF4-FFF2-40B4-BE49-F238E27FC236}">
                <a16:creationId xmlns:a16="http://schemas.microsoft.com/office/drawing/2014/main" id="{AEE0D2B0-93D7-365F-4B18-7DF92587F45E}"/>
              </a:ext>
            </a:extLst>
          </p:cNvPr>
          <p:cNvSpPr/>
          <p:nvPr/>
        </p:nvSpPr>
        <p:spPr>
          <a:xfrm>
            <a:off x="8717280" y="2182368"/>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Racial/ethnic segregation</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70" name="Shape 32">
            <a:extLst>
              <a:ext uri="{FF2B5EF4-FFF2-40B4-BE49-F238E27FC236}">
                <a16:creationId xmlns:a16="http://schemas.microsoft.com/office/drawing/2014/main" id="{6E5C6700-FEEB-1A81-E577-082325095C90}"/>
              </a:ext>
            </a:extLst>
          </p:cNvPr>
          <p:cNvSpPr/>
          <p:nvPr/>
        </p:nvSpPr>
        <p:spPr>
          <a:xfrm>
            <a:off x="8473440" y="3145536"/>
            <a:ext cx="146304" cy="146304"/>
          </a:xfrm>
          <a:prstGeom prst="ellipse">
            <a:avLst/>
          </a:prstGeom>
          <a:solidFill>
            <a:srgbClr val="185FA5"/>
          </a:solidFill>
          <a:ln w="12700">
            <a:solidFill>
              <a:srgbClr val="185FA5"/>
            </a:solidFill>
            <a:prstDash val="solid"/>
          </a:ln>
        </p:spPr>
      </p:sp>
      <p:sp>
        <p:nvSpPr>
          <p:cNvPr id="72" name="Text 33">
            <a:extLst>
              <a:ext uri="{FF2B5EF4-FFF2-40B4-BE49-F238E27FC236}">
                <a16:creationId xmlns:a16="http://schemas.microsoft.com/office/drawing/2014/main" id="{72442391-D31C-75C5-AAB0-4703CB8D15EB}"/>
              </a:ext>
            </a:extLst>
          </p:cNvPr>
          <p:cNvSpPr/>
          <p:nvPr/>
        </p:nvSpPr>
        <p:spPr>
          <a:xfrm>
            <a:off x="8717280" y="3108960"/>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Urban/rural design</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74" name="Shape 34">
            <a:extLst>
              <a:ext uri="{FF2B5EF4-FFF2-40B4-BE49-F238E27FC236}">
                <a16:creationId xmlns:a16="http://schemas.microsoft.com/office/drawing/2014/main" id="{7F51396A-9791-968B-3FE8-E452B7FAAF69}"/>
              </a:ext>
            </a:extLst>
          </p:cNvPr>
          <p:cNvSpPr/>
          <p:nvPr/>
        </p:nvSpPr>
        <p:spPr>
          <a:xfrm>
            <a:off x="8473440" y="4072128"/>
            <a:ext cx="146304" cy="146304"/>
          </a:xfrm>
          <a:prstGeom prst="ellipse">
            <a:avLst/>
          </a:prstGeom>
          <a:solidFill>
            <a:srgbClr val="185FA5"/>
          </a:solidFill>
          <a:ln w="12700">
            <a:solidFill>
              <a:srgbClr val="185FA5"/>
            </a:solidFill>
            <a:prstDash val="solid"/>
          </a:ln>
        </p:spPr>
      </p:sp>
      <p:sp>
        <p:nvSpPr>
          <p:cNvPr id="76" name="Text 35">
            <a:extLst>
              <a:ext uri="{FF2B5EF4-FFF2-40B4-BE49-F238E27FC236}">
                <a16:creationId xmlns:a16="http://schemas.microsoft.com/office/drawing/2014/main" id="{1B552DD1-7D7D-1AAF-52A3-E44899EBA28F}"/>
              </a:ext>
            </a:extLst>
          </p:cNvPr>
          <p:cNvSpPr/>
          <p:nvPr/>
        </p:nvSpPr>
        <p:spPr>
          <a:xfrm>
            <a:off x="8717280" y="4035552"/>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Social support networks</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78" name="Shape 36">
            <a:extLst>
              <a:ext uri="{FF2B5EF4-FFF2-40B4-BE49-F238E27FC236}">
                <a16:creationId xmlns:a16="http://schemas.microsoft.com/office/drawing/2014/main" id="{A0474EEF-3F3E-388E-F692-42B5D5C0E047}"/>
              </a:ext>
            </a:extLst>
          </p:cNvPr>
          <p:cNvSpPr/>
          <p:nvPr/>
        </p:nvSpPr>
        <p:spPr>
          <a:xfrm>
            <a:off x="8473440" y="4998720"/>
            <a:ext cx="146304" cy="146304"/>
          </a:xfrm>
          <a:prstGeom prst="ellipse">
            <a:avLst/>
          </a:prstGeom>
          <a:solidFill>
            <a:srgbClr val="185FA5"/>
          </a:solidFill>
          <a:ln w="12700">
            <a:solidFill>
              <a:srgbClr val="185FA5"/>
            </a:solidFill>
            <a:prstDash val="solid"/>
          </a:ln>
        </p:spPr>
      </p:sp>
      <p:sp>
        <p:nvSpPr>
          <p:cNvPr id="80" name="Text 37">
            <a:extLst>
              <a:ext uri="{FF2B5EF4-FFF2-40B4-BE49-F238E27FC236}">
                <a16:creationId xmlns:a16="http://schemas.microsoft.com/office/drawing/2014/main" id="{8D7E4125-624A-CC38-8B95-7D2B7638599E}"/>
              </a:ext>
            </a:extLst>
          </p:cNvPr>
          <p:cNvSpPr/>
          <p:nvPr/>
        </p:nvSpPr>
        <p:spPr>
          <a:xfrm>
            <a:off x="8717280" y="4962144"/>
            <a:ext cx="3108960"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chemeClr val="tx1"/>
                </a:solidFill>
                <a:latin typeface="Times New Roman" panose="02020603050405020304" pitchFamily="18" charset="0"/>
                <a:ea typeface="Calibri" pitchFamily="34" charset="-122"/>
                <a:cs typeface="Times New Roman" panose="02020603050405020304" pitchFamily="18" charset="0"/>
              </a:rPr>
              <a:t>Employment conditions</a:t>
            </a: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0784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 1">
            <a:extLst>
              <a:ext uri="{FF2B5EF4-FFF2-40B4-BE49-F238E27FC236}">
                <a16:creationId xmlns:a16="http://schemas.microsoft.com/office/drawing/2014/main" id="{D66FFD26-F8A8-E7FD-6C1E-1402370DA4A8}"/>
              </a:ext>
            </a:extLst>
          </p:cNvPr>
          <p:cNvSpPr/>
          <p:nvPr/>
        </p:nvSpPr>
        <p:spPr>
          <a:xfrm>
            <a:off x="487680" y="969264"/>
            <a:ext cx="11216640"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Pennsylvania 2024 · Chronic Kidney Disease epidemiologic framework</a:t>
            </a:r>
            <a:endParaRPr lang="en-US" sz="1800" dirty="0">
              <a:latin typeface="Times New Roman" panose="02020603050405020304" pitchFamily="18" charset="0"/>
              <a:cs typeface="Times New Roman" panose="02020603050405020304" pitchFamily="18" charset="0"/>
            </a:endParaRPr>
          </a:p>
        </p:txBody>
      </p:sp>
      <p:sp>
        <p:nvSpPr>
          <p:cNvPr id="86" name="Shape 2">
            <a:extLst>
              <a:ext uri="{FF2B5EF4-FFF2-40B4-BE49-F238E27FC236}">
                <a16:creationId xmlns:a16="http://schemas.microsoft.com/office/drawing/2014/main" id="{5B540D41-904E-3D9F-33D5-A12472E03789}"/>
              </a:ext>
            </a:extLst>
          </p:cNvPr>
          <p:cNvSpPr/>
          <p:nvPr/>
        </p:nvSpPr>
        <p:spPr>
          <a:xfrm>
            <a:off x="487680" y="1402080"/>
            <a:ext cx="2682240" cy="2194560"/>
          </a:xfrm>
          <a:prstGeom prst="rect">
            <a:avLst/>
          </a:prstGeom>
          <a:solidFill>
            <a:srgbClr val="FFFFFF"/>
          </a:solidFill>
          <a:ln w="12700">
            <a:solidFill>
              <a:srgbClr val="D3D1C7"/>
            </a:solidFill>
            <a:prstDash val="solid"/>
          </a:ln>
          <a:effectLst>
            <a:outerShdw blurRad="76200" dist="25400" dir="8100000" algn="bl" rotWithShape="0">
              <a:srgbClr val="000000">
                <a:alpha val="7000"/>
              </a:srgbClr>
            </a:outerShdw>
          </a:effectLst>
        </p:spPr>
      </p:sp>
      <p:sp>
        <p:nvSpPr>
          <p:cNvPr id="88" name="Shape 3">
            <a:extLst>
              <a:ext uri="{FF2B5EF4-FFF2-40B4-BE49-F238E27FC236}">
                <a16:creationId xmlns:a16="http://schemas.microsoft.com/office/drawing/2014/main" id="{4875A59A-4C16-8A2D-3536-4ED52DB5345A}"/>
              </a:ext>
            </a:extLst>
          </p:cNvPr>
          <p:cNvSpPr/>
          <p:nvPr/>
        </p:nvSpPr>
        <p:spPr>
          <a:xfrm>
            <a:off x="487680" y="1402080"/>
            <a:ext cx="2682240" cy="146304"/>
          </a:xfrm>
          <a:prstGeom prst="rect">
            <a:avLst/>
          </a:prstGeom>
          <a:solidFill>
            <a:srgbClr val="378ADD"/>
          </a:solidFill>
          <a:ln w="12700">
            <a:solidFill>
              <a:srgbClr val="378ADD"/>
            </a:solidFill>
            <a:prstDash val="solid"/>
          </a:ln>
        </p:spPr>
      </p:sp>
      <p:sp>
        <p:nvSpPr>
          <p:cNvPr id="90" name="Text 4">
            <a:extLst>
              <a:ext uri="{FF2B5EF4-FFF2-40B4-BE49-F238E27FC236}">
                <a16:creationId xmlns:a16="http://schemas.microsoft.com/office/drawing/2014/main" id="{C7520100-0035-194E-5057-0410DB8D7F02}"/>
              </a:ext>
            </a:extLst>
          </p:cNvPr>
          <p:cNvSpPr/>
          <p:nvPr/>
        </p:nvSpPr>
        <p:spPr>
          <a:xfrm>
            <a:off x="633984" y="1584960"/>
            <a:ext cx="2389632"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Pennsylvania</a:t>
            </a:r>
            <a:endParaRPr lang="en-US" sz="1800" dirty="0">
              <a:latin typeface="Times New Roman" panose="02020603050405020304" pitchFamily="18" charset="0"/>
              <a:cs typeface="Times New Roman" panose="02020603050405020304" pitchFamily="18" charset="0"/>
            </a:endParaRPr>
          </a:p>
        </p:txBody>
      </p:sp>
      <p:sp>
        <p:nvSpPr>
          <p:cNvPr id="92" name="Text 5">
            <a:extLst>
              <a:ext uri="{FF2B5EF4-FFF2-40B4-BE49-F238E27FC236}">
                <a16:creationId xmlns:a16="http://schemas.microsoft.com/office/drawing/2014/main" id="{034262AF-0AEA-D330-4183-9C1814A77926}"/>
              </a:ext>
            </a:extLst>
          </p:cNvPr>
          <p:cNvSpPr/>
          <p:nvPr/>
        </p:nvSpPr>
        <p:spPr>
          <a:xfrm>
            <a:off x="633984" y="1975104"/>
            <a:ext cx="2389632" cy="6705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378ADD"/>
                </a:solidFill>
                <a:latin typeface="Times New Roman" panose="02020603050405020304" pitchFamily="18" charset="0"/>
                <a:ea typeface="Calibri" pitchFamily="34" charset="-122"/>
                <a:cs typeface="Times New Roman" panose="02020603050405020304" pitchFamily="18" charset="0"/>
              </a:rPr>
              <a:t>State avg</a:t>
            </a:r>
            <a:endParaRPr lang="en-US" sz="1800" dirty="0">
              <a:latin typeface="Times New Roman" panose="02020603050405020304" pitchFamily="18" charset="0"/>
              <a:cs typeface="Times New Roman" panose="02020603050405020304" pitchFamily="18" charset="0"/>
            </a:endParaRPr>
          </a:p>
        </p:txBody>
      </p:sp>
      <p:sp>
        <p:nvSpPr>
          <p:cNvPr id="94" name="Text 6">
            <a:extLst>
              <a:ext uri="{FF2B5EF4-FFF2-40B4-BE49-F238E27FC236}">
                <a16:creationId xmlns:a16="http://schemas.microsoft.com/office/drawing/2014/main" id="{5750B88D-E73E-7275-CF74-2C185E72F6C1}"/>
              </a:ext>
            </a:extLst>
          </p:cNvPr>
          <p:cNvSpPr/>
          <p:nvPr/>
        </p:nvSpPr>
        <p:spPr>
          <a:xfrm>
            <a:off x="633984" y="2657856"/>
            <a:ext cx="2389632"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Baseline reference</a:t>
            </a:r>
            <a:endParaRPr lang="en-US" sz="1800" dirty="0">
              <a:latin typeface="Times New Roman" panose="02020603050405020304" pitchFamily="18" charset="0"/>
              <a:cs typeface="Times New Roman" panose="02020603050405020304" pitchFamily="18" charset="0"/>
            </a:endParaRPr>
          </a:p>
        </p:txBody>
      </p:sp>
      <p:sp>
        <p:nvSpPr>
          <p:cNvPr id="96" name="Shape 7">
            <a:extLst>
              <a:ext uri="{FF2B5EF4-FFF2-40B4-BE49-F238E27FC236}">
                <a16:creationId xmlns:a16="http://schemas.microsoft.com/office/drawing/2014/main" id="{6D3576D3-7D09-A517-93E8-976A11030489}"/>
              </a:ext>
            </a:extLst>
          </p:cNvPr>
          <p:cNvSpPr/>
          <p:nvPr/>
        </p:nvSpPr>
        <p:spPr>
          <a:xfrm>
            <a:off x="3291840" y="1402080"/>
            <a:ext cx="2682240" cy="2194560"/>
          </a:xfrm>
          <a:prstGeom prst="rect">
            <a:avLst/>
          </a:prstGeom>
          <a:solidFill>
            <a:srgbClr val="FFFFFF"/>
          </a:solidFill>
          <a:ln w="12700">
            <a:solidFill>
              <a:srgbClr val="D3D1C7"/>
            </a:solidFill>
            <a:prstDash val="solid"/>
          </a:ln>
          <a:effectLst>
            <a:outerShdw blurRad="76200" dist="25400" dir="8100000" algn="bl" rotWithShape="0">
              <a:srgbClr val="000000">
                <a:alpha val="7000"/>
              </a:srgbClr>
            </a:outerShdw>
          </a:effectLst>
        </p:spPr>
      </p:sp>
      <p:sp>
        <p:nvSpPr>
          <p:cNvPr id="98" name="Shape 8">
            <a:extLst>
              <a:ext uri="{FF2B5EF4-FFF2-40B4-BE49-F238E27FC236}">
                <a16:creationId xmlns:a16="http://schemas.microsoft.com/office/drawing/2014/main" id="{089EE764-A7C1-F8D7-E247-7F9F8F24A3E0}"/>
              </a:ext>
            </a:extLst>
          </p:cNvPr>
          <p:cNvSpPr/>
          <p:nvPr/>
        </p:nvSpPr>
        <p:spPr>
          <a:xfrm>
            <a:off x="3291840" y="1402080"/>
            <a:ext cx="2682240" cy="146304"/>
          </a:xfrm>
          <a:prstGeom prst="rect">
            <a:avLst/>
          </a:prstGeom>
          <a:solidFill>
            <a:srgbClr val="185FA5"/>
          </a:solidFill>
          <a:ln w="12700">
            <a:solidFill>
              <a:srgbClr val="185FA5"/>
            </a:solidFill>
            <a:prstDash val="solid"/>
          </a:ln>
        </p:spPr>
      </p:sp>
      <p:sp>
        <p:nvSpPr>
          <p:cNvPr id="100" name="Text 9">
            <a:extLst>
              <a:ext uri="{FF2B5EF4-FFF2-40B4-BE49-F238E27FC236}">
                <a16:creationId xmlns:a16="http://schemas.microsoft.com/office/drawing/2014/main" id="{0F65E48B-D003-6351-4A07-6F84170D69FF}"/>
              </a:ext>
            </a:extLst>
          </p:cNvPr>
          <p:cNvSpPr/>
          <p:nvPr/>
        </p:nvSpPr>
        <p:spPr>
          <a:xfrm>
            <a:off x="3438144" y="1584960"/>
            <a:ext cx="2389632"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Chester County</a:t>
            </a:r>
            <a:endParaRPr lang="en-US" sz="1800" dirty="0">
              <a:latin typeface="Times New Roman" panose="02020603050405020304" pitchFamily="18" charset="0"/>
              <a:cs typeface="Times New Roman" panose="02020603050405020304" pitchFamily="18" charset="0"/>
            </a:endParaRPr>
          </a:p>
        </p:txBody>
      </p:sp>
      <p:sp>
        <p:nvSpPr>
          <p:cNvPr id="102" name="Text 10">
            <a:extLst>
              <a:ext uri="{FF2B5EF4-FFF2-40B4-BE49-F238E27FC236}">
                <a16:creationId xmlns:a16="http://schemas.microsoft.com/office/drawing/2014/main" id="{2ECC3F50-0BBF-6C40-6D9D-BE98B3722216}"/>
              </a:ext>
            </a:extLst>
          </p:cNvPr>
          <p:cNvSpPr/>
          <p:nvPr/>
        </p:nvSpPr>
        <p:spPr>
          <a:xfrm>
            <a:off x="3438144" y="1975104"/>
            <a:ext cx="2389632" cy="6705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185FA5"/>
                </a:solidFill>
                <a:latin typeface="Times New Roman" panose="02020603050405020304" pitchFamily="18" charset="0"/>
                <a:ea typeface="Calibri" pitchFamily="34" charset="-122"/>
                <a:cs typeface="Times New Roman" panose="02020603050405020304" pitchFamily="18" charset="0"/>
              </a:rPr>
              <a:t>Rank #1</a:t>
            </a:r>
            <a:endParaRPr lang="en-US" sz="1800" dirty="0">
              <a:latin typeface="Times New Roman" panose="02020603050405020304" pitchFamily="18" charset="0"/>
              <a:cs typeface="Times New Roman" panose="02020603050405020304" pitchFamily="18" charset="0"/>
            </a:endParaRPr>
          </a:p>
        </p:txBody>
      </p:sp>
      <p:sp>
        <p:nvSpPr>
          <p:cNvPr id="104" name="Text 11">
            <a:extLst>
              <a:ext uri="{FF2B5EF4-FFF2-40B4-BE49-F238E27FC236}">
                <a16:creationId xmlns:a16="http://schemas.microsoft.com/office/drawing/2014/main" id="{320A810A-C320-678B-BCAE-542A36A2CF60}"/>
              </a:ext>
            </a:extLst>
          </p:cNvPr>
          <p:cNvSpPr/>
          <p:nvPr/>
        </p:nvSpPr>
        <p:spPr>
          <a:xfrm>
            <a:off x="3438144" y="2657856"/>
            <a:ext cx="2389632"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Top performer</a:t>
            </a:r>
            <a:endParaRPr lang="en-US" sz="1800" dirty="0">
              <a:latin typeface="Times New Roman" panose="02020603050405020304" pitchFamily="18" charset="0"/>
              <a:cs typeface="Times New Roman" panose="02020603050405020304" pitchFamily="18" charset="0"/>
            </a:endParaRPr>
          </a:p>
        </p:txBody>
      </p:sp>
      <p:sp>
        <p:nvSpPr>
          <p:cNvPr id="106" name="Shape 12">
            <a:extLst>
              <a:ext uri="{FF2B5EF4-FFF2-40B4-BE49-F238E27FC236}">
                <a16:creationId xmlns:a16="http://schemas.microsoft.com/office/drawing/2014/main" id="{1E17C4BA-0595-3DF1-C301-A8DD60630F30}"/>
              </a:ext>
            </a:extLst>
          </p:cNvPr>
          <p:cNvSpPr/>
          <p:nvPr/>
        </p:nvSpPr>
        <p:spPr>
          <a:xfrm>
            <a:off x="6096000" y="1402080"/>
            <a:ext cx="2682240" cy="2194560"/>
          </a:xfrm>
          <a:prstGeom prst="rect">
            <a:avLst/>
          </a:prstGeom>
          <a:solidFill>
            <a:srgbClr val="FFFFFF"/>
          </a:solidFill>
          <a:ln w="12700">
            <a:solidFill>
              <a:srgbClr val="D3D1C7"/>
            </a:solidFill>
            <a:prstDash val="solid"/>
          </a:ln>
          <a:effectLst>
            <a:outerShdw blurRad="76200" dist="25400" dir="8100000" algn="bl" rotWithShape="0">
              <a:srgbClr val="000000">
                <a:alpha val="7000"/>
              </a:srgbClr>
            </a:outerShdw>
          </a:effectLst>
        </p:spPr>
      </p:sp>
      <p:sp>
        <p:nvSpPr>
          <p:cNvPr id="108" name="Shape 13">
            <a:extLst>
              <a:ext uri="{FF2B5EF4-FFF2-40B4-BE49-F238E27FC236}">
                <a16:creationId xmlns:a16="http://schemas.microsoft.com/office/drawing/2014/main" id="{691BFBF5-E57E-E0BB-7965-5EE590E208CF}"/>
              </a:ext>
            </a:extLst>
          </p:cNvPr>
          <p:cNvSpPr/>
          <p:nvPr/>
        </p:nvSpPr>
        <p:spPr>
          <a:xfrm>
            <a:off x="6096000" y="1402080"/>
            <a:ext cx="2682240" cy="146304"/>
          </a:xfrm>
          <a:prstGeom prst="rect">
            <a:avLst/>
          </a:prstGeom>
          <a:solidFill>
            <a:srgbClr val="E24B4A"/>
          </a:solidFill>
          <a:ln w="12700">
            <a:solidFill>
              <a:srgbClr val="E24B4A"/>
            </a:solidFill>
            <a:prstDash val="solid"/>
          </a:ln>
        </p:spPr>
      </p:sp>
      <p:sp>
        <p:nvSpPr>
          <p:cNvPr id="110" name="Text 14">
            <a:extLst>
              <a:ext uri="{FF2B5EF4-FFF2-40B4-BE49-F238E27FC236}">
                <a16:creationId xmlns:a16="http://schemas.microsoft.com/office/drawing/2014/main" id="{17B81710-450D-22D1-68BB-BE2B4A62DFEB}"/>
              </a:ext>
            </a:extLst>
          </p:cNvPr>
          <p:cNvSpPr/>
          <p:nvPr/>
        </p:nvSpPr>
        <p:spPr>
          <a:xfrm>
            <a:off x="6242304" y="1584960"/>
            <a:ext cx="2389632"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Philadelphia</a:t>
            </a:r>
            <a:endParaRPr lang="en-US" sz="1800" dirty="0">
              <a:latin typeface="Times New Roman" panose="02020603050405020304" pitchFamily="18" charset="0"/>
              <a:cs typeface="Times New Roman" panose="02020603050405020304" pitchFamily="18" charset="0"/>
            </a:endParaRPr>
          </a:p>
        </p:txBody>
      </p:sp>
      <p:sp>
        <p:nvSpPr>
          <p:cNvPr id="112" name="Text 15">
            <a:extLst>
              <a:ext uri="{FF2B5EF4-FFF2-40B4-BE49-F238E27FC236}">
                <a16:creationId xmlns:a16="http://schemas.microsoft.com/office/drawing/2014/main" id="{FACB69CD-5F8A-78C7-B50E-91F1933DE53B}"/>
              </a:ext>
            </a:extLst>
          </p:cNvPr>
          <p:cNvSpPr/>
          <p:nvPr/>
        </p:nvSpPr>
        <p:spPr>
          <a:xfrm>
            <a:off x="6242304" y="1975104"/>
            <a:ext cx="2389632" cy="6705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E24B4A"/>
                </a:solidFill>
                <a:latin typeface="Times New Roman" panose="02020603050405020304" pitchFamily="18" charset="0"/>
                <a:ea typeface="Calibri" pitchFamily="34" charset="-122"/>
                <a:cs typeface="Times New Roman" panose="02020603050405020304" pitchFamily="18" charset="0"/>
              </a:rPr>
              <a:t>Rank #67</a:t>
            </a:r>
            <a:endParaRPr lang="en-US" sz="1800" dirty="0">
              <a:latin typeface="Times New Roman" panose="02020603050405020304" pitchFamily="18" charset="0"/>
              <a:cs typeface="Times New Roman" panose="02020603050405020304" pitchFamily="18" charset="0"/>
            </a:endParaRPr>
          </a:p>
        </p:txBody>
      </p:sp>
      <p:sp>
        <p:nvSpPr>
          <p:cNvPr id="114" name="Text 16">
            <a:extLst>
              <a:ext uri="{FF2B5EF4-FFF2-40B4-BE49-F238E27FC236}">
                <a16:creationId xmlns:a16="http://schemas.microsoft.com/office/drawing/2014/main" id="{330FC0E6-0A23-5ABD-1685-D0A915028D3D}"/>
              </a:ext>
            </a:extLst>
          </p:cNvPr>
          <p:cNvSpPr/>
          <p:nvPr/>
        </p:nvSpPr>
        <p:spPr>
          <a:xfrm>
            <a:off x="6242304" y="2657856"/>
            <a:ext cx="2389632"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Lowest ranked</a:t>
            </a:r>
            <a:endParaRPr lang="en-US" sz="1800" dirty="0">
              <a:latin typeface="Times New Roman" panose="02020603050405020304" pitchFamily="18" charset="0"/>
              <a:cs typeface="Times New Roman" panose="02020603050405020304" pitchFamily="18" charset="0"/>
            </a:endParaRPr>
          </a:p>
        </p:txBody>
      </p:sp>
      <p:sp>
        <p:nvSpPr>
          <p:cNvPr id="116" name="Shape 17">
            <a:extLst>
              <a:ext uri="{FF2B5EF4-FFF2-40B4-BE49-F238E27FC236}">
                <a16:creationId xmlns:a16="http://schemas.microsoft.com/office/drawing/2014/main" id="{4D385666-DBE3-DD33-A494-318FE07D70EF}"/>
              </a:ext>
            </a:extLst>
          </p:cNvPr>
          <p:cNvSpPr/>
          <p:nvPr/>
        </p:nvSpPr>
        <p:spPr>
          <a:xfrm>
            <a:off x="8900160" y="1402080"/>
            <a:ext cx="2682240" cy="2194560"/>
          </a:xfrm>
          <a:prstGeom prst="rect">
            <a:avLst/>
          </a:prstGeom>
          <a:solidFill>
            <a:srgbClr val="FFFFFF"/>
          </a:solidFill>
          <a:ln w="12700">
            <a:solidFill>
              <a:srgbClr val="D3D1C7"/>
            </a:solidFill>
            <a:prstDash val="solid"/>
          </a:ln>
          <a:effectLst>
            <a:outerShdw blurRad="76200" dist="25400" dir="8100000" algn="bl" rotWithShape="0">
              <a:srgbClr val="000000">
                <a:alpha val="7000"/>
              </a:srgbClr>
            </a:outerShdw>
          </a:effectLst>
        </p:spPr>
      </p:sp>
      <p:sp>
        <p:nvSpPr>
          <p:cNvPr id="118" name="Shape 18">
            <a:extLst>
              <a:ext uri="{FF2B5EF4-FFF2-40B4-BE49-F238E27FC236}">
                <a16:creationId xmlns:a16="http://schemas.microsoft.com/office/drawing/2014/main" id="{E978C896-D260-1E89-37FF-AAE16F183C56}"/>
              </a:ext>
            </a:extLst>
          </p:cNvPr>
          <p:cNvSpPr/>
          <p:nvPr/>
        </p:nvSpPr>
        <p:spPr>
          <a:xfrm>
            <a:off x="8900160" y="1402080"/>
            <a:ext cx="2682240" cy="146304"/>
          </a:xfrm>
          <a:prstGeom prst="rect">
            <a:avLst/>
          </a:prstGeom>
          <a:solidFill>
            <a:srgbClr val="BA7517"/>
          </a:solidFill>
          <a:ln w="12700">
            <a:solidFill>
              <a:srgbClr val="BA7517"/>
            </a:solidFill>
            <a:prstDash val="solid"/>
          </a:ln>
        </p:spPr>
      </p:sp>
      <p:sp>
        <p:nvSpPr>
          <p:cNvPr id="120" name="Text 19">
            <a:extLst>
              <a:ext uri="{FF2B5EF4-FFF2-40B4-BE49-F238E27FC236}">
                <a16:creationId xmlns:a16="http://schemas.microsoft.com/office/drawing/2014/main" id="{1B9108F9-8775-0E63-20EF-45271B75F69D}"/>
              </a:ext>
            </a:extLst>
          </p:cNvPr>
          <p:cNvSpPr/>
          <p:nvPr/>
        </p:nvSpPr>
        <p:spPr>
          <a:xfrm>
            <a:off x="9046464" y="1584960"/>
            <a:ext cx="2389632"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Luzerne County</a:t>
            </a:r>
            <a:endParaRPr lang="en-US" sz="1800" dirty="0">
              <a:latin typeface="Times New Roman" panose="02020603050405020304" pitchFamily="18" charset="0"/>
              <a:cs typeface="Times New Roman" panose="02020603050405020304" pitchFamily="18" charset="0"/>
            </a:endParaRPr>
          </a:p>
        </p:txBody>
      </p:sp>
      <p:sp>
        <p:nvSpPr>
          <p:cNvPr id="122" name="Text 20">
            <a:extLst>
              <a:ext uri="{FF2B5EF4-FFF2-40B4-BE49-F238E27FC236}">
                <a16:creationId xmlns:a16="http://schemas.microsoft.com/office/drawing/2014/main" id="{6A8225E6-4CE2-456C-EFEC-F0C706579AD7}"/>
              </a:ext>
            </a:extLst>
          </p:cNvPr>
          <p:cNvSpPr/>
          <p:nvPr/>
        </p:nvSpPr>
        <p:spPr>
          <a:xfrm>
            <a:off x="9046464" y="1975104"/>
            <a:ext cx="2389632" cy="6705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BA7517"/>
                </a:solidFill>
                <a:latin typeface="Times New Roman" panose="02020603050405020304" pitchFamily="18" charset="0"/>
                <a:ea typeface="Calibri" pitchFamily="34" charset="-122"/>
                <a:cs typeface="Times New Roman" panose="02020603050405020304" pitchFamily="18" charset="0"/>
              </a:rPr>
              <a:t>Rank #50</a:t>
            </a:r>
            <a:endParaRPr lang="en-US" sz="1800" dirty="0">
              <a:latin typeface="Times New Roman" panose="02020603050405020304" pitchFamily="18" charset="0"/>
              <a:cs typeface="Times New Roman" panose="02020603050405020304" pitchFamily="18" charset="0"/>
            </a:endParaRPr>
          </a:p>
        </p:txBody>
      </p:sp>
      <p:sp>
        <p:nvSpPr>
          <p:cNvPr id="124" name="Text 21">
            <a:extLst>
              <a:ext uri="{FF2B5EF4-FFF2-40B4-BE49-F238E27FC236}">
                <a16:creationId xmlns:a16="http://schemas.microsoft.com/office/drawing/2014/main" id="{46155CC8-B271-C6A5-D7A1-65FE5D106556}"/>
              </a:ext>
            </a:extLst>
          </p:cNvPr>
          <p:cNvSpPr/>
          <p:nvPr/>
        </p:nvSpPr>
        <p:spPr>
          <a:xfrm>
            <a:off x="9046464" y="2657856"/>
            <a:ext cx="2389632"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888780"/>
                </a:solidFill>
                <a:latin typeface="Times New Roman" panose="02020603050405020304" pitchFamily="18" charset="0"/>
                <a:ea typeface="Calibri" pitchFamily="34" charset="-122"/>
                <a:cs typeface="Times New Roman" panose="02020603050405020304" pitchFamily="18" charset="0"/>
              </a:rPr>
              <a:t>Mid-range</a:t>
            </a:r>
            <a:endParaRPr lang="en-US" sz="1800" dirty="0">
              <a:latin typeface="Times New Roman" panose="02020603050405020304" pitchFamily="18" charset="0"/>
              <a:cs typeface="Times New Roman" panose="02020603050405020304" pitchFamily="18" charset="0"/>
            </a:endParaRPr>
          </a:p>
        </p:txBody>
      </p:sp>
      <p:sp>
        <p:nvSpPr>
          <p:cNvPr id="126" name="Shape 22">
            <a:extLst>
              <a:ext uri="{FF2B5EF4-FFF2-40B4-BE49-F238E27FC236}">
                <a16:creationId xmlns:a16="http://schemas.microsoft.com/office/drawing/2014/main" id="{EAFF1078-054C-0A17-A525-FB01BFDF5D71}"/>
              </a:ext>
            </a:extLst>
          </p:cNvPr>
          <p:cNvSpPr/>
          <p:nvPr/>
        </p:nvSpPr>
        <p:spPr>
          <a:xfrm>
            <a:off x="487680" y="3901440"/>
            <a:ext cx="3657600" cy="2255520"/>
          </a:xfrm>
          <a:prstGeom prst="rect">
            <a:avLst/>
          </a:prstGeom>
          <a:solidFill>
            <a:srgbClr val="E6F1FB"/>
          </a:solidFill>
          <a:ln w="12700">
            <a:solidFill>
              <a:srgbClr val="185FA5"/>
            </a:solidFill>
            <a:prstDash val="solid"/>
          </a:ln>
        </p:spPr>
      </p:sp>
      <p:sp>
        <p:nvSpPr>
          <p:cNvPr id="128" name="Shape 23">
            <a:extLst>
              <a:ext uri="{FF2B5EF4-FFF2-40B4-BE49-F238E27FC236}">
                <a16:creationId xmlns:a16="http://schemas.microsoft.com/office/drawing/2014/main" id="{A09423F3-9AC3-6B17-4EAB-3E6F787C1F8D}"/>
              </a:ext>
            </a:extLst>
          </p:cNvPr>
          <p:cNvSpPr/>
          <p:nvPr/>
        </p:nvSpPr>
        <p:spPr>
          <a:xfrm>
            <a:off x="487680" y="3901440"/>
            <a:ext cx="85344" cy="2255520"/>
          </a:xfrm>
          <a:prstGeom prst="rect">
            <a:avLst/>
          </a:prstGeom>
          <a:solidFill>
            <a:srgbClr val="185FA5"/>
          </a:solidFill>
          <a:ln w="12700">
            <a:solidFill>
              <a:srgbClr val="185FA5"/>
            </a:solidFill>
            <a:prstDash val="solid"/>
          </a:ln>
        </p:spPr>
      </p:sp>
      <p:sp>
        <p:nvSpPr>
          <p:cNvPr id="130" name="Text 24">
            <a:extLst>
              <a:ext uri="{FF2B5EF4-FFF2-40B4-BE49-F238E27FC236}">
                <a16:creationId xmlns:a16="http://schemas.microsoft.com/office/drawing/2014/main" id="{A68CE6C4-7B3E-9134-B4E8-0F5BADF46A1B}"/>
              </a:ext>
            </a:extLst>
          </p:cNvPr>
          <p:cNvSpPr/>
          <p:nvPr/>
        </p:nvSpPr>
        <p:spPr>
          <a:xfrm>
            <a:off x="707136" y="3998976"/>
            <a:ext cx="3291840"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185FA5"/>
                </a:solidFill>
                <a:latin typeface="Times New Roman" panose="02020603050405020304" pitchFamily="18" charset="0"/>
                <a:ea typeface="Calibri" pitchFamily="34" charset="-122"/>
                <a:cs typeface="Times New Roman" panose="02020603050405020304" pitchFamily="18" charset="0"/>
              </a:rPr>
              <a:t>Chester advantage</a:t>
            </a:r>
            <a:endParaRPr lang="en-US" sz="1800" dirty="0">
              <a:latin typeface="Times New Roman" panose="02020603050405020304" pitchFamily="18" charset="0"/>
              <a:cs typeface="Times New Roman" panose="02020603050405020304" pitchFamily="18" charset="0"/>
            </a:endParaRPr>
          </a:p>
        </p:txBody>
      </p:sp>
      <p:sp>
        <p:nvSpPr>
          <p:cNvPr id="132" name="Text 25">
            <a:extLst>
              <a:ext uri="{FF2B5EF4-FFF2-40B4-BE49-F238E27FC236}">
                <a16:creationId xmlns:a16="http://schemas.microsoft.com/office/drawing/2014/main" id="{14E3C88E-4A4A-9ABD-ADC9-B56AC62B8E39}"/>
              </a:ext>
            </a:extLst>
          </p:cNvPr>
          <p:cNvSpPr/>
          <p:nvPr/>
        </p:nvSpPr>
        <p:spPr>
          <a:xfrm>
            <a:off x="707136" y="4389120"/>
            <a:ext cx="3291840" cy="15849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444441"/>
                </a:solidFill>
                <a:latin typeface="Times New Roman" panose="02020603050405020304" pitchFamily="18" charset="0"/>
                <a:ea typeface="Calibri" pitchFamily="34" charset="-122"/>
                <a:cs typeface="Times New Roman" panose="02020603050405020304" pitchFamily="18" charset="0"/>
              </a:rPr>
              <a:t>Wealth, insurance access, and strong social determinants buffer CKD risk substantially.</a:t>
            </a:r>
            <a:endParaRPr lang="en-US" sz="1800" dirty="0">
              <a:latin typeface="Times New Roman" panose="02020603050405020304" pitchFamily="18" charset="0"/>
              <a:cs typeface="Times New Roman" panose="02020603050405020304" pitchFamily="18" charset="0"/>
            </a:endParaRPr>
          </a:p>
        </p:txBody>
      </p:sp>
      <p:sp>
        <p:nvSpPr>
          <p:cNvPr id="134" name="Shape 26">
            <a:extLst>
              <a:ext uri="{FF2B5EF4-FFF2-40B4-BE49-F238E27FC236}">
                <a16:creationId xmlns:a16="http://schemas.microsoft.com/office/drawing/2014/main" id="{0AE233AF-73E8-A16E-95BA-16569416769F}"/>
              </a:ext>
            </a:extLst>
          </p:cNvPr>
          <p:cNvSpPr/>
          <p:nvPr/>
        </p:nvSpPr>
        <p:spPr>
          <a:xfrm>
            <a:off x="4389120" y="3901440"/>
            <a:ext cx="3657600" cy="2255520"/>
          </a:xfrm>
          <a:prstGeom prst="rect">
            <a:avLst/>
          </a:prstGeom>
          <a:solidFill>
            <a:srgbClr val="FCEBEB"/>
          </a:solidFill>
          <a:ln w="12700">
            <a:solidFill>
              <a:srgbClr val="E24B4A"/>
            </a:solidFill>
            <a:prstDash val="solid"/>
          </a:ln>
        </p:spPr>
      </p:sp>
      <p:sp>
        <p:nvSpPr>
          <p:cNvPr id="136" name="Shape 27">
            <a:extLst>
              <a:ext uri="{FF2B5EF4-FFF2-40B4-BE49-F238E27FC236}">
                <a16:creationId xmlns:a16="http://schemas.microsoft.com/office/drawing/2014/main" id="{26CE0159-3D57-3F95-EA66-BBF7D77128F7}"/>
              </a:ext>
            </a:extLst>
          </p:cNvPr>
          <p:cNvSpPr/>
          <p:nvPr/>
        </p:nvSpPr>
        <p:spPr>
          <a:xfrm>
            <a:off x="4389120" y="3901440"/>
            <a:ext cx="85344" cy="2255520"/>
          </a:xfrm>
          <a:prstGeom prst="rect">
            <a:avLst/>
          </a:prstGeom>
          <a:solidFill>
            <a:srgbClr val="E24B4A"/>
          </a:solidFill>
          <a:ln w="12700">
            <a:solidFill>
              <a:srgbClr val="E24B4A"/>
            </a:solidFill>
            <a:prstDash val="solid"/>
          </a:ln>
        </p:spPr>
      </p:sp>
      <p:sp>
        <p:nvSpPr>
          <p:cNvPr id="138" name="Text 28">
            <a:extLst>
              <a:ext uri="{FF2B5EF4-FFF2-40B4-BE49-F238E27FC236}">
                <a16:creationId xmlns:a16="http://schemas.microsoft.com/office/drawing/2014/main" id="{1AD5E2AC-CD17-8912-7B47-F5DD005DD2D5}"/>
              </a:ext>
            </a:extLst>
          </p:cNvPr>
          <p:cNvSpPr/>
          <p:nvPr/>
        </p:nvSpPr>
        <p:spPr>
          <a:xfrm>
            <a:off x="4608576" y="3998976"/>
            <a:ext cx="3291840"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E24B4A"/>
                </a:solidFill>
                <a:latin typeface="Times New Roman" panose="02020603050405020304" pitchFamily="18" charset="0"/>
                <a:ea typeface="Calibri" pitchFamily="34" charset="-122"/>
                <a:cs typeface="Times New Roman" panose="02020603050405020304" pitchFamily="18" charset="0"/>
              </a:rPr>
              <a:t>Philadelphia burden</a:t>
            </a:r>
            <a:endParaRPr lang="en-US" sz="1800" dirty="0">
              <a:latin typeface="Times New Roman" panose="02020603050405020304" pitchFamily="18" charset="0"/>
              <a:cs typeface="Times New Roman" panose="02020603050405020304" pitchFamily="18" charset="0"/>
            </a:endParaRPr>
          </a:p>
        </p:txBody>
      </p:sp>
      <p:sp>
        <p:nvSpPr>
          <p:cNvPr id="140" name="Text 29">
            <a:extLst>
              <a:ext uri="{FF2B5EF4-FFF2-40B4-BE49-F238E27FC236}">
                <a16:creationId xmlns:a16="http://schemas.microsoft.com/office/drawing/2014/main" id="{8A11AA8D-713A-48F1-E6C7-020C89CD04C6}"/>
              </a:ext>
            </a:extLst>
          </p:cNvPr>
          <p:cNvSpPr/>
          <p:nvPr/>
        </p:nvSpPr>
        <p:spPr>
          <a:xfrm>
            <a:off x="4608576" y="4389120"/>
            <a:ext cx="3291840" cy="15849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444441"/>
                </a:solidFill>
                <a:latin typeface="Times New Roman" panose="02020603050405020304" pitchFamily="18" charset="0"/>
                <a:ea typeface="Calibri" pitchFamily="34" charset="-122"/>
                <a:cs typeface="Times New Roman" panose="02020603050405020304" pitchFamily="18" charset="0"/>
              </a:rPr>
              <a:t>Concentrated poverty, food insecurity, and uninsurance converge to maximize CKD exposure.</a:t>
            </a:r>
            <a:endParaRPr lang="en-US" sz="1800" dirty="0">
              <a:latin typeface="Times New Roman" panose="02020603050405020304" pitchFamily="18" charset="0"/>
              <a:cs typeface="Times New Roman" panose="02020603050405020304" pitchFamily="18" charset="0"/>
            </a:endParaRPr>
          </a:p>
        </p:txBody>
      </p:sp>
      <p:sp>
        <p:nvSpPr>
          <p:cNvPr id="142" name="Shape 30">
            <a:extLst>
              <a:ext uri="{FF2B5EF4-FFF2-40B4-BE49-F238E27FC236}">
                <a16:creationId xmlns:a16="http://schemas.microsoft.com/office/drawing/2014/main" id="{23D20E90-8530-F10A-0B53-25133276E87F}"/>
              </a:ext>
            </a:extLst>
          </p:cNvPr>
          <p:cNvSpPr/>
          <p:nvPr/>
        </p:nvSpPr>
        <p:spPr>
          <a:xfrm>
            <a:off x="8290560" y="3901440"/>
            <a:ext cx="3657600" cy="2255520"/>
          </a:xfrm>
          <a:prstGeom prst="rect">
            <a:avLst/>
          </a:prstGeom>
          <a:solidFill>
            <a:srgbClr val="FAEEDA"/>
          </a:solidFill>
          <a:ln w="12700">
            <a:solidFill>
              <a:srgbClr val="BA7517"/>
            </a:solidFill>
            <a:prstDash val="solid"/>
          </a:ln>
        </p:spPr>
      </p:sp>
      <p:sp>
        <p:nvSpPr>
          <p:cNvPr id="144" name="Shape 31">
            <a:extLst>
              <a:ext uri="{FF2B5EF4-FFF2-40B4-BE49-F238E27FC236}">
                <a16:creationId xmlns:a16="http://schemas.microsoft.com/office/drawing/2014/main" id="{CED9D8DD-D3B4-9FB6-4F65-EE2FCD0F1CCA}"/>
              </a:ext>
            </a:extLst>
          </p:cNvPr>
          <p:cNvSpPr/>
          <p:nvPr/>
        </p:nvSpPr>
        <p:spPr>
          <a:xfrm>
            <a:off x="8290560" y="3901440"/>
            <a:ext cx="85344" cy="2255520"/>
          </a:xfrm>
          <a:prstGeom prst="rect">
            <a:avLst/>
          </a:prstGeom>
          <a:solidFill>
            <a:srgbClr val="BA7517"/>
          </a:solidFill>
          <a:ln w="12700">
            <a:solidFill>
              <a:srgbClr val="BA7517"/>
            </a:solidFill>
            <a:prstDash val="solid"/>
          </a:ln>
        </p:spPr>
      </p:sp>
      <p:sp>
        <p:nvSpPr>
          <p:cNvPr id="146" name="Text 32">
            <a:extLst>
              <a:ext uri="{FF2B5EF4-FFF2-40B4-BE49-F238E27FC236}">
                <a16:creationId xmlns:a16="http://schemas.microsoft.com/office/drawing/2014/main" id="{D2B1E0A9-46E3-401B-DB8F-2B155AEA9D5A}"/>
              </a:ext>
            </a:extLst>
          </p:cNvPr>
          <p:cNvSpPr/>
          <p:nvPr/>
        </p:nvSpPr>
        <p:spPr>
          <a:xfrm>
            <a:off x="8510016" y="3998976"/>
            <a:ext cx="3291840"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b="1" dirty="0">
                <a:solidFill>
                  <a:srgbClr val="BA7517"/>
                </a:solidFill>
                <a:latin typeface="Times New Roman" panose="02020603050405020304" pitchFamily="18" charset="0"/>
                <a:ea typeface="Calibri" pitchFamily="34" charset="-122"/>
                <a:cs typeface="Times New Roman" panose="02020603050405020304" pitchFamily="18" charset="0"/>
              </a:rPr>
              <a:t>Luzerne profile</a:t>
            </a:r>
            <a:endParaRPr lang="en-US" sz="1800" dirty="0">
              <a:latin typeface="Times New Roman" panose="02020603050405020304" pitchFamily="18" charset="0"/>
              <a:cs typeface="Times New Roman" panose="02020603050405020304" pitchFamily="18" charset="0"/>
            </a:endParaRPr>
          </a:p>
        </p:txBody>
      </p:sp>
      <p:sp>
        <p:nvSpPr>
          <p:cNvPr id="148" name="Text 33">
            <a:extLst>
              <a:ext uri="{FF2B5EF4-FFF2-40B4-BE49-F238E27FC236}">
                <a16:creationId xmlns:a16="http://schemas.microsoft.com/office/drawing/2014/main" id="{0FA9CB8A-2CAF-13B0-6C03-08F1CCA5EE2E}"/>
              </a:ext>
            </a:extLst>
          </p:cNvPr>
          <p:cNvSpPr/>
          <p:nvPr/>
        </p:nvSpPr>
        <p:spPr>
          <a:xfrm>
            <a:off x="8510016" y="4389120"/>
            <a:ext cx="3291840" cy="15849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800" dirty="0">
                <a:solidFill>
                  <a:srgbClr val="444441"/>
                </a:solidFill>
                <a:latin typeface="Times New Roman" panose="02020603050405020304" pitchFamily="18" charset="0"/>
                <a:ea typeface="Calibri" pitchFamily="34" charset="-122"/>
                <a:cs typeface="Times New Roman" panose="02020603050405020304" pitchFamily="18" charset="0"/>
              </a:rPr>
              <a:t>Rural deindustrialization drives smoking and inactivity  distinct risk pathways from urban poverty.</a:t>
            </a:r>
            <a:endParaRPr lang="en-US" sz="1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6483378-BE9C-39CD-C231-B6EBB85F0DD8}"/>
              </a:ext>
            </a:extLst>
          </p:cNvPr>
          <p:cNvSpPr txBox="1"/>
          <p:nvPr/>
        </p:nvSpPr>
        <p:spPr>
          <a:xfrm>
            <a:off x="2924823" y="453094"/>
            <a:ext cx="6098514" cy="369332"/>
          </a:xfrm>
          <a:prstGeom prst="rect">
            <a:avLst/>
          </a:prstGeom>
          <a:noFill/>
        </p:spPr>
        <p:txBody>
          <a:bodyPr wrap="square">
            <a:spAutoFit/>
          </a:bodyPr>
          <a:lstStyle/>
          <a:p>
            <a:r>
              <a:rPr lang="en-US" sz="1800" b="1" dirty="0">
                <a:solidFill>
                  <a:srgbClr val="273540"/>
                </a:solidFill>
                <a:highlight>
                  <a:srgbClr val="FFFFFF"/>
                </a:highlight>
                <a:latin typeface="Times New Roman" panose="02020603050405020304" pitchFamily="18" charset="0"/>
                <a:ea typeface="Lato"/>
                <a:cs typeface="Times New Roman" panose="02020603050405020304" pitchFamily="18" charset="0"/>
              </a:rPr>
              <a:t>County rankings at a glance: </a:t>
            </a:r>
            <a:endParaRPr lang="en-SA" dirty="0"/>
          </a:p>
        </p:txBody>
      </p:sp>
    </p:spTree>
    <p:extLst>
      <p:ext uri="{BB962C8B-B14F-4D97-AF65-F5344CB8AC3E}">
        <p14:creationId xmlns:p14="http://schemas.microsoft.com/office/powerpoint/2010/main" val="344964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7680" y="219456"/>
            <a:ext cx="11216640" cy="5486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2933" b="1" dirty="0">
                <a:solidFill>
                  <a:srgbClr val="042C53"/>
                </a:solidFill>
                <a:latin typeface="Calibri" pitchFamily="34" charset="0"/>
                <a:ea typeface="Calibri" pitchFamily="34" charset="-122"/>
                <a:cs typeface="Calibri" pitchFamily="34" charset="-120"/>
              </a:rPr>
              <a:t>Health outcomes relevant to CKD</a:t>
            </a:r>
            <a:endParaRPr lang="en-US" sz="2933" dirty="0"/>
          </a:p>
        </p:txBody>
      </p:sp>
      <p:sp>
        <p:nvSpPr>
          <p:cNvPr id="3" name="Text 1"/>
          <p:cNvSpPr/>
          <p:nvPr/>
        </p:nvSpPr>
        <p:spPr>
          <a:xfrm>
            <a:off x="609600" y="5732051"/>
            <a:ext cx="1121664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dirty="0">
                <a:solidFill>
                  <a:schemeClr val="tx1"/>
                </a:solidFill>
                <a:latin typeface="Times New Roman" panose="02020603050405020304" pitchFamily="18" charset="0"/>
                <a:ea typeface="Calibri" pitchFamily="34" charset="-122"/>
                <a:cs typeface="Times New Roman" panose="02020603050405020304" pitchFamily="18" charset="0"/>
              </a:rPr>
              <a:t>Years of potential life lost, diabetes prevalence, cardiovascular deaths, and poor/fair health all direct CKD indicators</a:t>
            </a:r>
            <a:endParaRPr lang="en-US" sz="1467" dirty="0">
              <a:solidFill>
                <a:schemeClr val="tx1"/>
              </a:solidFill>
              <a:latin typeface="Times New Roman" panose="02020603050405020304" pitchFamily="18" charset="0"/>
              <a:cs typeface="Times New Roman" panose="02020603050405020304" pitchFamily="18" charset="0"/>
            </a:endParaRPr>
          </a:p>
        </p:txBody>
      </p:sp>
      <p:sp>
        <p:nvSpPr>
          <p:cNvPr id="4" name="Text 2"/>
          <p:cNvSpPr/>
          <p:nvPr/>
        </p:nvSpPr>
        <p:spPr>
          <a:xfrm>
            <a:off x="487680" y="1158240"/>
            <a:ext cx="536448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b="1" dirty="0">
                <a:solidFill>
                  <a:srgbClr val="888780"/>
                </a:solidFill>
                <a:latin typeface="Calibri" pitchFamily="34" charset="0"/>
                <a:ea typeface="Calibri" pitchFamily="34" charset="-122"/>
                <a:cs typeface="Calibri" pitchFamily="34" charset="-120"/>
              </a:rPr>
              <a:t>Premature death &amp; CV deaths</a:t>
            </a:r>
            <a:endParaRPr lang="en-US" sz="1467" dirty="0"/>
          </a:p>
        </p:txBody>
      </p:sp>
      <p:graphicFrame>
        <p:nvGraphicFramePr>
          <p:cNvPr id="5" name="Chart 0"/>
          <p:cNvGraphicFramePr/>
          <p:nvPr/>
        </p:nvGraphicFramePr>
        <p:xfrm>
          <a:off x="487680" y="1524000"/>
          <a:ext cx="54864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217920" y="1158240"/>
            <a:ext cx="548640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b="1" dirty="0">
                <a:solidFill>
                  <a:srgbClr val="888780"/>
                </a:solidFill>
                <a:latin typeface="Calibri" pitchFamily="34" charset="0"/>
                <a:ea typeface="Calibri" pitchFamily="34" charset="-122"/>
                <a:cs typeface="Calibri" pitchFamily="34" charset="-120"/>
              </a:rPr>
              <a:t>Diabetes &amp; poor/fair health (%)</a:t>
            </a:r>
            <a:endParaRPr lang="en-US" sz="1467" dirty="0"/>
          </a:p>
        </p:txBody>
      </p:sp>
      <p:graphicFrame>
        <p:nvGraphicFramePr>
          <p:cNvPr id="7" name="Chart 1"/>
          <p:cNvGraphicFramePr/>
          <p:nvPr/>
        </p:nvGraphicFramePr>
        <p:xfrm>
          <a:off x="6217920" y="1524000"/>
          <a:ext cx="5486400" cy="38404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81396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7680" y="206819"/>
            <a:ext cx="11216640" cy="5486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2933" b="1" dirty="0">
                <a:solidFill>
                  <a:srgbClr val="042C53"/>
                </a:solidFill>
                <a:latin typeface="Calibri" pitchFamily="34" charset="0"/>
                <a:ea typeface="Calibri" pitchFamily="34" charset="-122"/>
                <a:cs typeface="Calibri" pitchFamily="34" charset="-120"/>
              </a:rPr>
              <a:t>Health factors; modifiable determinants</a:t>
            </a:r>
            <a:endParaRPr lang="en-US" sz="2933" dirty="0"/>
          </a:p>
        </p:txBody>
      </p:sp>
      <p:sp>
        <p:nvSpPr>
          <p:cNvPr id="4" name="Text 2"/>
          <p:cNvSpPr/>
          <p:nvPr/>
        </p:nvSpPr>
        <p:spPr>
          <a:xfrm>
            <a:off x="487680" y="1158240"/>
            <a:ext cx="548640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b="1" dirty="0">
                <a:solidFill>
                  <a:srgbClr val="888780"/>
                </a:solidFill>
                <a:latin typeface="Calibri" pitchFamily="34" charset="0"/>
                <a:ea typeface="Calibri" pitchFamily="34" charset="-122"/>
                <a:cs typeface="Calibri" pitchFamily="34" charset="-120"/>
              </a:rPr>
              <a:t>Insurance, food insecurity &amp; child poverty (%)</a:t>
            </a:r>
            <a:endParaRPr lang="en-US" sz="1467" dirty="0"/>
          </a:p>
        </p:txBody>
      </p:sp>
      <p:graphicFrame>
        <p:nvGraphicFramePr>
          <p:cNvPr id="5" name="Chart 0"/>
          <p:cNvGraphicFramePr/>
          <p:nvPr/>
        </p:nvGraphicFramePr>
        <p:xfrm>
          <a:off x="487680" y="1524000"/>
          <a:ext cx="54864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217920" y="1158240"/>
            <a:ext cx="548640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b="1" dirty="0">
                <a:solidFill>
                  <a:srgbClr val="888780"/>
                </a:solidFill>
                <a:latin typeface="Calibri" pitchFamily="34" charset="0"/>
                <a:ea typeface="Calibri" pitchFamily="34" charset="-122"/>
                <a:cs typeface="Calibri" pitchFamily="34" charset="-120"/>
              </a:rPr>
              <a:t>Physical inactivity &amp; smoking (%)</a:t>
            </a:r>
            <a:endParaRPr lang="en-US" sz="1467" dirty="0"/>
          </a:p>
        </p:txBody>
      </p:sp>
      <p:graphicFrame>
        <p:nvGraphicFramePr>
          <p:cNvPr id="7" name="Chart 1"/>
          <p:cNvGraphicFramePr/>
          <p:nvPr/>
        </p:nvGraphicFramePr>
        <p:xfrm>
          <a:off x="6217920" y="1524000"/>
          <a:ext cx="548640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a:extLst>
              <a:ext uri="{FF2B5EF4-FFF2-40B4-BE49-F238E27FC236}">
                <a16:creationId xmlns:a16="http://schemas.microsoft.com/office/drawing/2014/main" id="{9B7BED1A-CB0F-A4C9-1360-B7C8CC522AF1}"/>
              </a:ext>
            </a:extLst>
          </p:cNvPr>
          <p:cNvSpPr txBox="1"/>
          <p:nvPr/>
        </p:nvSpPr>
        <p:spPr>
          <a:xfrm>
            <a:off x="487680" y="5783265"/>
            <a:ext cx="8844139" cy="646331"/>
          </a:xfrm>
          <a:prstGeom prst="rect">
            <a:avLst/>
          </a:prstGeom>
          <a:noFill/>
        </p:spPr>
        <p:txBody>
          <a:bodyPr wrap="square">
            <a:spAutoFit/>
          </a:bodyPr>
          <a:lstStyle/>
          <a:p>
            <a:r>
              <a:rPr lang="en-US" sz="1800" dirty="0">
                <a:ln w="0"/>
                <a:solidFill>
                  <a:schemeClr val="tx1"/>
                </a:solidFill>
                <a:effectLst>
                  <a:outerShdw blurRad="38100" dist="19050" dir="2700000" algn="tl" rotWithShape="0">
                    <a:schemeClr val="dk1">
                      <a:alpha val="40000"/>
                    </a:schemeClr>
                  </a:outerShdw>
                </a:effectLst>
                <a:latin typeface="Calibri" pitchFamily="34" charset="0"/>
                <a:ea typeface="Calibri" pitchFamily="34" charset="-122"/>
                <a:cs typeface="Calibri" pitchFamily="34" charset="-120"/>
              </a:rPr>
              <a:t>Uninsured rate, food insecurity, physical inactivity, smoking, and child poverty  each modifiable through policy or behavior</a:t>
            </a:r>
            <a:endParaRPr lang="en-SA" dirty="0"/>
          </a:p>
        </p:txBody>
      </p:sp>
    </p:spTree>
    <p:extLst>
      <p:ext uri="{BB962C8B-B14F-4D97-AF65-F5344CB8AC3E}">
        <p14:creationId xmlns:p14="http://schemas.microsoft.com/office/powerpoint/2010/main" val="4106745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8F103408-C481-39DC-92A2-816CADD6F205}"/>
              </a:ext>
            </a:extLst>
          </p:cNvPr>
          <p:cNvSpPr/>
          <p:nvPr/>
        </p:nvSpPr>
        <p:spPr>
          <a:xfrm>
            <a:off x="3015106" y="318843"/>
            <a:ext cx="11216640" cy="5486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2933" b="1" dirty="0">
                <a:solidFill>
                  <a:srgbClr val="042C53"/>
                </a:solidFill>
                <a:latin typeface="Calibri" pitchFamily="34" charset="0"/>
                <a:ea typeface="Calibri" pitchFamily="34" charset="-122"/>
                <a:cs typeface="Calibri" pitchFamily="34" charset="-120"/>
              </a:rPr>
              <a:t>Comparative analysis</a:t>
            </a:r>
            <a:endParaRPr lang="en-US" sz="2933" dirty="0"/>
          </a:p>
        </p:txBody>
      </p:sp>
      <p:sp>
        <p:nvSpPr>
          <p:cNvPr id="6" name="Text 1">
            <a:extLst>
              <a:ext uri="{FF2B5EF4-FFF2-40B4-BE49-F238E27FC236}">
                <a16:creationId xmlns:a16="http://schemas.microsoft.com/office/drawing/2014/main" id="{4077B8C9-4743-D256-5B74-28F58DDA5B98}"/>
              </a:ext>
            </a:extLst>
          </p:cNvPr>
          <p:cNvSpPr/>
          <p:nvPr/>
        </p:nvSpPr>
        <p:spPr>
          <a:xfrm>
            <a:off x="529004" y="879675"/>
            <a:ext cx="1121664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dirty="0">
                <a:solidFill>
                  <a:srgbClr val="888780"/>
                </a:solidFill>
                <a:latin typeface="Calibri" pitchFamily="34" charset="0"/>
                <a:ea typeface="Calibri" pitchFamily="34" charset="-122"/>
                <a:cs typeface="Calibri" pitchFamily="34" charset="-120"/>
              </a:rPr>
              <a:t>What the data reveals about CKD determinants across Pennsylvania counties</a:t>
            </a:r>
            <a:endParaRPr lang="en-US" sz="1467" dirty="0"/>
          </a:p>
        </p:txBody>
      </p:sp>
      <p:sp>
        <p:nvSpPr>
          <p:cNvPr id="8" name="Shape 2">
            <a:extLst>
              <a:ext uri="{FF2B5EF4-FFF2-40B4-BE49-F238E27FC236}">
                <a16:creationId xmlns:a16="http://schemas.microsoft.com/office/drawing/2014/main" id="{27E5FB81-30FD-2B80-490D-00CA2CE30447}"/>
              </a:ext>
            </a:extLst>
          </p:cNvPr>
          <p:cNvSpPr/>
          <p:nvPr/>
        </p:nvSpPr>
        <p:spPr>
          <a:xfrm>
            <a:off x="487680" y="1219200"/>
            <a:ext cx="5547360" cy="2011680"/>
          </a:xfrm>
          <a:prstGeom prst="rect">
            <a:avLst/>
          </a:prstGeom>
          <a:solidFill>
            <a:srgbClr val="F1EFE8"/>
          </a:solidFill>
          <a:ln w="12700">
            <a:solidFill>
              <a:srgbClr val="D3D1C7"/>
            </a:solidFill>
            <a:prstDash val="solid"/>
          </a:ln>
        </p:spPr>
      </p:sp>
      <p:sp>
        <p:nvSpPr>
          <p:cNvPr id="10" name="Shape 3">
            <a:extLst>
              <a:ext uri="{FF2B5EF4-FFF2-40B4-BE49-F238E27FC236}">
                <a16:creationId xmlns:a16="http://schemas.microsoft.com/office/drawing/2014/main" id="{D0D92561-6BF7-2128-734C-F81BF252F1FE}"/>
              </a:ext>
            </a:extLst>
          </p:cNvPr>
          <p:cNvSpPr/>
          <p:nvPr/>
        </p:nvSpPr>
        <p:spPr>
          <a:xfrm>
            <a:off x="487680" y="1219200"/>
            <a:ext cx="85344" cy="2011680"/>
          </a:xfrm>
          <a:prstGeom prst="rect">
            <a:avLst/>
          </a:prstGeom>
          <a:solidFill>
            <a:srgbClr val="185FA5"/>
          </a:solidFill>
          <a:ln w="12700">
            <a:solidFill>
              <a:srgbClr val="185FA5"/>
            </a:solidFill>
            <a:prstDash val="solid"/>
          </a:ln>
        </p:spPr>
      </p:sp>
      <p:sp>
        <p:nvSpPr>
          <p:cNvPr id="12" name="Shape 4">
            <a:extLst>
              <a:ext uri="{FF2B5EF4-FFF2-40B4-BE49-F238E27FC236}">
                <a16:creationId xmlns:a16="http://schemas.microsoft.com/office/drawing/2014/main" id="{BE70F030-8BC1-CF96-6D2D-CF7EE35E9664}"/>
              </a:ext>
            </a:extLst>
          </p:cNvPr>
          <p:cNvSpPr/>
          <p:nvPr/>
        </p:nvSpPr>
        <p:spPr>
          <a:xfrm>
            <a:off x="707136" y="1316736"/>
            <a:ext cx="1341120" cy="268224"/>
          </a:xfrm>
          <a:prstGeom prst="roundRect">
            <a:avLst>
              <a:gd name="adj" fmla="val 22727"/>
            </a:avLst>
          </a:prstGeom>
          <a:solidFill>
            <a:srgbClr val="E6F1FB"/>
          </a:solidFill>
          <a:ln w="12700">
            <a:solidFill>
              <a:srgbClr val="185FA5"/>
            </a:solidFill>
            <a:prstDash val="solid"/>
          </a:ln>
        </p:spPr>
      </p:sp>
      <p:sp>
        <p:nvSpPr>
          <p:cNvPr id="14" name="Text 5">
            <a:extLst>
              <a:ext uri="{FF2B5EF4-FFF2-40B4-BE49-F238E27FC236}">
                <a16:creationId xmlns:a16="http://schemas.microsoft.com/office/drawing/2014/main" id="{53CDCFA7-E5F4-EF8B-C0FD-6924F6539633}"/>
              </a:ext>
            </a:extLst>
          </p:cNvPr>
          <p:cNvSpPr/>
          <p:nvPr/>
        </p:nvSpPr>
        <p:spPr>
          <a:xfrm>
            <a:off x="707136" y="1316736"/>
            <a:ext cx="1341120" cy="26822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067" b="1" dirty="0">
                <a:solidFill>
                  <a:srgbClr val="185FA5"/>
                </a:solidFill>
                <a:latin typeface="Calibri" pitchFamily="34" charset="0"/>
                <a:ea typeface="Calibri" pitchFamily="34" charset="-122"/>
                <a:cs typeface="Calibri" pitchFamily="34" charset="-120"/>
              </a:rPr>
              <a:t>TOP PERFORMER</a:t>
            </a:r>
            <a:endParaRPr lang="en-US" sz="1067" dirty="0"/>
          </a:p>
        </p:txBody>
      </p:sp>
      <p:sp>
        <p:nvSpPr>
          <p:cNvPr id="16" name="Text 6">
            <a:extLst>
              <a:ext uri="{FF2B5EF4-FFF2-40B4-BE49-F238E27FC236}">
                <a16:creationId xmlns:a16="http://schemas.microsoft.com/office/drawing/2014/main" id="{3202F493-541E-8657-7B8C-84B4F707D2DA}"/>
              </a:ext>
            </a:extLst>
          </p:cNvPr>
          <p:cNvSpPr/>
          <p:nvPr/>
        </p:nvSpPr>
        <p:spPr>
          <a:xfrm>
            <a:off x="707136" y="1609344"/>
            <a:ext cx="5205984"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042C53"/>
                </a:solidFill>
                <a:latin typeface="Calibri" pitchFamily="34" charset="0"/>
                <a:ea typeface="Calibri" pitchFamily="34" charset="-122"/>
                <a:cs typeface="Calibri" pitchFamily="34" charset="-120"/>
              </a:rPr>
              <a:t>Chester County — Rank #1</a:t>
            </a:r>
            <a:endParaRPr lang="en-US" sz="1600" dirty="0"/>
          </a:p>
        </p:txBody>
      </p:sp>
      <p:sp>
        <p:nvSpPr>
          <p:cNvPr id="18" name="Text 7">
            <a:extLst>
              <a:ext uri="{FF2B5EF4-FFF2-40B4-BE49-F238E27FC236}">
                <a16:creationId xmlns:a16="http://schemas.microsoft.com/office/drawing/2014/main" id="{DB402EA0-101C-8336-F504-9E3351DF655C}"/>
              </a:ext>
            </a:extLst>
          </p:cNvPr>
          <p:cNvSpPr/>
          <p:nvPr/>
        </p:nvSpPr>
        <p:spPr>
          <a:xfrm>
            <a:off x="707136" y="1975104"/>
            <a:ext cx="5205984" cy="11582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00" dirty="0">
                <a:solidFill>
                  <a:srgbClr val="444441"/>
                </a:solidFill>
                <a:latin typeface="Calibri" pitchFamily="34" charset="0"/>
                <a:ea typeface="Calibri" pitchFamily="34" charset="-122"/>
                <a:cs typeface="Calibri" pitchFamily="34" charset="-120"/>
              </a:rPr>
              <a:t>Consistently outperforms the state on all CKD-relevant metrics. Low uninsured rate (~4%), high household income, low food insecurity, and high rates of preventive care access all reduce CKD risk and slow progression.</a:t>
            </a:r>
            <a:endParaRPr lang="en-US" sz="1400" dirty="0"/>
          </a:p>
        </p:txBody>
      </p:sp>
      <p:sp>
        <p:nvSpPr>
          <p:cNvPr id="20" name="Shape 8">
            <a:extLst>
              <a:ext uri="{FF2B5EF4-FFF2-40B4-BE49-F238E27FC236}">
                <a16:creationId xmlns:a16="http://schemas.microsoft.com/office/drawing/2014/main" id="{61FA4D3B-4C56-6903-730C-4CF9D7E86F98}"/>
              </a:ext>
            </a:extLst>
          </p:cNvPr>
          <p:cNvSpPr/>
          <p:nvPr/>
        </p:nvSpPr>
        <p:spPr>
          <a:xfrm>
            <a:off x="6156960" y="1219200"/>
            <a:ext cx="5547360" cy="2011680"/>
          </a:xfrm>
          <a:prstGeom prst="rect">
            <a:avLst/>
          </a:prstGeom>
          <a:solidFill>
            <a:srgbClr val="F1EFE8"/>
          </a:solidFill>
          <a:ln w="12700">
            <a:solidFill>
              <a:srgbClr val="D3D1C7"/>
            </a:solidFill>
            <a:prstDash val="solid"/>
          </a:ln>
        </p:spPr>
      </p:sp>
      <p:sp>
        <p:nvSpPr>
          <p:cNvPr id="22" name="Shape 9">
            <a:extLst>
              <a:ext uri="{FF2B5EF4-FFF2-40B4-BE49-F238E27FC236}">
                <a16:creationId xmlns:a16="http://schemas.microsoft.com/office/drawing/2014/main" id="{78EFED45-7E49-9B41-1B9C-F824D6363E69}"/>
              </a:ext>
            </a:extLst>
          </p:cNvPr>
          <p:cNvSpPr/>
          <p:nvPr/>
        </p:nvSpPr>
        <p:spPr>
          <a:xfrm>
            <a:off x="6156960" y="1219200"/>
            <a:ext cx="85344" cy="2011680"/>
          </a:xfrm>
          <a:prstGeom prst="rect">
            <a:avLst/>
          </a:prstGeom>
          <a:solidFill>
            <a:srgbClr val="E24B4A"/>
          </a:solidFill>
          <a:ln w="12700">
            <a:solidFill>
              <a:srgbClr val="E24B4A"/>
            </a:solidFill>
            <a:prstDash val="solid"/>
          </a:ln>
        </p:spPr>
      </p:sp>
      <p:sp>
        <p:nvSpPr>
          <p:cNvPr id="24" name="Shape 10">
            <a:extLst>
              <a:ext uri="{FF2B5EF4-FFF2-40B4-BE49-F238E27FC236}">
                <a16:creationId xmlns:a16="http://schemas.microsoft.com/office/drawing/2014/main" id="{672B6823-068D-35A9-9AD6-5A4E49905244}"/>
              </a:ext>
            </a:extLst>
          </p:cNvPr>
          <p:cNvSpPr/>
          <p:nvPr/>
        </p:nvSpPr>
        <p:spPr>
          <a:xfrm>
            <a:off x="6376416" y="1316736"/>
            <a:ext cx="1341120" cy="268224"/>
          </a:xfrm>
          <a:prstGeom prst="roundRect">
            <a:avLst>
              <a:gd name="adj" fmla="val 22727"/>
            </a:avLst>
          </a:prstGeom>
          <a:solidFill>
            <a:srgbClr val="FCEBEB"/>
          </a:solidFill>
          <a:ln w="12700">
            <a:solidFill>
              <a:srgbClr val="E24B4A"/>
            </a:solidFill>
            <a:prstDash val="solid"/>
          </a:ln>
        </p:spPr>
      </p:sp>
      <p:sp>
        <p:nvSpPr>
          <p:cNvPr id="26" name="Text 11">
            <a:extLst>
              <a:ext uri="{FF2B5EF4-FFF2-40B4-BE49-F238E27FC236}">
                <a16:creationId xmlns:a16="http://schemas.microsoft.com/office/drawing/2014/main" id="{32B3B30E-AE3A-0509-A88D-EA3C156DBFF7}"/>
              </a:ext>
            </a:extLst>
          </p:cNvPr>
          <p:cNvSpPr/>
          <p:nvPr/>
        </p:nvSpPr>
        <p:spPr>
          <a:xfrm>
            <a:off x="6376416" y="1316736"/>
            <a:ext cx="1341120" cy="26822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067" b="1" dirty="0">
                <a:solidFill>
                  <a:srgbClr val="E24B4A"/>
                </a:solidFill>
                <a:latin typeface="Calibri" pitchFamily="34" charset="0"/>
                <a:ea typeface="Calibri" pitchFamily="34" charset="-122"/>
                <a:cs typeface="Calibri" pitchFamily="34" charset="-120"/>
              </a:rPr>
              <a:t>LOWEST RANKED</a:t>
            </a:r>
            <a:endParaRPr lang="en-US" sz="1067" dirty="0"/>
          </a:p>
        </p:txBody>
      </p:sp>
      <p:sp>
        <p:nvSpPr>
          <p:cNvPr id="28" name="Text 12">
            <a:extLst>
              <a:ext uri="{FF2B5EF4-FFF2-40B4-BE49-F238E27FC236}">
                <a16:creationId xmlns:a16="http://schemas.microsoft.com/office/drawing/2014/main" id="{45CC3084-AAE1-36C7-A335-A26A8ECBCF1F}"/>
              </a:ext>
            </a:extLst>
          </p:cNvPr>
          <p:cNvSpPr/>
          <p:nvPr/>
        </p:nvSpPr>
        <p:spPr>
          <a:xfrm>
            <a:off x="6376416" y="1609344"/>
            <a:ext cx="5205984"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042C53"/>
                </a:solidFill>
                <a:latin typeface="Calibri" pitchFamily="34" charset="0"/>
                <a:ea typeface="Calibri" pitchFamily="34" charset="-122"/>
                <a:cs typeface="Calibri" pitchFamily="34" charset="-120"/>
              </a:rPr>
              <a:t>Philadelphia — Rank #67</a:t>
            </a:r>
            <a:endParaRPr lang="en-US" sz="1600" dirty="0"/>
          </a:p>
        </p:txBody>
      </p:sp>
      <p:sp>
        <p:nvSpPr>
          <p:cNvPr id="30" name="Text 13">
            <a:extLst>
              <a:ext uri="{FF2B5EF4-FFF2-40B4-BE49-F238E27FC236}">
                <a16:creationId xmlns:a16="http://schemas.microsoft.com/office/drawing/2014/main" id="{B00351D7-2F22-0884-2BA4-8340C2D21F52}"/>
              </a:ext>
            </a:extLst>
          </p:cNvPr>
          <p:cNvSpPr/>
          <p:nvPr/>
        </p:nvSpPr>
        <p:spPr>
          <a:xfrm>
            <a:off x="6376416" y="1975104"/>
            <a:ext cx="5205984" cy="11582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00" dirty="0">
                <a:solidFill>
                  <a:srgbClr val="444441"/>
                </a:solidFill>
                <a:latin typeface="Calibri" pitchFamily="34" charset="0"/>
                <a:ea typeface="Calibri" pitchFamily="34" charset="-122"/>
                <a:cs typeface="Calibri" pitchFamily="34" charset="-120"/>
              </a:rPr>
              <a:t>Worst ranked county in PA. Extremely high poverty (~23%), food insecurity, physical inactivity, and limited healthcare access converge to create a concentrated CKD risk environment.</a:t>
            </a:r>
            <a:endParaRPr lang="en-US" sz="1400" dirty="0"/>
          </a:p>
        </p:txBody>
      </p:sp>
      <p:sp>
        <p:nvSpPr>
          <p:cNvPr id="32" name="Shape 14">
            <a:extLst>
              <a:ext uri="{FF2B5EF4-FFF2-40B4-BE49-F238E27FC236}">
                <a16:creationId xmlns:a16="http://schemas.microsoft.com/office/drawing/2014/main" id="{5E6703FE-B957-00A0-733F-948A395757E7}"/>
              </a:ext>
            </a:extLst>
          </p:cNvPr>
          <p:cNvSpPr/>
          <p:nvPr/>
        </p:nvSpPr>
        <p:spPr>
          <a:xfrm>
            <a:off x="487680" y="3474720"/>
            <a:ext cx="5547360" cy="2011680"/>
          </a:xfrm>
          <a:prstGeom prst="rect">
            <a:avLst/>
          </a:prstGeom>
          <a:solidFill>
            <a:srgbClr val="F1EFE8"/>
          </a:solidFill>
          <a:ln w="12700">
            <a:solidFill>
              <a:srgbClr val="D3D1C7"/>
            </a:solidFill>
            <a:prstDash val="solid"/>
          </a:ln>
        </p:spPr>
      </p:sp>
      <p:sp>
        <p:nvSpPr>
          <p:cNvPr id="34" name="Shape 15">
            <a:extLst>
              <a:ext uri="{FF2B5EF4-FFF2-40B4-BE49-F238E27FC236}">
                <a16:creationId xmlns:a16="http://schemas.microsoft.com/office/drawing/2014/main" id="{58D0F25A-915C-8958-C41A-3CC799B532B8}"/>
              </a:ext>
            </a:extLst>
          </p:cNvPr>
          <p:cNvSpPr/>
          <p:nvPr/>
        </p:nvSpPr>
        <p:spPr>
          <a:xfrm>
            <a:off x="487680" y="3474720"/>
            <a:ext cx="85344" cy="2011680"/>
          </a:xfrm>
          <a:prstGeom prst="rect">
            <a:avLst/>
          </a:prstGeom>
          <a:solidFill>
            <a:srgbClr val="BA7517"/>
          </a:solidFill>
          <a:ln w="12700">
            <a:solidFill>
              <a:srgbClr val="BA7517"/>
            </a:solidFill>
            <a:prstDash val="solid"/>
          </a:ln>
        </p:spPr>
      </p:sp>
      <p:sp>
        <p:nvSpPr>
          <p:cNvPr id="36" name="Shape 16">
            <a:extLst>
              <a:ext uri="{FF2B5EF4-FFF2-40B4-BE49-F238E27FC236}">
                <a16:creationId xmlns:a16="http://schemas.microsoft.com/office/drawing/2014/main" id="{1362A077-505D-4761-1882-6333073229B3}"/>
              </a:ext>
            </a:extLst>
          </p:cNvPr>
          <p:cNvSpPr/>
          <p:nvPr/>
        </p:nvSpPr>
        <p:spPr>
          <a:xfrm>
            <a:off x="707136" y="3572256"/>
            <a:ext cx="1341120" cy="268224"/>
          </a:xfrm>
          <a:prstGeom prst="roundRect">
            <a:avLst>
              <a:gd name="adj" fmla="val 22727"/>
            </a:avLst>
          </a:prstGeom>
          <a:solidFill>
            <a:srgbClr val="FAEEDA"/>
          </a:solidFill>
          <a:ln w="12700">
            <a:solidFill>
              <a:srgbClr val="BA7517"/>
            </a:solidFill>
            <a:prstDash val="solid"/>
          </a:ln>
        </p:spPr>
      </p:sp>
      <p:sp>
        <p:nvSpPr>
          <p:cNvPr id="38" name="Text 17">
            <a:extLst>
              <a:ext uri="{FF2B5EF4-FFF2-40B4-BE49-F238E27FC236}">
                <a16:creationId xmlns:a16="http://schemas.microsoft.com/office/drawing/2014/main" id="{903CB76E-5AD9-CC28-104B-3604236B2E02}"/>
              </a:ext>
            </a:extLst>
          </p:cNvPr>
          <p:cNvSpPr/>
          <p:nvPr/>
        </p:nvSpPr>
        <p:spPr>
          <a:xfrm>
            <a:off x="707136" y="3572256"/>
            <a:ext cx="1341120" cy="26822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067" b="1" dirty="0">
                <a:solidFill>
                  <a:srgbClr val="BA7517"/>
                </a:solidFill>
                <a:latin typeface="Calibri" pitchFamily="34" charset="0"/>
                <a:ea typeface="Calibri" pitchFamily="34" charset="-122"/>
                <a:cs typeface="Calibri" pitchFamily="34" charset="-120"/>
              </a:rPr>
              <a:t>MID-RANGE</a:t>
            </a:r>
            <a:endParaRPr lang="en-US" sz="1067" dirty="0"/>
          </a:p>
        </p:txBody>
      </p:sp>
      <p:sp>
        <p:nvSpPr>
          <p:cNvPr id="40" name="Text 18">
            <a:extLst>
              <a:ext uri="{FF2B5EF4-FFF2-40B4-BE49-F238E27FC236}">
                <a16:creationId xmlns:a16="http://schemas.microsoft.com/office/drawing/2014/main" id="{2966CD73-4329-E787-CE24-42A8021D66C0}"/>
              </a:ext>
            </a:extLst>
          </p:cNvPr>
          <p:cNvSpPr/>
          <p:nvPr/>
        </p:nvSpPr>
        <p:spPr>
          <a:xfrm>
            <a:off x="707136" y="3864864"/>
            <a:ext cx="5205984" cy="36576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042C53"/>
                </a:solidFill>
                <a:latin typeface="Calibri" pitchFamily="34" charset="0"/>
                <a:ea typeface="Calibri" pitchFamily="34" charset="-122"/>
                <a:cs typeface="Calibri" pitchFamily="34" charset="-120"/>
              </a:rPr>
              <a:t>Luzerne County — Rank #50</a:t>
            </a:r>
            <a:endParaRPr lang="en-US" sz="1600" dirty="0"/>
          </a:p>
        </p:txBody>
      </p:sp>
      <p:sp>
        <p:nvSpPr>
          <p:cNvPr id="42" name="Text 19">
            <a:extLst>
              <a:ext uri="{FF2B5EF4-FFF2-40B4-BE49-F238E27FC236}">
                <a16:creationId xmlns:a16="http://schemas.microsoft.com/office/drawing/2014/main" id="{B7929254-E881-3E73-E40E-46BDCD238BF3}"/>
              </a:ext>
            </a:extLst>
          </p:cNvPr>
          <p:cNvSpPr/>
          <p:nvPr/>
        </p:nvSpPr>
        <p:spPr>
          <a:xfrm>
            <a:off x="707136" y="4230624"/>
            <a:ext cx="5205984" cy="11582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00" dirty="0">
                <a:solidFill>
                  <a:srgbClr val="444441"/>
                </a:solidFill>
                <a:latin typeface="Calibri" pitchFamily="34" charset="0"/>
                <a:ea typeface="Calibri" pitchFamily="34" charset="-122"/>
                <a:cs typeface="Calibri" pitchFamily="34" charset="-120"/>
              </a:rPr>
              <a:t>A rural/deindustrialized county with elevated smoking rates, physical inactivity, and limited care density. CKD detection is often delayed due to specialty care gaps despite better insurance rates than Philadelphia.</a:t>
            </a:r>
            <a:endParaRPr lang="en-US" sz="1400" dirty="0"/>
          </a:p>
        </p:txBody>
      </p:sp>
      <p:sp>
        <p:nvSpPr>
          <p:cNvPr id="44" name="Shape 20">
            <a:extLst>
              <a:ext uri="{FF2B5EF4-FFF2-40B4-BE49-F238E27FC236}">
                <a16:creationId xmlns:a16="http://schemas.microsoft.com/office/drawing/2014/main" id="{86CDA14F-6AC7-A81C-69AB-CD5B77063D07}"/>
              </a:ext>
            </a:extLst>
          </p:cNvPr>
          <p:cNvSpPr/>
          <p:nvPr/>
        </p:nvSpPr>
        <p:spPr>
          <a:xfrm>
            <a:off x="6156960" y="3474720"/>
            <a:ext cx="5547360" cy="2011680"/>
          </a:xfrm>
          <a:prstGeom prst="rect">
            <a:avLst/>
          </a:prstGeom>
          <a:solidFill>
            <a:srgbClr val="E6F1FB"/>
          </a:solidFill>
          <a:ln w="12700">
            <a:solidFill>
              <a:srgbClr val="185FA5"/>
            </a:solidFill>
            <a:prstDash val="solid"/>
          </a:ln>
        </p:spPr>
      </p:sp>
      <p:sp>
        <p:nvSpPr>
          <p:cNvPr id="46" name="Text 21">
            <a:extLst>
              <a:ext uri="{FF2B5EF4-FFF2-40B4-BE49-F238E27FC236}">
                <a16:creationId xmlns:a16="http://schemas.microsoft.com/office/drawing/2014/main" id="{DC956E68-7E0C-4DC9-7272-1957F5C98932}"/>
              </a:ext>
            </a:extLst>
          </p:cNvPr>
          <p:cNvSpPr/>
          <p:nvPr/>
        </p:nvSpPr>
        <p:spPr>
          <a:xfrm>
            <a:off x="6339840" y="3572256"/>
            <a:ext cx="5181600"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042C53"/>
                </a:solidFill>
                <a:latin typeface="Calibri" pitchFamily="34" charset="0"/>
                <a:ea typeface="Calibri" pitchFamily="34" charset="-122"/>
                <a:cs typeface="Calibri" pitchFamily="34" charset="-120"/>
              </a:rPr>
              <a:t>Key takeaways</a:t>
            </a:r>
            <a:endParaRPr lang="en-US" sz="1600" dirty="0"/>
          </a:p>
        </p:txBody>
      </p:sp>
      <p:sp>
        <p:nvSpPr>
          <p:cNvPr id="48" name="Text 22">
            <a:extLst>
              <a:ext uri="{FF2B5EF4-FFF2-40B4-BE49-F238E27FC236}">
                <a16:creationId xmlns:a16="http://schemas.microsoft.com/office/drawing/2014/main" id="{D4FB4053-9005-6CCB-4E77-91317A07B254}"/>
              </a:ext>
            </a:extLst>
          </p:cNvPr>
          <p:cNvSpPr/>
          <p:nvPr/>
        </p:nvSpPr>
        <p:spPr>
          <a:xfrm>
            <a:off x="6339840" y="3925824"/>
            <a:ext cx="5181600" cy="14630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nSpc>
                <a:spcPct val="130000"/>
              </a:lnSpc>
              <a:buNone/>
            </a:pPr>
            <a:r>
              <a:rPr lang="en-US" sz="1333" b="1" dirty="0">
                <a:solidFill>
                  <a:srgbClr val="042C53"/>
                </a:solidFill>
                <a:latin typeface="Calibri" pitchFamily="34" charset="0"/>
                <a:ea typeface="Calibri" pitchFamily="34" charset="-122"/>
                <a:cs typeface="Calibri" pitchFamily="34" charset="-120"/>
              </a:rPr>
              <a:t>Expected: </a:t>
            </a:r>
            <a:r>
              <a:rPr lang="en-US" sz="1333" dirty="0">
                <a:solidFill>
                  <a:srgbClr val="444441"/>
                </a:solidFill>
                <a:latin typeface="Calibri" pitchFamily="34" charset="0"/>
                <a:ea typeface="Calibri" pitchFamily="34" charset="-122"/>
                <a:cs typeface="Calibri" pitchFamily="34" charset="-120"/>
              </a:rPr>
              <a:t>Chester #1 (wealth, access) and Philadelphia #67 (poverty, uninsurance)</a:t>
            </a:r>
            <a:r>
              <a:rPr lang="en-US" sz="1333" dirty="0">
                <a:solidFill>
                  <a:srgbClr val="000000"/>
                </a:solidFill>
                <a:latin typeface="Calibri" pitchFamily="34" charset="0"/>
                <a:ea typeface="Calibri" pitchFamily="34" charset="-122"/>
                <a:cs typeface="Calibri" pitchFamily="34" charset="-120"/>
              </a:rPr>
              <a:t>
</a:t>
            </a:r>
            <a:r>
              <a:rPr lang="en-US" sz="1333" b="1" dirty="0">
                <a:solidFill>
                  <a:srgbClr val="042C53"/>
                </a:solidFill>
                <a:latin typeface="Calibri" pitchFamily="34" charset="0"/>
                <a:ea typeface="Calibri" pitchFamily="34" charset="-122"/>
                <a:cs typeface="Calibri" pitchFamily="34" charset="-120"/>
              </a:rPr>
              <a:t>Surprising: </a:t>
            </a:r>
            <a:r>
              <a:rPr lang="en-US" sz="1333" dirty="0">
                <a:solidFill>
                  <a:srgbClr val="444441"/>
                </a:solidFill>
                <a:latin typeface="Calibri" pitchFamily="34" charset="0"/>
                <a:ea typeface="Calibri" pitchFamily="34" charset="-122"/>
                <a:cs typeface="Calibri" pitchFamily="34" charset="-120"/>
              </a:rPr>
              <a:t>Philadelphia worse on food insecurity than rural peers despite urban food system</a:t>
            </a:r>
            <a:r>
              <a:rPr lang="en-US" sz="1333" dirty="0">
                <a:solidFill>
                  <a:srgbClr val="000000"/>
                </a:solidFill>
                <a:latin typeface="Calibri" pitchFamily="34" charset="0"/>
                <a:ea typeface="Calibri" pitchFamily="34" charset="-122"/>
                <a:cs typeface="Calibri" pitchFamily="34" charset="-120"/>
              </a:rPr>
              <a:t>
</a:t>
            </a:r>
            <a:r>
              <a:rPr lang="en-US" sz="1333" b="1" dirty="0">
                <a:solidFill>
                  <a:srgbClr val="042C53"/>
                </a:solidFill>
                <a:latin typeface="Calibri" pitchFamily="34" charset="0"/>
                <a:ea typeface="Calibri" pitchFamily="34" charset="-122"/>
                <a:cs typeface="Calibri" pitchFamily="34" charset="-120"/>
              </a:rPr>
              <a:t>Surprising: </a:t>
            </a:r>
            <a:r>
              <a:rPr lang="en-US" sz="1333" dirty="0">
                <a:solidFill>
                  <a:srgbClr val="444441"/>
                </a:solidFill>
                <a:latin typeface="Calibri" pitchFamily="34" charset="0"/>
                <a:ea typeface="Calibri" pitchFamily="34" charset="-122"/>
                <a:cs typeface="Calibri" pitchFamily="34" charset="-120"/>
              </a:rPr>
              <a:t>Luzerne's smoking rate exceeds Philadelphia's</a:t>
            </a:r>
            <a:r>
              <a:rPr lang="en-US" sz="1333" dirty="0">
                <a:solidFill>
                  <a:srgbClr val="000000"/>
                </a:solidFill>
                <a:latin typeface="Calibri" pitchFamily="34" charset="0"/>
                <a:ea typeface="Calibri" pitchFamily="34" charset="-122"/>
                <a:cs typeface="Calibri" pitchFamily="34" charset="-120"/>
              </a:rPr>
              <a:t>
</a:t>
            </a:r>
            <a:r>
              <a:rPr lang="en-US" sz="1333" b="1" dirty="0">
                <a:solidFill>
                  <a:srgbClr val="042C53"/>
                </a:solidFill>
                <a:latin typeface="Calibri" pitchFamily="34" charset="0"/>
                <a:ea typeface="Calibri" pitchFamily="34" charset="-122"/>
                <a:cs typeface="Calibri" pitchFamily="34" charset="-120"/>
              </a:rPr>
              <a:t>Key insight: </a:t>
            </a:r>
            <a:r>
              <a:rPr lang="en-US" sz="1333" dirty="0">
                <a:solidFill>
                  <a:srgbClr val="444441"/>
                </a:solidFill>
                <a:latin typeface="Calibri" pitchFamily="34" charset="0"/>
                <a:ea typeface="Calibri" pitchFamily="34" charset="-122"/>
                <a:cs typeface="Calibri" pitchFamily="34" charset="-120"/>
              </a:rPr>
              <a:t>Geography itself functions as a social determinant of CKD risk</a:t>
            </a:r>
            <a:endParaRPr lang="en-US" sz="1333" dirty="0"/>
          </a:p>
        </p:txBody>
      </p:sp>
    </p:spTree>
    <p:extLst>
      <p:ext uri="{BB962C8B-B14F-4D97-AF65-F5344CB8AC3E}">
        <p14:creationId xmlns:p14="http://schemas.microsoft.com/office/powerpoint/2010/main" val="1287943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6"/>
          <p:cNvSpPr txBox="1">
            <a:spLocks noGrp="1"/>
          </p:cNvSpPr>
          <p:nvPr>
            <p:ph type="title"/>
          </p:nvPr>
        </p:nvSpPr>
        <p:spPr>
          <a:xfrm>
            <a:off x="465440" y="924992"/>
            <a:ext cx="1136080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35464" lvl="0" algn="l" rtl="0">
              <a:lnSpc>
                <a:spcPct val="115000"/>
              </a:lnSpc>
              <a:spcBef>
                <a:spcPts val="0"/>
              </a:spcBef>
              <a:spcAft>
                <a:spcPts val="0"/>
              </a:spcAft>
              <a:buClr>
                <a:schemeClr val="dk2"/>
              </a:buClr>
              <a:buSzPts val="2000"/>
            </a:pPr>
            <a:r>
              <a:rPr lang="en-US" sz="2000" b="1" dirty="0">
                <a:solidFill>
                  <a:schemeClr val="tx1"/>
                </a:solidFill>
                <a:latin typeface="Times New Roman" panose="02020603050405020304" pitchFamily="18" charset="0"/>
                <a:ea typeface="Calibri" pitchFamily="34" charset="-122"/>
                <a:cs typeface="Times New Roman" panose="02020603050405020304" pitchFamily="18" charset="0"/>
              </a:rPr>
              <a:t>CKD lens on County Health Rankings </a:t>
            </a:r>
            <a:endParaRPr dirty="0">
              <a:latin typeface="Times New Roman" panose="02020603050405020304" pitchFamily="18" charset="0"/>
              <a:cs typeface="Times New Roman" panose="02020603050405020304" pitchFamily="18" charset="0"/>
            </a:endParaRPr>
          </a:p>
        </p:txBody>
      </p:sp>
      <p:sp>
        <p:nvSpPr>
          <p:cNvPr id="5" name="Shape 0">
            <a:extLst>
              <a:ext uri="{FF2B5EF4-FFF2-40B4-BE49-F238E27FC236}">
                <a16:creationId xmlns:a16="http://schemas.microsoft.com/office/drawing/2014/main" id="{95A93FDD-0DDF-42E6-B245-930A58D1AE06}"/>
              </a:ext>
            </a:extLst>
          </p:cNvPr>
          <p:cNvSpPr/>
          <p:nvPr/>
        </p:nvSpPr>
        <p:spPr>
          <a:xfrm>
            <a:off x="0" y="0"/>
            <a:ext cx="219456" cy="6858000"/>
          </a:xfrm>
          <a:prstGeom prst="rect">
            <a:avLst/>
          </a:prstGeom>
          <a:solidFill>
            <a:srgbClr val="378ADD"/>
          </a:solidFill>
          <a:ln w="12700">
            <a:solidFill>
              <a:srgbClr val="378ADD"/>
            </a:solidFill>
            <a:prstDash val="solid"/>
          </a:ln>
        </p:spPr>
      </p:sp>
      <p:sp>
        <p:nvSpPr>
          <p:cNvPr id="9" name="Shape 2">
            <a:extLst>
              <a:ext uri="{FF2B5EF4-FFF2-40B4-BE49-F238E27FC236}">
                <a16:creationId xmlns:a16="http://schemas.microsoft.com/office/drawing/2014/main" id="{22677119-C05C-7B44-BEBC-F1FCD9E5A313}"/>
              </a:ext>
            </a:extLst>
          </p:cNvPr>
          <p:cNvSpPr/>
          <p:nvPr/>
        </p:nvSpPr>
        <p:spPr>
          <a:xfrm>
            <a:off x="670560" y="1645920"/>
            <a:ext cx="2560320" cy="1097280"/>
          </a:xfrm>
          <a:prstGeom prst="rect">
            <a:avLst/>
          </a:prstGeom>
          <a:solidFill>
            <a:srgbClr val="E24B4A"/>
          </a:solidFill>
          <a:ln w="12700">
            <a:solidFill>
              <a:srgbClr val="E24B4A"/>
            </a:solidFill>
            <a:prstDash val="solid"/>
          </a:ln>
        </p:spPr>
      </p:sp>
      <p:sp>
        <p:nvSpPr>
          <p:cNvPr id="11" name="Text 3">
            <a:extLst>
              <a:ext uri="{FF2B5EF4-FFF2-40B4-BE49-F238E27FC236}">
                <a16:creationId xmlns:a16="http://schemas.microsoft.com/office/drawing/2014/main" id="{CD6E25A5-3BAD-6EE7-805E-9FA0154B4F83}"/>
              </a:ext>
            </a:extLst>
          </p:cNvPr>
          <p:cNvSpPr/>
          <p:nvPr/>
        </p:nvSpPr>
        <p:spPr>
          <a:xfrm>
            <a:off x="768096" y="1731264"/>
            <a:ext cx="2365248"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Health behaviors</a:t>
            </a:r>
            <a:endParaRPr lang="en-US" sz="1600" dirty="0">
              <a:latin typeface="Times New Roman" panose="02020603050405020304" pitchFamily="18" charset="0"/>
              <a:cs typeface="Times New Roman" panose="02020603050405020304" pitchFamily="18" charset="0"/>
            </a:endParaRPr>
          </a:p>
        </p:txBody>
      </p:sp>
      <p:sp>
        <p:nvSpPr>
          <p:cNvPr id="13" name="Text 4">
            <a:extLst>
              <a:ext uri="{FF2B5EF4-FFF2-40B4-BE49-F238E27FC236}">
                <a16:creationId xmlns:a16="http://schemas.microsoft.com/office/drawing/2014/main" id="{7EF26888-4B46-C90A-3B62-A5AF4B25C4BF}"/>
              </a:ext>
            </a:extLst>
          </p:cNvPr>
          <p:cNvSpPr/>
          <p:nvPr/>
        </p:nvSpPr>
        <p:spPr>
          <a:xfrm>
            <a:off x="768096" y="2157984"/>
            <a:ext cx="2365248"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333" dirty="0">
                <a:solidFill>
                  <a:srgbClr val="B5D4F4"/>
                </a:solidFill>
                <a:latin typeface="Times New Roman" panose="02020603050405020304" pitchFamily="18" charset="0"/>
                <a:ea typeface="Calibri" pitchFamily="34" charset="-122"/>
                <a:cs typeface="Times New Roman" panose="02020603050405020304" pitchFamily="18" charset="0"/>
              </a:rPr>
              <a:t>Smoking, diet, inactivity</a:t>
            </a:r>
            <a:endParaRPr lang="en-US" sz="1333" dirty="0">
              <a:latin typeface="Times New Roman" panose="02020603050405020304" pitchFamily="18" charset="0"/>
              <a:cs typeface="Times New Roman" panose="02020603050405020304" pitchFamily="18" charset="0"/>
            </a:endParaRPr>
          </a:p>
        </p:txBody>
      </p:sp>
      <p:sp>
        <p:nvSpPr>
          <p:cNvPr id="15" name="Shape 5">
            <a:extLst>
              <a:ext uri="{FF2B5EF4-FFF2-40B4-BE49-F238E27FC236}">
                <a16:creationId xmlns:a16="http://schemas.microsoft.com/office/drawing/2014/main" id="{DDD12BB5-0C93-F901-C1F2-B826A36F2667}"/>
              </a:ext>
            </a:extLst>
          </p:cNvPr>
          <p:cNvSpPr/>
          <p:nvPr/>
        </p:nvSpPr>
        <p:spPr>
          <a:xfrm>
            <a:off x="3230880" y="2194560"/>
            <a:ext cx="304800" cy="0"/>
          </a:xfrm>
          <a:prstGeom prst="line">
            <a:avLst/>
          </a:prstGeom>
          <a:noFill/>
          <a:ln w="19050">
            <a:solidFill>
              <a:srgbClr val="D3D1C7"/>
            </a:solidFill>
            <a:prstDash val="solid"/>
          </a:ln>
        </p:spPr>
      </p:sp>
      <p:sp>
        <p:nvSpPr>
          <p:cNvPr id="17" name="Shape 6">
            <a:extLst>
              <a:ext uri="{FF2B5EF4-FFF2-40B4-BE49-F238E27FC236}">
                <a16:creationId xmlns:a16="http://schemas.microsoft.com/office/drawing/2014/main" id="{A934ACAF-603B-95CE-F171-93CE391892C8}"/>
              </a:ext>
            </a:extLst>
          </p:cNvPr>
          <p:cNvSpPr/>
          <p:nvPr/>
        </p:nvSpPr>
        <p:spPr>
          <a:xfrm>
            <a:off x="3535680" y="1645920"/>
            <a:ext cx="2560320" cy="1097280"/>
          </a:xfrm>
          <a:prstGeom prst="rect">
            <a:avLst/>
          </a:prstGeom>
          <a:solidFill>
            <a:srgbClr val="BA7517"/>
          </a:solidFill>
          <a:ln w="12700">
            <a:solidFill>
              <a:srgbClr val="BA7517"/>
            </a:solidFill>
            <a:prstDash val="solid"/>
          </a:ln>
        </p:spPr>
      </p:sp>
      <p:sp>
        <p:nvSpPr>
          <p:cNvPr id="19" name="Text 7">
            <a:extLst>
              <a:ext uri="{FF2B5EF4-FFF2-40B4-BE49-F238E27FC236}">
                <a16:creationId xmlns:a16="http://schemas.microsoft.com/office/drawing/2014/main" id="{9DC08DE7-9899-C349-EFCE-9D8B23361849}"/>
              </a:ext>
            </a:extLst>
          </p:cNvPr>
          <p:cNvSpPr/>
          <p:nvPr/>
        </p:nvSpPr>
        <p:spPr>
          <a:xfrm>
            <a:off x="3633216" y="1731264"/>
            <a:ext cx="2365248"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Diabetes &amp; HTN</a:t>
            </a:r>
            <a:endParaRPr lang="en-US" sz="1600" dirty="0">
              <a:latin typeface="Times New Roman" panose="02020603050405020304" pitchFamily="18" charset="0"/>
              <a:cs typeface="Times New Roman" panose="02020603050405020304" pitchFamily="18" charset="0"/>
            </a:endParaRPr>
          </a:p>
        </p:txBody>
      </p:sp>
      <p:sp>
        <p:nvSpPr>
          <p:cNvPr id="21" name="Text 8">
            <a:extLst>
              <a:ext uri="{FF2B5EF4-FFF2-40B4-BE49-F238E27FC236}">
                <a16:creationId xmlns:a16="http://schemas.microsoft.com/office/drawing/2014/main" id="{7D68303C-4582-8E20-D25C-F7BFECF2D7F2}"/>
              </a:ext>
            </a:extLst>
          </p:cNvPr>
          <p:cNvSpPr/>
          <p:nvPr/>
        </p:nvSpPr>
        <p:spPr>
          <a:xfrm>
            <a:off x="3633216" y="2157984"/>
            <a:ext cx="2365248"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333" dirty="0">
                <a:solidFill>
                  <a:srgbClr val="B5D4F4"/>
                </a:solidFill>
                <a:latin typeface="Times New Roman" panose="02020603050405020304" pitchFamily="18" charset="0"/>
                <a:ea typeface="Calibri" pitchFamily="34" charset="-122"/>
                <a:cs typeface="Times New Roman" panose="02020603050405020304" pitchFamily="18" charset="0"/>
              </a:rPr>
              <a:t>The two leading CKD causes</a:t>
            </a:r>
            <a:endParaRPr lang="en-US" sz="1333" dirty="0">
              <a:latin typeface="Times New Roman" panose="02020603050405020304" pitchFamily="18" charset="0"/>
              <a:cs typeface="Times New Roman" panose="02020603050405020304" pitchFamily="18" charset="0"/>
            </a:endParaRPr>
          </a:p>
        </p:txBody>
      </p:sp>
      <p:sp>
        <p:nvSpPr>
          <p:cNvPr id="23" name="Shape 9">
            <a:extLst>
              <a:ext uri="{FF2B5EF4-FFF2-40B4-BE49-F238E27FC236}">
                <a16:creationId xmlns:a16="http://schemas.microsoft.com/office/drawing/2014/main" id="{6B215556-F2B3-0889-24B3-08F34C11DB44}"/>
              </a:ext>
            </a:extLst>
          </p:cNvPr>
          <p:cNvSpPr/>
          <p:nvPr/>
        </p:nvSpPr>
        <p:spPr>
          <a:xfrm>
            <a:off x="6096000" y="2194560"/>
            <a:ext cx="304800" cy="0"/>
          </a:xfrm>
          <a:prstGeom prst="line">
            <a:avLst/>
          </a:prstGeom>
          <a:noFill/>
          <a:ln w="19050">
            <a:solidFill>
              <a:srgbClr val="D3D1C7"/>
            </a:solidFill>
            <a:prstDash val="solid"/>
          </a:ln>
        </p:spPr>
      </p:sp>
      <p:sp>
        <p:nvSpPr>
          <p:cNvPr id="25" name="Shape 10">
            <a:extLst>
              <a:ext uri="{FF2B5EF4-FFF2-40B4-BE49-F238E27FC236}">
                <a16:creationId xmlns:a16="http://schemas.microsoft.com/office/drawing/2014/main" id="{03D1133B-6A64-8E88-0F06-213EEB1CB732}"/>
              </a:ext>
            </a:extLst>
          </p:cNvPr>
          <p:cNvSpPr/>
          <p:nvPr/>
        </p:nvSpPr>
        <p:spPr>
          <a:xfrm>
            <a:off x="6400800" y="1645920"/>
            <a:ext cx="2560320" cy="1097280"/>
          </a:xfrm>
          <a:prstGeom prst="rect">
            <a:avLst/>
          </a:prstGeom>
          <a:solidFill>
            <a:srgbClr val="378ADD"/>
          </a:solidFill>
          <a:ln w="12700">
            <a:solidFill>
              <a:srgbClr val="378ADD"/>
            </a:solidFill>
            <a:prstDash val="solid"/>
          </a:ln>
        </p:spPr>
      </p:sp>
      <p:sp>
        <p:nvSpPr>
          <p:cNvPr id="27" name="Text 11">
            <a:extLst>
              <a:ext uri="{FF2B5EF4-FFF2-40B4-BE49-F238E27FC236}">
                <a16:creationId xmlns:a16="http://schemas.microsoft.com/office/drawing/2014/main" id="{4789D760-E74C-D592-4133-091FC466582B}"/>
              </a:ext>
            </a:extLst>
          </p:cNvPr>
          <p:cNvSpPr/>
          <p:nvPr/>
        </p:nvSpPr>
        <p:spPr>
          <a:xfrm>
            <a:off x="6498336" y="1731264"/>
            <a:ext cx="2365248"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Nephron damage</a:t>
            </a:r>
            <a:endParaRPr lang="en-US" sz="1600" dirty="0">
              <a:latin typeface="Times New Roman" panose="02020603050405020304" pitchFamily="18" charset="0"/>
              <a:cs typeface="Times New Roman" panose="02020603050405020304" pitchFamily="18" charset="0"/>
            </a:endParaRPr>
          </a:p>
        </p:txBody>
      </p:sp>
      <p:sp>
        <p:nvSpPr>
          <p:cNvPr id="29" name="Text 12">
            <a:extLst>
              <a:ext uri="{FF2B5EF4-FFF2-40B4-BE49-F238E27FC236}">
                <a16:creationId xmlns:a16="http://schemas.microsoft.com/office/drawing/2014/main" id="{C3578AFC-2A45-7350-5F39-6F5361E701F8}"/>
              </a:ext>
            </a:extLst>
          </p:cNvPr>
          <p:cNvSpPr/>
          <p:nvPr/>
        </p:nvSpPr>
        <p:spPr>
          <a:xfrm>
            <a:off x="6498336" y="2157984"/>
            <a:ext cx="2365248"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333" dirty="0">
                <a:solidFill>
                  <a:srgbClr val="B5D4F4"/>
                </a:solidFill>
                <a:latin typeface="Times New Roman" panose="02020603050405020304" pitchFamily="18" charset="0"/>
                <a:ea typeface="Calibri" pitchFamily="34" charset="-122"/>
                <a:cs typeface="Times New Roman" panose="02020603050405020304" pitchFamily="18" charset="0"/>
              </a:rPr>
              <a:t>Progressive GFR decline</a:t>
            </a:r>
            <a:endParaRPr lang="en-US" sz="1333" dirty="0">
              <a:latin typeface="Times New Roman" panose="02020603050405020304" pitchFamily="18" charset="0"/>
              <a:cs typeface="Times New Roman" panose="02020603050405020304" pitchFamily="18" charset="0"/>
            </a:endParaRPr>
          </a:p>
        </p:txBody>
      </p:sp>
      <p:sp>
        <p:nvSpPr>
          <p:cNvPr id="31" name="Shape 13">
            <a:extLst>
              <a:ext uri="{FF2B5EF4-FFF2-40B4-BE49-F238E27FC236}">
                <a16:creationId xmlns:a16="http://schemas.microsoft.com/office/drawing/2014/main" id="{031B26A8-4EB5-C71D-8651-7263297B8AC1}"/>
              </a:ext>
            </a:extLst>
          </p:cNvPr>
          <p:cNvSpPr/>
          <p:nvPr/>
        </p:nvSpPr>
        <p:spPr>
          <a:xfrm>
            <a:off x="8961120" y="2194560"/>
            <a:ext cx="304800" cy="0"/>
          </a:xfrm>
          <a:prstGeom prst="line">
            <a:avLst/>
          </a:prstGeom>
          <a:noFill/>
          <a:ln w="19050">
            <a:solidFill>
              <a:srgbClr val="D3D1C7"/>
            </a:solidFill>
            <a:prstDash val="solid"/>
          </a:ln>
        </p:spPr>
      </p:sp>
      <p:sp>
        <p:nvSpPr>
          <p:cNvPr id="33" name="Shape 14">
            <a:extLst>
              <a:ext uri="{FF2B5EF4-FFF2-40B4-BE49-F238E27FC236}">
                <a16:creationId xmlns:a16="http://schemas.microsoft.com/office/drawing/2014/main" id="{50026940-AEAA-9AB9-0654-ACB1508D6537}"/>
              </a:ext>
            </a:extLst>
          </p:cNvPr>
          <p:cNvSpPr/>
          <p:nvPr/>
        </p:nvSpPr>
        <p:spPr>
          <a:xfrm>
            <a:off x="9265920" y="1645920"/>
            <a:ext cx="2560320" cy="1097280"/>
          </a:xfrm>
          <a:prstGeom prst="rect">
            <a:avLst/>
          </a:prstGeom>
          <a:solidFill>
            <a:srgbClr val="185FA5"/>
          </a:solidFill>
          <a:ln w="12700">
            <a:solidFill>
              <a:srgbClr val="185FA5"/>
            </a:solidFill>
            <a:prstDash val="solid"/>
          </a:ln>
        </p:spPr>
      </p:sp>
      <p:sp>
        <p:nvSpPr>
          <p:cNvPr id="35" name="Text 15">
            <a:extLst>
              <a:ext uri="{FF2B5EF4-FFF2-40B4-BE49-F238E27FC236}">
                <a16:creationId xmlns:a16="http://schemas.microsoft.com/office/drawing/2014/main" id="{A5A1BE31-63D1-ADA9-9D34-DD3105A7F753}"/>
              </a:ext>
            </a:extLst>
          </p:cNvPr>
          <p:cNvSpPr/>
          <p:nvPr/>
        </p:nvSpPr>
        <p:spPr>
          <a:xfrm>
            <a:off x="9363456" y="1731264"/>
            <a:ext cx="2365248" cy="4267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ESRD / dialysis</a:t>
            </a:r>
            <a:endParaRPr lang="en-US" sz="1600" dirty="0">
              <a:latin typeface="Times New Roman" panose="02020603050405020304" pitchFamily="18" charset="0"/>
              <a:cs typeface="Times New Roman" panose="02020603050405020304" pitchFamily="18" charset="0"/>
            </a:endParaRPr>
          </a:p>
        </p:txBody>
      </p:sp>
      <p:sp>
        <p:nvSpPr>
          <p:cNvPr id="37" name="Text 16">
            <a:extLst>
              <a:ext uri="{FF2B5EF4-FFF2-40B4-BE49-F238E27FC236}">
                <a16:creationId xmlns:a16="http://schemas.microsoft.com/office/drawing/2014/main" id="{E6A0DA25-539C-9E4B-1C02-F3BCE7833A0F}"/>
              </a:ext>
            </a:extLst>
          </p:cNvPr>
          <p:cNvSpPr/>
          <p:nvPr/>
        </p:nvSpPr>
        <p:spPr>
          <a:xfrm>
            <a:off x="9363456" y="2157984"/>
            <a:ext cx="2365248" cy="341376"/>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333" dirty="0">
                <a:solidFill>
                  <a:srgbClr val="B5D4F4"/>
                </a:solidFill>
                <a:latin typeface="Times New Roman" panose="02020603050405020304" pitchFamily="18" charset="0"/>
                <a:ea typeface="Calibri" pitchFamily="34" charset="-122"/>
                <a:cs typeface="Times New Roman" panose="02020603050405020304" pitchFamily="18" charset="0"/>
              </a:rPr>
              <a:t>Costly, life-altering</a:t>
            </a:r>
            <a:endParaRPr lang="en-US" sz="1333" dirty="0">
              <a:latin typeface="Times New Roman" panose="02020603050405020304" pitchFamily="18" charset="0"/>
              <a:cs typeface="Times New Roman" panose="02020603050405020304" pitchFamily="18" charset="0"/>
            </a:endParaRPr>
          </a:p>
        </p:txBody>
      </p:sp>
      <p:sp>
        <p:nvSpPr>
          <p:cNvPr id="39" name="Shape 17">
            <a:extLst>
              <a:ext uri="{FF2B5EF4-FFF2-40B4-BE49-F238E27FC236}">
                <a16:creationId xmlns:a16="http://schemas.microsoft.com/office/drawing/2014/main" id="{360CF50B-BDD7-9710-EC93-E24CB9BC719B}"/>
              </a:ext>
            </a:extLst>
          </p:cNvPr>
          <p:cNvSpPr/>
          <p:nvPr/>
        </p:nvSpPr>
        <p:spPr>
          <a:xfrm>
            <a:off x="548640" y="3108960"/>
            <a:ext cx="3657600" cy="2011680"/>
          </a:xfrm>
          <a:prstGeom prst="rect">
            <a:avLst/>
          </a:prstGeom>
          <a:solidFill>
            <a:srgbClr val="0C2A42"/>
          </a:solidFill>
          <a:ln w="12700">
            <a:solidFill>
              <a:srgbClr val="378ADD"/>
            </a:solidFill>
            <a:prstDash val="solid"/>
          </a:ln>
        </p:spPr>
      </p:sp>
      <p:sp>
        <p:nvSpPr>
          <p:cNvPr id="41" name="Text 18">
            <a:extLst>
              <a:ext uri="{FF2B5EF4-FFF2-40B4-BE49-F238E27FC236}">
                <a16:creationId xmlns:a16="http://schemas.microsoft.com/office/drawing/2014/main" id="{34C7732B-574F-B2F8-7D11-F61963B31C90}"/>
              </a:ext>
            </a:extLst>
          </p:cNvPr>
          <p:cNvSpPr/>
          <p:nvPr/>
        </p:nvSpPr>
        <p:spPr>
          <a:xfrm>
            <a:off x="731520" y="3230880"/>
            <a:ext cx="3291840" cy="39014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378ADD"/>
                </a:solidFill>
                <a:latin typeface="Times New Roman" panose="02020603050405020304" pitchFamily="18" charset="0"/>
                <a:ea typeface="Calibri" pitchFamily="34" charset="-122"/>
                <a:cs typeface="Times New Roman" panose="02020603050405020304" pitchFamily="18" charset="0"/>
              </a:rPr>
              <a:t>Clinical care access</a:t>
            </a:r>
            <a:endParaRPr lang="en-US" sz="1600" dirty="0">
              <a:latin typeface="Times New Roman" panose="02020603050405020304" pitchFamily="18" charset="0"/>
              <a:cs typeface="Times New Roman" panose="02020603050405020304" pitchFamily="18" charset="0"/>
            </a:endParaRPr>
          </a:p>
        </p:txBody>
      </p:sp>
      <p:sp>
        <p:nvSpPr>
          <p:cNvPr id="43" name="Text 19">
            <a:extLst>
              <a:ext uri="{FF2B5EF4-FFF2-40B4-BE49-F238E27FC236}">
                <a16:creationId xmlns:a16="http://schemas.microsoft.com/office/drawing/2014/main" id="{94E83DD1-B641-D704-3E0F-DD0BC56A1D5D}"/>
              </a:ext>
            </a:extLst>
          </p:cNvPr>
          <p:cNvSpPr/>
          <p:nvPr/>
        </p:nvSpPr>
        <p:spPr>
          <a:xfrm>
            <a:off x="731520" y="3633216"/>
            <a:ext cx="3291840" cy="13411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dirty="0">
                <a:solidFill>
                  <a:srgbClr val="B5D4F4"/>
                </a:solidFill>
                <a:latin typeface="Times New Roman" panose="02020603050405020304" pitchFamily="18" charset="0"/>
                <a:ea typeface="Calibri" pitchFamily="34" charset="-122"/>
                <a:cs typeface="Times New Roman" panose="02020603050405020304" pitchFamily="18" charset="0"/>
              </a:rPr>
              <a:t>Insurance and nephrology follow-up determine whether CKD is caught early or progresses to ESRD.</a:t>
            </a:r>
            <a:endParaRPr lang="en-US" sz="1467" dirty="0">
              <a:latin typeface="Times New Roman" panose="02020603050405020304" pitchFamily="18" charset="0"/>
              <a:cs typeface="Times New Roman" panose="02020603050405020304" pitchFamily="18" charset="0"/>
            </a:endParaRPr>
          </a:p>
        </p:txBody>
      </p:sp>
      <p:sp>
        <p:nvSpPr>
          <p:cNvPr id="45" name="Shape 20">
            <a:extLst>
              <a:ext uri="{FF2B5EF4-FFF2-40B4-BE49-F238E27FC236}">
                <a16:creationId xmlns:a16="http://schemas.microsoft.com/office/drawing/2014/main" id="{024DD2AA-26F9-70FD-6BC0-FCC9D0765E56}"/>
              </a:ext>
            </a:extLst>
          </p:cNvPr>
          <p:cNvSpPr/>
          <p:nvPr/>
        </p:nvSpPr>
        <p:spPr>
          <a:xfrm>
            <a:off x="4450080" y="3108960"/>
            <a:ext cx="3657600" cy="2011680"/>
          </a:xfrm>
          <a:prstGeom prst="rect">
            <a:avLst/>
          </a:prstGeom>
          <a:solidFill>
            <a:srgbClr val="0C2A42"/>
          </a:solidFill>
          <a:ln w="12700">
            <a:solidFill>
              <a:srgbClr val="378ADD"/>
            </a:solidFill>
            <a:prstDash val="solid"/>
          </a:ln>
        </p:spPr>
      </p:sp>
      <p:sp>
        <p:nvSpPr>
          <p:cNvPr id="47" name="Text 21">
            <a:extLst>
              <a:ext uri="{FF2B5EF4-FFF2-40B4-BE49-F238E27FC236}">
                <a16:creationId xmlns:a16="http://schemas.microsoft.com/office/drawing/2014/main" id="{7EE5EEFA-C9B7-E5C4-8F4A-B1AD53D0638D}"/>
              </a:ext>
            </a:extLst>
          </p:cNvPr>
          <p:cNvSpPr/>
          <p:nvPr/>
        </p:nvSpPr>
        <p:spPr>
          <a:xfrm>
            <a:off x="4632960" y="3230880"/>
            <a:ext cx="3291840" cy="39014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378ADD"/>
                </a:solidFill>
                <a:latin typeface="Times New Roman" panose="02020603050405020304" pitchFamily="18" charset="0"/>
                <a:ea typeface="Calibri" pitchFamily="34" charset="-122"/>
                <a:cs typeface="Times New Roman" panose="02020603050405020304" pitchFamily="18" charset="0"/>
              </a:rPr>
              <a:t>Social &amp; economic factors</a:t>
            </a:r>
            <a:endParaRPr lang="en-US" sz="1600" dirty="0">
              <a:latin typeface="Times New Roman" panose="02020603050405020304" pitchFamily="18" charset="0"/>
              <a:cs typeface="Times New Roman" panose="02020603050405020304" pitchFamily="18" charset="0"/>
            </a:endParaRPr>
          </a:p>
        </p:txBody>
      </p:sp>
      <p:sp>
        <p:nvSpPr>
          <p:cNvPr id="49" name="Text 22">
            <a:extLst>
              <a:ext uri="{FF2B5EF4-FFF2-40B4-BE49-F238E27FC236}">
                <a16:creationId xmlns:a16="http://schemas.microsoft.com/office/drawing/2014/main" id="{42F07005-02BA-D933-FEC6-23852DE95898}"/>
              </a:ext>
            </a:extLst>
          </p:cNvPr>
          <p:cNvSpPr/>
          <p:nvPr/>
        </p:nvSpPr>
        <p:spPr>
          <a:xfrm>
            <a:off x="4632960" y="3633216"/>
            <a:ext cx="3291840" cy="13411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dirty="0">
                <a:solidFill>
                  <a:srgbClr val="B5D4F4"/>
                </a:solidFill>
                <a:latin typeface="Times New Roman" panose="02020603050405020304" pitchFamily="18" charset="0"/>
                <a:ea typeface="Calibri" pitchFamily="34" charset="-122"/>
                <a:cs typeface="Times New Roman" panose="02020603050405020304" pitchFamily="18" charset="0"/>
              </a:rPr>
              <a:t>Ability to afford renal diets, ACE inhibitors, and transportation to dialysis depends on income and education.</a:t>
            </a:r>
            <a:endParaRPr lang="en-US" sz="1467" dirty="0">
              <a:latin typeface="Times New Roman" panose="02020603050405020304" pitchFamily="18" charset="0"/>
              <a:cs typeface="Times New Roman" panose="02020603050405020304" pitchFamily="18" charset="0"/>
            </a:endParaRPr>
          </a:p>
        </p:txBody>
      </p:sp>
      <p:sp>
        <p:nvSpPr>
          <p:cNvPr id="51" name="Shape 23">
            <a:extLst>
              <a:ext uri="{FF2B5EF4-FFF2-40B4-BE49-F238E27FC236}">
                <a16:creationId xmlns:a16="http://schemas.microsoft.com/office/drawing/2014/main" id="{97B62789-C199-AD1B-AB7B-57A5C344D1FF}"/>
              </a:ext>
            </a:extLst>
          </p:cNvPr>
          <p:cNvSpPr/>
          <p:nvPr/>
        </p:nvSpPr>
        <p:spPr>
          <a:xfrm>
            <a:off x="8351520" y="3108960"/>
            <a:ext cx="3657600" cy="2011680"/>
          </a:xfrm>
          <a:prstGeom prst="rect">
            <a:avLst/>
          </a:prstGeom>
          <a:solidFill>
            <a:srgbClr val="0C2A42"/>
          </a:solidFill>
          <a:ln w="12700">
            <a:solidFill>
              <a:srgbClr val="378ADD"/>
            </a:solidFill>
            <a:prstDash val="solid"/>
          </a:ln>
        </p:spPr>
      </p:sp>
      <p:sp>
        <p:nvSpPr>
          <p:cNvPr id="53" name="Text 24">
            <a:extLst>
              <a:ext uri="{FF2B5EF4-FFF2-40B4-BE49-F238E27FC236}">
                <a16:creationId xmlns:a16="http://schemas.microsoft.com/office/drawing/2014/main" id="{356FECAF-08FF-8773-AC31-B68FABC846FC}"/>
              </a:ext>
            </a:extLst>
          </p:cNvPr>
          <p:cNvSpPr/>
          <p:nvPr/>
        </p:nvSpPr>
        <p:spPr>
          <a:xfrm>
            <a:off x="8534400" y="3230880"/>
            <a:ext cx="3291840" cy="390144"/>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600" b="1" dirty="0">
                <a:solidFill>
                  <a:srgbClr val="378ADD"/>
                </a:solidFill>
                <a:latin typeface="Times New Roman" panose="02020603050405020304" pitchFamily="18" charset="0"/>
                <a:ea typeface="Calibri" pitchFamily="34" charset="-122"/>
                <a:cs typeface="Times New Roman" panose="02020603050405020304" pitchFamily="18" charset="0"/>
              </a:rPr>
              <a:t>Physical environment</a:t>
            </a:r>
            <a:endParaRPr lang="en-US" sz="1600" dirty="0">
              <a:latin typeface="Times New Roman" panose="02020603050405020304" pitchFamily="18" charset="0"/>
              <a:cs typeface="Times New Roman" panose="02020603050405020304" pitchFamily="18" charset="0"/>
            </a:endParaRPr>
          </a:p>
        </p:txBody>
      </p:sp>
      <p:sp>
        <p:nvSpPr>
          <p:cNvPr id="55" name="Text 25">
            <a:extLst>
              <a:ext uri="{FF2B5EF4-FFF2-40B4-BE49-F238E27FC236}">
                <a16:creationId xmlns:a16="http://schemas.microsoft.com/office/drawing/2014/main" id="{6E0FD9C4-2493-118A-22FF-FC81A54CCAA9}"/>
              </a:ext>
            </a:extLst>
          </p:cNvPr>
          <p:cNvSpPr/>
          <p:nvPr/>
        </p:nvSpPr>
        <p:spPr>
          <a:xfrm>
            <a:off x="8534400" y="3633216"/>
            <a:ext cx="3291840" cy="134112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US" sz="1467" dirty="0">
                <a:solidFill>
                  <a:srgbClr val="B5D4F4"/>
                </a:solidFill>
                <a:latin typeface="Times New Roman" panose="02020603050405020304" pitchFamily="18" charset="0"/>
                <a:ea typeface="Calibri" pitchFamily="34" charset="-122"/>
                <a:cs typeface="Times New Roman" panose="02020603050405020304" pitchFamily="18" charset="0"/>
              </a:rPr>
              <a:t>Walkable neighborhoods, air quality, and housing conditions shape metabolic risk upstream of CKD.</a:t>
            </a:r>
            <a:endParaRPr lang="en-US" sz="1467" dirty="0">
              <a:latin typeface="Times New Roman" panose="02020603050405020304" pitchFamily="18" charset="0"/>
              <a:cs typeface="Times New Roman" panose="02020603050405020304" pitchFamily="18" charset="0"/>
            </a:endParaRPr>
          </a:p>
        </p:txBody>
      </p:sp>
      <p:sp>
        <p:nvSpPr>
          <p:cNvPr id="57" name="Text 26">
            <a:extLst>
              <a:ext uri="{FF2B5EF4-FFF2-40B4-BE49-F238E27FC236}">
                <a16:creationId xmlns:a16="http://schemas.microsoft.com/office/drawing/2014/main" id="{079C7271-EB1E-0EAF-9BC1-4F2E2A318BF5}"/>
              </a:ext>
            </a:extLst>
          </p:cNvPr>
          <p:cNvSpPr/>
          <p:nvPr/>
        </p:nvSpPr>
        <p:spPr>
          <a:xfrm>
            <a:off x="548640" y="5425440"/>
            <a:ext cx="11094720" cy="548640"/>
          </a:xfrm>
          <a:prstGeom prst="rect">
            <a:avLst/>
          </a:prstGeom>
          <a:no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lgn="ctr">
              <a:buNone/>
            </a:pPr>
            <a:r>
              <a:rPr lang="en-US" sz="1600" i="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Calibri" pitchFamily="34" charset="-122"/>
                <a:cs typeface="Times New Roman" panose="02020603050405020304" pitchFamily="18" charset="0"/>
              </a:rPr>
              <a:t>The Chester (#1) vs Philadelphia (#67) gap makes the full CKD cascade visible at the county level.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362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415600" y="907724"/>
            <a:ext cx="113608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09585" lvl="0" indent="-474121" algn="l" rtl="0">
              <a:lnSpc>
                <a:spcPct val="115000"/>
              </a:lnSpc>
              <a:spcBef>
                <a:spcPts val="0"/>
              </a:spcBef>
              <a:spcAft>
                <a:spcPts val="0"/>
              </a:spcAft>
              <a:buClr>
                <a:schemeClr val="dk2"/>
              </a:buClr>
              <a:buSzPts val="2000"/>
              <a:buAutoNum type="arabicPeriod"/>
            </a:pPr>
            <a:r>
              <a:rPr lang="en" sz="2667">
                <a:solidFill>
                  <a:schemeClr val="dk2"/>
                </a:solidFill>
                <a:highlight>
                  <a:schemeClr val="lt1"/>
                </a:highlight>
              </a:rPr>
              <a:t>National Chronic Kidney Disease Surveillance System (CDC)</a:t>
            </a:r>
            <a:endParaRPr sz="2667">
              <a:solidFill>
                <a:schemeClr val="dk2"/>
              </a:solidFill>
              <a:highlight>
                <a:schemeClr val="lt1"/>
              </a:highlight>
            </a:endParaRPr>
          </a:p>
          <a:p>
            <a:pPr marL="0" lvl="0" indent="0" algn="l" rtl="0">
              <a:spcBef>
                <a:spcPts val="667"/>
              </a:spcBef>
              <a:spcAft>
                <a:spcPts val="0"/>
              </a:spcAft>
              <a:buNone/>
            </a:pPr>
            <a:endParaRPr/>
          </a:p>
        </p:txBody>
      </p:sp>
      <p:sp>
        <p:nvSpPr>
          <p:cNvPr id="77" name="Google Shape;77;p16"/>
          <p:cNvSpPr txBox="1">
            <a:spLocks noGrp="1"/>
          </p:cNvSpPr>
          <p:nvPr>
            <p:ph type="body" idx="1"/>
          </p:nvPr>
        </p:nvSpPr>
        <p:spPr>
          <a:xfrm>
            <a:off x="415600" y="1536633"/>
            <a:ext cx="11534000" cy="5096400"/>
          </a:xfrm>
          <a:prstGeom prst="rect">
            <a:avLst/>
          </a:prstGeom>
        </p:spPr>
        <p:txBody>
          <a:bodyPr spcFirstLastPara="1" wrap="square" lIns="121900" tIns="121900" rIns="121900" bIns="121900"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2933">
                <a:latin typeface="Times New Roman"/>
                <a:ea typeface="Times New Roman"/>
                <a:cs typeface="Times New Roman"/>
                <a:sym typeface="Times New Roman"/>
              </a:rPr>
              <a:t>CDC is A data-driven public health surveillance system developed by the Centers for Disease Control and Prevention that tracks:</a:t>
            </a:r>
            <a:endParaRPr sz="2933">
              <a:latin typeface="Times New Roman"/>
              <a:ea typeface="Times New Roman"/>
              <a:cs typeface="Times New Roman"/>
              <a:sym typeface="Times New Roman"/>
            </a:endParaRPr>
          </a:p>
          <a:p>
            <a:pPr marL="609585" lvl="0" indent="-421207" algn="l" rtl="0">
              <a:lnSpc>
                <a:spcPct val="115000"/>
              </a:lnSpc>
              <a:spcBef>
                <a:spcPts val="1600"/>
              </a:spcBef>
              <a:spcAft>
                <a:spcPts val="0"/>
              </a:spcAft>
              <a:buSzPct val="100000"/>
              <a:buFont typeface="Times New Roman"/>
              <a:buChar char="●"/>
            </a:pPr>
            <a:r>
              <a:rPr lang="en" sz="2933">
                <a:latin typeface="Times New Roman"/>
                <a:ea typeface="Times New Roman"/>
                <a:cs typeface="Times New Roman"/>
                <a:sym typeface="Times New Roman"/>
              </a:rPr>
              <a:t>CKD prevalence, risk factors (HTN, diabetes)</a:t>
            </a:r>
            <a:endParaRPr sz="2933">
              <a:latin typeface="Times New Roman"/>
              <a:ea typeface="Times New Roman"/>
              <a:cs typeface="Times New Roman"/>
              <a:sym typeface="Times New Roman"/>
            </a:endParaRPr>
          </a:p>
          <a:p>
            <a:pPr marL="609585" lvl="0" indent="-421207" algn="l" rtl="0">
              <a:lnSpc>
                <a:spcPct val="115000"/>
              </a:lnSpc>
              <a:spcBef>
                <a:spcPts val="0"/>
              </a:spcBef>
              <a:spcAft>
                <a:spcPts val="0"/>
              </a:spcAft>
              <a:buSzPct val="100000"/>
              <a:buFont typeface="Times New Roman"/>
              <a:buChar char="●"/>
            </a:pPr>
            <a:r>
              <a:rPr lang="en" sz="2933">
                <a:latin typeface="Times New Roman"/>
                <a:ea typeface="Times New Roman"/>
                <a:cs typeface="Times New Roman"/>
                <a:sym typeface="Times New Roman"/>
              </a:rPr>
              <a:t>Disease progression</a:t>
            </a:r>
            <a:endParaRPr sz="2933">
              <a:latin typeface="Times New Roman"/>
              <a:ea typeface="Times New Roman"/>
              <a:cs typeface="Times New Roman"/>
              <a:sym typeface="Times New Roman"/>
            </a:endParaRPr>
          </a:p>
          <a:p>
            <a:pPr marL="609585" lvl="0" indent="-421207" algn="l" rtl="0">
              <a:lnSpc>
                <a:spcPct val="115000"/>
              </a:lnSpc>
              <a:spcBef>
                <a:spcPts val="0"/>
              </a:spcBef>
              <a:spcAft>
                <a:spcPts val="0"/>
              </a:spcAft>
              <a:buSzPct val="100000"/>
              <a:buFont typeface="Times New Roman"/>
              <a:buChar char="●"/>
            </a:pPr>
            <a:r>
              <a:rPr lang="en" sz="2933">
                <a:latin typeface="Times New Roman"/>
                <a:ea typeface="Times New Roman"/>
                <a:cs typeface="Times New Roman"/>
                <a:sym typeface="Times New Roman"/>
              </a:rPr>
              <a:t>Healthcare utilization and outcomes</a:t>
            </a:r>
            <a:endParaRPr sz="2933">
              <a:latin typeface="Times New Roman"/>
              <a:ea typeface="Times New Roman"/>
              <a:cs typeface="Times New Roman"/>
              <a:sym typeface="Times New Roman"/>
            </a:endParaRPr>
          </a:p>
          <a:p>
            <a:pPr marL="0" lvl="0" indent="0" algn="l" rtl="0">
              <a:lnSpc>
                <a:spcPct val="115000"/>
              </a:lnSpc>
              <a:spcBef>
                <a:spcPts val="1600"/>
              </a:spcBef>
              <a:spcAft>
                <a:spcPts val="0"/>
              </a:spcAft>
              <a:buNone/>
            </a:pPr>
            <a:r>
              <a:rPr lang="en" sz="2933">
                <a:latin typeface="Times New Roman"/>
                <a:ea typeface="Times New Roman"/>
                <a:cs typeface="Times New Roman"/>
                <a:sym typeface="Times New Roman"/>
              </a:rPr>
              <a:t>Purpose: This initiative collects and analyzes national data on chronic kidney disease in the United States. The data help track CKD prevalence, risk factors such as diabetes and hypertension, and outcomes across different populations</a:t>
            </a:r>
            <a:endParaRPr sz="2933">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2933">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ct val="50000"/>
              <a:buFont typeface="Arial"/>
              <a:buNone/>
            </a:pPr>
            <a:r>
              <a:rPr lang="en" sz="2933">
                <a:latin typeface="Times New Roman"/>
                <a:ea typeface="Times New Roman"/>
                <a:cs typeface="Times New Roman"/>
                <a:sym typeface="Times New Roman"/>
              </a:rPr>
              <a:t>Mission: Improve early detection of CKD, Reduce disease burden through population-level awareness and policy guidance, Support clinicians and systems in targeting high-risk groups</a:t>
            </a:r>
            <a:endParaRPr sz="2933">
              <a:latin typeface="Times New Roman"/>
              <a:ea typeface="Times New Roman"/>
              <a:cs typeface="Times New Roman"/>
              <a:sym typeface="Times New Roman"/>
            </a:endParaRPr>
          </a:p>
          <a:p>
            <a:pPr marL="609585" lvl="0" indent="-421207" algn="l" rtl="0">
              <a:lnSpc>
                <a:spcPct val="115000"/>
              </a:lnSpc>
              <a:spcBef>
                <a:spcPts val="0"/>
              </a:spcBef>
              <a:spcAft>
                <a:spcPts val="0"/>
              </a:spcAft>
              <a:buSzPct val="100000"/>
              <a:buFont typeface="Times New Roman"/>
              <a:buChar char="●"/>
            </a:pPr>
            <a:r>
              <a:rPr lang="en" sz="2933">
                <a:latin typeface="Times New Roman"/>
                <a:ea typeface="Times New Roman"/>
                <a:cs typeface="Times New Roman"/>
                <a:sym typeface="Times New Roman"/>
              </a:rPr>
              <a:t>Aggregates national and state-level data (Medicare, VA, registries)</a:t>
            </a:r>
            <a:endParaRPr sz="2933">
              <a:latin typeface="Times New Roman"/>
              <a:ea typeface="Times New Roman"/>
              <a:cs typeface="Times New Roman"/>
              <a:sym typeface="Times New Roman"/>
            </a:endParaRPr>
          </a:p>
          <a:p>
            <a:pPr marL="609585" lvl="0" indent="-421207" algn="l" rtl="0">
              <a:lnSpc>
                <a:spcPct val="115000"/>
              </a:lnSpc>
              <a:spcBef>
                <a:spcPts val="0"/>
              </a:spcBef>
              <a:spcAft>
                <a:spcPts val="0"/>
              </a:spcAft>
              <a:buSzPct val="100000"/>
              <a:buFont typeface="Times New Roman"/>
              <a:buChar char="●"/>
            </a:pPr>
            <a:r>
              <a:rPr lang="en" sz="2933">
                <a:latin typeface="Times New Roman"/>
                <a:ea typeface="Times New Roman"/>
                <a:cs typeface="Times New Roman"/>
                <a:sym typeface="Times New Roman"/>
              </a:rPr>
              <a:t>Identifies high-risk populations and geographic disparities</a:t>
            </a:r>
            <a:endParaRPr sz="2933">
              <a:latin typeface="Times New Roman"/>
              <a:ea typeface="Times New Roman"/>
              <a:cs typeface="Times New Roman"/>
              <a:sym typeface="Times New Roman"/>
            </a:endParaRPr>
          </a:p>
          <a:p>
            <a:pPr marL="609585" lvl="0" indent="-421207" algn="l" rtl="0">
              <a:lnSpc>
                <a:spcPct val="115000"/>
              </a:lnSpc>
              <a:spcBef>
                <a:spcPts val="0"/>
              </a:spcBef>
              <a:spcAft>
                <a:spcPts val="0"/>
              </a:spcAft>
              <a:buSzPct val="100000"/>
              <a:buFont typeface="Times New Roman"/>
              <a:buChar char="●"/>
            </a:pPr>
            <a:r>
              <a:rPr lang="en" sz="2933">
                <a:latin typeface="Times New Roman"/>
                <a:ea typeface="Times New Roman"/>
                <a:cs typeface="Times New Roman"/>
                <a:sym typeface="Times New Roman"/>
              </a:rPr>
              <a:t>Informs screening guidelines and resource allocation</a:t>
            </a:r>
            <a:endParaRPr sz="2933">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15600" y="932872"/>
            <a:ext cx="113608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09585" lvl="0" indent="-474121" algn="l" rtl="0">
              <a:lnSpc>
                <a:spcPct val="115000"/>
              </a:lnSpc>
              <a:spcBef>
                <a:spcPts val="0"/>
              </a:spcBef>
              <a:spcAft>
                <a:spcPts val="0"/>
              </a:spcAft>
              <a:buClr>
                <a:schemeClr val="dk2"/>
              </a:buClr>
              <a:buSzPts val="2000"/>
              <a:buAutoNum type="arabicPeriod"/>
            </a:pPr>
            <a:r>
              <a:rPr lang="en" sz="2667">
                <a:solidFill>
                  <a:schemeClr val="dk2"/>
                </a:solidFill>
                <a:highlight>
                  <a:schemeClr val="lt1"/>
                </a:highlight>
              </a:rPr>
              <a:t>National Chronic Kidney Disease Surveillance System (CDC)</a:t>
            </a:r>
            <a:endParaRPr sz="2667">
              <a:solidFill>
                <a:schemeClr val="dk2"/>
              </a:solidFill>
              <a:highlight>
                <a:schemeClr val="lt1"/>
              </a:highlight>
            </a:endParaRPr>
          </a:p>
          <a:p>
            <a:pPr marL="0" lvl="0" indent="0" algn="l" rtl="0">
              <a:spcBef>
                <a:spcPts val="667"/>
              </a:spcBef>
              <a:spcAft>
                <a:spcPts val="0"/>
              </a:spcAft>
              <a:buNone/>
            </a:pPr>
            <a:endParaRPr/>
          </a:p>
        </p:txBody>
      </p:sp>
      <p:sp>
        <p:nvSpPr>
          <p:cNvPr id="83" name="Google Shape;83;p17"/>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1867"/>
              <a:t>Level of prevention: Secondary</a:t>
            </a:r>
            <a:endParaRPr sz="1867"/>
          </a:p>
          <a:p>
            <a:pPr marL="609585" lvl="0" indent="-414434" algn="l" rtl="0">
              <a:lnSpc>
                <a:spcPct val="115000"/>
              </a:lnSpc>
              <a:spcBef>
                <a:spcPts val="0"/>
              </a:spcBef>
              <a:spcAft>
                <a:spcPts val="0"/>
              </a:spcAft>
              <a:buSzPct val="100000"/>
              <a:buChar char="●"/>
            </a:pPr>
            <a:r>
              <a:rPr lang="en" sz="1867"/>
              <a:t>Focuses on early detection and monitoring </a:t>
            </a:r>
            <a:endParaRPr sz="1867"/>
          </a:p>
          <a:p>
            <a:pPr marL="609585" lvl="0" indent="-414434" algn="l" rtl="0">
              <a:lnSpc>
                <a:spcPct val="115000"/>
              </a:lnSpc>
              <a:spcBef>
                <a:spcPts val="0"/>
              </a:spcBef>
              <a:spcAft>
                <a:spcPts val="0"/>
              </a:spcAft>
              <a:buSzPct val="100000"/>
              <a:buChar char="●"/>
            </a:pPr>
            <a:r>
              <a:rPr lang="en" sz="1867"/>
              <a:t>Helps guide screening (e.g., eGFR, urine albumin testing)</a:t>
            </a:r>
            <a:endParaRPr sz="1867"/>
          </a:p>
          <a:p>
            <a:pPr marL="0" lvl="0" indent="0" algn="l" rtl="0">
              <a:lnSpc>
                <a:spcPct val="115000"/>
              </a:lnSpc>
              <a:spcBef>
                <a:spcPts val="0"/>
              </a:spcBef>
              <a:spcAft>
                <a:spcPts val="0"/>
              </a:spcAft>
              <a:buNone/>
            </a:pPr>
            <a:endParaRPr sz="1867"/>
          </a:p>
          <a:p>
            <a:pPr marL="0" lvl="0" indent="0" algn="l" rtl="0">
              <a:lnSpc>
                <a:spcPct val="115000"/>
              </a:lnSpc>
              <a:spcBef>
                <a:spcPts val="0"/>
              </a:spcBef>
              <a:spcAft>
                <a:spcPts val="0"/>
              </a:spcAft>
              <a:buNone/>
            </a:pPr>
            <a:r>
              <a:rPr lang="en" sz="1867"/>
              <a:t>Accessibility to phila community: Indirect but highly relevant </a:t>
            </a:r>
            <a:endParaRPr sz="1867"/>
          </a:p>
          <a:p>
            <a:pPr marL="609585" lvl="0" indent="-414434" algn="l" rtl="0">
              <a:lnSpc>
                <a:spcPct val="115000"/>
              </a:lnSpc>
              <a:spcBef>
                <a:spcPts val="0"/>
              </a:spcBef>
              <a:spcAft>
                <a:spcPts val="0"/>
              </a:spcAft>
              <a:buSzPct val="100000"/>
              <a:buChar char="●"/>
            </a:pPr>
            <a:r>
              <a:rPr lang="en" sz="1867"/>
              <a:t>Used by Philadelphia Department of Public Health and Health systems (Penn, Jefferson, Cooper) to guide outreach programs</a:t>
            </a:r>
            <a:endParaRPr sz="1867"/>
          </a:p>
          <a:p>
            <a:pPr marL="609585" lvl="0" indent="-414434" algn="l" rtl="0">
              <a:lnSpc>
                <a:spcPct val="115000"/>
              </a:lnSpc>
              <a:spcBef>
                <a:spcPts val="0"/>
              </a:spcBef>
              <a:spcAft>
                <a:spcPts val="0"/>
              </a:spcAft>
              <a:buSzPct val="100000"/>
              <a:buChar char="●"/>
            </a:pPr>
            <a:r>
              <a:rPr lang="en" sz="1867"/>
              <a:t>Shapes community screening initiatives in high-risk zip codes </a:t>
            </a:r>
            <a:endParaRPr sz="1867"/>
          </a:p>
          <a:p>
            <a:pPr marL="0" lvl="0" indent="0" algn="l" rtl="0">
              <a:lnSpc>
                <a:spcPct val="115000"/>
              </a:lnSpc>
              <a:spcBef>
                <a:spcPts val="0"/>
              </a:spcBef>
              <a:spcAft>
                <a:spcPts val="0"/>
              </a:spcAft>
              <a:buNone/>
            </a:pPr>
            <a:endParaRPr sz="1867"/>
          </a:p>
          <a:p>
            <a:pPr marL="0" lvl="0" indent="0" algn="l" rtl="0">
              <a:lnSpc>
                <a:spcPct val="115000"/>
              </a:lnSpc>
              <a:spcBef>
                <a:spcPts val="1600"/>
              </a:spcBef>
              <a:spcAft>
                <a:spcPts val="0"/>
              </a:spcAft>
              <a:buNone/>
            </a:pPr>
            <a:r>
              <a:rPr lang="en" sz="1867"/>
              <a:t>NP/Patient Use feasibility: Not direct referral source</a:t>
            </a:r>
            <a:endParaRPr sz="1867"/>
          </a:p>
          <a:p>
            <a:pPr marL="609585" lvl="0" indent="-414434" algn="l" rtl="0">
              <a:lnSpc>
                <a:spcPct val="115000"/>
              </a:lnSpc>
              <a:spcBef>
                <a:spcPts val="1600"/>
              </a:spcBef>
              <a:spcAft>
                <a:spcPts val="0"/>
              </a:spcAft>
              <a:buSzPct val="100000"/>
              <a:buChar char="●"/>
            </a:pPr>
            <a:r>
              <a:rPr lang="en" sz="1867"/>
              <a:t>Clinically actionable for NPs: Identify high-risk populations (Black/African American, diabetic patients) </a:t>
            </a:r>
            <a:endParaRPr sz="1867"/>
          </a:p>
          <a:p>
            <a:pPr marL="609585" lvl="0" indent="-414434" algn="l" rtl="0">
              <a:lnSpc>
                <a:spcPct val="115000"/>
              </a:lnSpc>
              <a:spcBef>
                <a:spcPts val="0"/>
              </a:spcBef>
              <a:spcAft>
                <a:spcPts val="0"/>
              </a:spcAft>
              <a:buSzPct val="100000"/>
              <a:buChar char="●"/>
            </a:pPr>
            <a:r>
              <a:rPr lang="en" sz="1867"/>
              <a:t>Support evidence-based screening practices</a:t>
            </a:r>
            <a:endParaRPr sz="1867"/>
          </a:p>
          <a:p>
            <a:pPr marL="0" lvl="0" indent="0" algn="l" rtl="0">
              <a:lnSpc>
                <a:spcPct val="115000"/>
              </a:lnSpc>
              <a:spcBef>
                <a:spcPts val="1600"/>
              </a:spcBef>
              <a:spcAft>
                <a:spcPts val="0"/>
              </a:spcAft>
              <a:buNone/>
            </a:pPr>
            <a:endParaRPr sz="1867">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502200" y="920298"/>
            <a:ext cx="113608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667">
                <a:solidFill>
                  <a:schemeClr val="dk2"/>
                </a:solidFill>
                <a:highlight>
                  <a:schemeClr val="lt1"/>
                </a:highlight>
              </a:rPr>
              <a:t>2.  National Kidney Disease Education Program (NKDEP)</a:t>
            </a:r>
            <a:endParaRPr sz="2667">
              <a:solidFill>
                <a:schemeClr val="dk2"/>
              </a:solidFill>
              <a:highlight>
                <a:schemeClr val="lt1"/>
              </a:highlight>
            </a:endParaRPr>
          </a:p>
          <a:p>
            <a:pPr marL="0" lvl="0" indent="0" algn="l" rtl="0">
              <a:spcBef>
                <a:spcPts val="0"/>
              </a:spcBef>
              <a:spcAft>
                <a:spcPts val="0"/>
              </a:spcAft>
              <a:buNone/>
            </a:pPr>
            <a:endParaRPr/>
          </a:p>
        </p:txBody>
      </p:sp>
      <p:sp>
        <p:nvSpPr>
          <p:cNvPr id="89" name="Google Shape;89;p18"/>
          <p:cNvSpPr txBox="1">
            <a:spLocks noGrp="1"/>
          </p:cNvSpPr>
          <p:nvPr>
            <p:ph type="body" idx="1"/>
          </p:nvPr>
        </p:nvSpPr>
        <p:spPr>
          <a:xfrm>
            <a:off x="415600" y="1536633"/>
            <a:ext cx="11534000" cy="4225755"/>
          </a:xfrm>
          <a:prstGeom prst="rect">
            <a:avLst/>
          </a:prstGeom>
        </p:spPr>
        <p:txBody>
          <a:bodyPr spcFirstLastPara="1" wrap="square" lIns="121900" tIns="121900" rIns="121900" bIns="121900" anchor="t"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en" sz="7200" dirty="0">
                <a:latin typeface="Times New Roman" panose="02020603050405020304" pitchFamily="18" charset="0"/>
                <a:cs typeface="Times New Roman" panose="02020603050405020304" pitchFamily="18" charset="0"/>
              </a:rPr>
              <a:t>NKDEP was created to improve understanding, detection, and management of kidney disease; NIDDK now carries forward its content and outreach materials. It includes practical tools such as CKD patient education materials, eGFR calculators, urine albumin resources, CKD and drug dosing information, and community outreach toolkits like Family Reunion Kidney Health Guide and Kidney Sundays</a:t>
            </a:r>
            <a:endParaRPr sz="7200" dirty="0">
              <a:latin typeface="Times New Roman" panose="02020603050405020304" pitchFamily="18" charset="0"/>
              <a:cs typeface="Times New Roman" panose="02020603050405020304" pitchFamily="18" charset="0"/>
            </a:endParaRPr>
          </a:p>
          <a:p>
            <a:pPr marL="0" lvl="0" indent="0" algn="l" rtl="0">
              <a:lnSpc>
                <a:spcPct val="115000"/>
              </a:lnSpc>
              <a:spcBef>
                <a:spcPts val="1600"/>
              </a:spcBef>
              <a:spcAft>
                <a:spcPts val="0"/>
              </a:spcAft>
              <a:buNone/>
            </a:pPr>
            <a:r>
              <a:rPr lang="en" sz="7200" dirty="0">
                <a:latin typeface="Times New Roman" panose="02020603050405020304" pitchFamily="18" charset="0"/>
                <a:cs typeface="Times New Roman" panose="02020603050405020304" pitchFamily="18" charset="0"/>
              </a:rPr>
              <a:t>NKDEP is a patient and provider education program under the National Institutes of Health that provides:</a:t>
            </a:r>
            <a:endParaRPr sz="7200" dirty="0">
              <a:latin typeface="Times New Roman" panose="02020603050405020304" pitchFamily="18" charset="0"/>
              <a:cs typeface="Times New Roman" panose="02020603050405020304" pitchFamily="18" charset="0"/>
            </a:endParaRPr>
          </a:p>
          <a:p>
            <a:pPr marL="609585" lvl="0" indent="-401587" algn="l" rtl="0">
              <a:lnSpc>
                <a:spcPct val="115000"/>
              </a:lnSpc>
              <a:spcBef>
                <a:spcPts val="1600"/>
              </a:spcBef>
              <a:spcAft>
                <a:spcPts val="0"/>
              </a:spcAft>
              <a:buSzPct val="100000"/>
              <a:buChar char="●"/>
            </a:pPr>
            <a:r>
              <a:rPr lang="en" sz="7200" dirty="0">
                <a:latin typeface="Times New Roman" panose="02020603050405020304" pitchFamily="18" charset="0"/>
                <a:cs typeface="Times New Roman" panose="02020603050405020304" pitchFamily="18" charset="0"/>
              </a:rPr>
              <a:t>CKD education materials (family reunion kidney health guide and kidney </a:t>
            </a:r>
            <a:r>
              <a:rPr lang="en" sz="7200" dirty="0" err="1">
                <a:latin typeface="Times New Roman" panose="02020603050405020304" pitchFamily="18" charset="0"/>
                <a:cs typeface="Times New Roman" panose="02020603050405020304" pitchFamily="18" charset="0"/>
              </a:rPr>
              <a:t>sundays</a:t>
            </a:r>
            <a:r>
              <a:rPr lang="en" sz="7200" dirty="0">
                <a:latin typeface="Times New Roman" panose="02020603050405020304" pitchFamily="18" charset="0"/>
                <a:cs typeface="Times New Roman" panose="02020603050405020304" pitchFamily="18" charset="0"/>
              </a:rPr>
              <a:t>) </a:t>
            </a:r>
            <a:endParaRPr sz="7200" dirty="0">
              <a:latin typeface="Times New Roman" panose="02020603050405020304" pitchFamily="18" charset="0"/>
              <a:cs typeface="Times New Roman" panose="02020603050405020304" pitchFamily="18" charset="0"/>
            </a:endParaRPr>
          </a:p>
          <a:p>
            <a:pPr marL="609585" lvl="0" indent="-401587" algn="l" rtl="0">
              <a:lnSpc>
                <a:spcPct val="115000"/>
              </a:lnSpc>
              <a:spcBef>
                <a:spcPts val="0"/>
              </a:spcBef>
              <a:spcAft>
                <a:spcPts val="0"/>
              </a:spcAft>
              <a:buSzPct val="100000"/>
              <a:buChar char="●"/>
            </a:pPr>
            <a:r>
              <a:rPr lang="en" sz="7200" dirty="0">
                <a:latin typeface="Times New Roman" panose="02020603050405020304" pitchFamily="18" charset="0"/>
                <a:cs typeface="Times New Roman" panose="02020603050405020304" pitchFamily="18" charset="0"/>
              </a:rPr>
              <a:t>Self-management tools</a:t>
            </a:r>
            <a:endParaRPr sz="7200" dirty="0">
              <a:latin typeface="Times New Roman" panose="02020603050405020304" pitchFamily="18" charset="0"/>
              <a:cs typeface="Times New Roman" panose="02020603050405020304" pitchFamily="18" charset="0"/>
            </a:endParaRPr>
          </a:p>
          <a:p>
            <a:pPr marL="609585" lvl="0" indent="-401587" algn="l" rtl="0">
              <a:lnSpc>
                <a:spcPct val="115000"/>
              </a:lnSpc>
              <a:spcBef>
                <a:spcPts val="0"/>
              </a:spcBef>
              <a:spcAft>
                <a:spcPts val="0"/>
              </a:spcAft>
              <a:buSzPct val="100000"/>
              <a:buChar char="●"/>
            </a:pPr>
            <a:r>
              <a:rPr lang="en" sz="7200" dirty="0">
                <a:latin typeface="Times New Roman" panose="02020603050405020304" pitchFamily="18" charset="0"/>
                <a:cs typeface="Times New Roman" panose="02020603050405020304" pitchFamily="18" charset="0"/>
              </a:rPr>
              <a:t>Guidance on early detection and risk reduction</a:t>
            </a:r>
            <a:endParaRPr sz="7200" dirty="0">
              <a:latin typeface="Times New Roman" panose="02020603050405020304" pitchFamily="18" charset="0"/>
              <a:cs typeface="Times New Roman" panose="02020603050405020304" pitchFamily="18" charset="0"/>
            </a:endParaRPr>
          </a:p>
          <a:p>
            <a:pPr marL="0" lvl="0" indent="0" algn="l" rtl="0">
              <a:lnSpc>
                <a:spcPct val="115000"/>
              </a:lnSpc>
              <a:spcBef>
                <a:spcPts val="1600"/>
              </a:spcBef>
              <a:spcAft>
                <a:spcPts val="0"/>
              </a:spcAft>
              <a:buNone/>
            </a:pPr>
            <a:r>
              <a:rPr lang="en" sz="7200" dirty="0">
                <a:latin typeface="Times New Roman" panose="02020603050405020304" pitchFamily="18" charset="0"/>
                <a:cs typeface="Times New Roman" panose="02020603050405020304" pitchFamily="18" charset="0"/>
              </a:rPr>
              <a:t>Purpose: Increase awareness of CKD risk factors, Promote early testing (eGFR, urine albumin), Empower patients to slow disease progression</a:t>
            </a:r>
            <a:endParaRPr sz="72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endParaRPr sz="72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r>
              <a:rPr lang="en" sz="7200" dirty="0">
                <a:latin typeface="Times New Roman" panose="02020603050405020304" pitchFamily="18" charset="0"/>
                <a:cs typeface="Times New Roman" panose="02020603050405020304" pitchFamily="18" charset="0"/>
              </a:rPr>
              <a:t>Mission: Improve early detection, identify patients at greatest risk for progression to kidney failure, and support evidence-based management. CDC also emphasizes that early CKD often has no symptoms and that people at risk should get tested regularly, which aligns well with NKDEP’s emphasis on education and detection</a:t>
            </a:r>
            <a:endParaRPr sz="72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ct val="91667"/>
              <a:buFont typeface="Arial"/>
              <a:buNone/>
            </a:pPr>
            <a:endParaRPr sz="4200" dirty="0">
              <a:solidFill>
                <a:srgbClr val="27354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415600" y="995743"/>
            <a:ext cx="11360800" cy="7636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ct val="55000"/>
              <a:buFont typeface="Arial"/>
              <a:buNone/>
            </a:pPr>
            <a:r>
              <a:rPr lang="en" sz="2667">
                <a:solidFill>
                  <a:schemeClr val="dk2"/>
                </a:solidFill>
                <a:highlight>
                  <a:schemeClr val="lt1"/>
                </a:highlight>
              </a:rPr>
              <a:t>2.  National Kidney Disease Education Program (NKDEP)</a:t>
            </a:r>
            <a:endParaRPr sz="2667">
              <a:solidFill>
                <a:schemeClr val="dk2"/>
              </a:solidFill>
              <a:highlight>
                <a:schemeClr val="lt1"/>
              </a:highlight>
            </a:endParaRPr>
          </a:p>
          <a:p>
            <a:pPr marL="0" lvl="0" indent="0" algn="l" rtl="0">
              <a:spcBef>
                <a:spcPts val="0"/>
              </a:spcBef>
              <a:spcAft>
                <a:spcPts val="0"/>
              </a:spcAft>
              <a:buNone/>
            </a:pPr>
            <a:endParaRPr/>
          </a:p>
        </p:txBody>
      </p:sp>
      <p:sp>
        <p:nvSpPr>
          <p:cNvPr id="95" name="Google Shape;95;p19"/>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Clr>
                <a:schemeClr val="dk1"/>
              </a:buClr>
              <a:buSzPts val="1100"/>
              <a:buFont typeface="Arial"/>
              <a:buNone/>
            </a:pPr>
            <a:r>
              <a:rPr lang="en" sz="1800" dirty="0">
                <a:latin typeface="Times New Roman" panose="02020603050405020304" pitchFamily="18" charset="0"/>
                <a:cs typeface="Times New Roman" panose="02020603050405020304" pitchFamily="18" charset="0"/>
              </a:rPr>
              <a:t>Level of prevention: Primary and Secondary</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Primary: education on lifestyle changes (BP, glucose control)</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Secondary: encourages early detection through screening</a:t>
            </a:r>
            <a:endParaRPr sz="1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ts val="1100"/>
              <a:buFont typeface="Arial"/>
              <a:buNone/>
            </a:pPr>
            <a:endParaRPr sz="1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None/>
            </a:pPr>
            <a:r>
              <a:rPr lang="en" sz="1800" dirty="0">
                <a:latin typeface="Times New Roman" panose="02020603050405020304" pitchFamily="18" charset="0"/>
                <a:cs typeface="Times New Roman" panose="02020603050405020304" pitchFamily="18" charset="0"/>
              </a:rPr>
              <a:t>Accessibility to </a:t>
            </a:r>
            <a:r>
              <a:rPr lang="en" sz="1800" dirty="0" err="1">
                <a:latin typeface="Times New Roman" panose="02020603050405020304" pitchFamily="18" charset="0"/>
                <a:cs typeface="Times New Roman" panose="02020603050405020304" pitchFamily="18" charset="0"/>
              </a:rPr>
              <a:t>phila</a:t>
            </a:r>
            <a:r>
              <a:rPr lang="en" sz="1800" dirty="0">
                <a:latin typeface="Times New Roman" panose="02020603050405020304" pitchFamily="18" charset="0"/>
                <a:cs typeface="Times New Roman" panose="02020603050405020304" pitchFamily="18" charset="0"/>
              </a:rPr>
              <a:t> community: Direct </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Materials available online and printable for community clinics (FQHCs in </a:t>
            </a:r>
            <a:r>
              <a:rPr lang="en" sz="1800" dirty="0" err="1">
                <a:latin typeface="Times New Roman" panose="02020603050405020304" pitchFamily="18" charset="0"/>
                <a:cs typeface="Times New Roman" panose="02020603050405020304" pitchFamily="18" charset="0"/>
              </a:rPr>
              <a:t>camden</a:t>
            </a:r>
            <a:r>
              <a:rPr lang="en" sz="1800" dirty="0">
                <a:latin typeface="Times New Roman" panose="02020603050405020304" pitchFamily="18" charset="0"/>
                <a:cs typeface="Times New Roman" panose="02020603050405020304" pitchFamily="18" charset="0"/>
              </a:rPr>
              <a:t>/philly), dialysis centers, PCP/NP offices, can also be integrated into health fairs and diabetes education programs </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endParaRPr sz="1800" dirty="0">
              <a:latin typeface="Times New Roman" panose="02020603050405020304" pitchFamily="18" charset="0"/>
              <a:cs typeface="Times New Roman" panose="02020603050405020304" pitchFamily="18" charset="0"/>
            </a:endParaRPr>
          </a:p>
          <a:p>
            <a:pPr marL="0" lvl="0" indent="0" algn="l" rtl="0">
              <a:lnSpc>
                <a:spcPct val="115000"/>
              </a:lnSpc>
              <a:spcBef>
                <a:spcPts val="1600"/>
              </a:spcBef>
              <a:spcAft>
                <a:spcPts val="0"/>
              </a:spcAft>
              <a:buClr>
                <a:schemeClr val="dk1"/>
              </a:buClr>
              <a:buSzPts val="1100"/>
              <a:buFont typeface="Arial"/>
              <a:buNone/>
            </a:pPr>
            <a:r>
              <a:rPr lang="en" sz="1800" dirty="0">
                <a:latin typeface="Times New Roman" panose="02020603050405020304" pitchFamily="18" charset="0"/>
                <a:cs typeface="Times New Roman" panose="02020603050405020304" pitchFamily="18" charset="0"/>
              </a:rPr>
              <a:t>NP/Patient Use feasibility:  tangible and usable </a:t>
            </a:r>
            <a:endParaRPr sz="1800" dirty="0">
              <a:latin typeface="Times New Roman" panose="02020603050405020304" pitchFamily="18" charset="0"/>
              <a:cs typeface="Times New Roman" panose="02020603050405020304" pitchFamily="18" charset="0"/>
            </a:endParaRPr>
          </a:p>
          <a:p>
            <a:pPr marL="609585" lvl="0" indent="-423323" algn="l" rtl="0">
              <a:spcBef>
                <a:spcPts val="1600"/>
              </a:spcBef>
              <a:spcAft>
                <a:spcPts val="0"/>
              </a:spcAft>
              <a:buSzPts val="1400"/>
              <a:buChar char="●"/>
            </a:pPr>
            <a:r>
              <a:rPr lang="en" sz="1800" dirty="0">
                <a:latin typeface="Times New Roman" panose="02020603050405020304" pitchFamily="18" charset="0"/>
                <a:cs typeface="Times New Roman" panose="02020603050405020304" pitchFamily="18" charset="0"/>
              </a:rPr>
              <a:t>NP can Provide NKDEP handouts during visits, Direct patients to online resources, Incorporate into CKD education plans</a:t>
            </a:r>
            <a:endParaRPr sz="1800" dirty="0">
              <a:latin typeface="Times New Roman" panose="02020603050405020304" pitchFamily="18" charset="0"/>
              <a:cs typeface="Times New Roman" panose="02020603050405020304" pitchFamily="18" charset="0"/>
            </a:endParaRPr>
          </a:p>
          <a:p>
            <a:pPr marL="609585" lvl="0" indent="-423323" algn="l" rtl="0">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Especially useful for: Patients with diabetes, hypertension, or early CKD</a:t>
            </a:r>
            <a:endParaRPr sz="1800" dirty="0">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None/>
            </a:pPr>
            <a:endParaRPr sz="1867" dirty="0">
              <a:solidFill>
                <a:schemeClr val="dk1"/>
              </a:solidFill>
            </a:endParaRPr>
          </a:p>
          <a:p>
            <a:pPr marL="0" lvl="0" indent="0" algn="l" rtl="0">
              <a:spcBef>
                <a:spcPts val="1600"/>
              </a:spcBef>
              <a:spcAft>
                <a:spcPts val="160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415600" y="945447"/>
            <a:ext cx="11360800" cy="7636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667">
                <a:solidFill>
                  <a:schemeClr val="dk2"/>
                </a:solidFill>
                <a:highlight>
                  <a:schemeClr val="lt1"/>
                </a:highlight>
              </a:rPr>
              <a:t>3. Advancing American Kidney Health Initiative (2019)</a:t>
            </a:r>
            <a:endParaRPr sz="2667">
              <a:solidFill>
                <a:schemeClr val="dk2"/>
              </a:solidFill>
              <a:highlight>
                <a:schemeClr val="lt1"/>
              </a:highlight>
            </a:endParaRPr>
          </a:p>
        </p:txBody>
      </p:sp>
      <p:sp>
        <p:nvSpPr>
          <p:cNvPr id="101" name="Google Shape;101;p2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Clr>
                <a:schemeClr val="dk1"/>
              </a:buClr>
              <a:buSzPts val="1100"/>
              <a:buFont typeface="Arial"/>
              <a:buNone/>
            </a:pPr>
            <a:r>
              <a:rPr lang="en" sz="1800" dirty="0">
                <a:latin typeface="Times New Roman"/>
                <a:ea typeface="Times New Roman"/>
                <a:cs typeface="Times New Roman"/>
                <a:sym typeface="Times New Roman"/>
              </a:rPr>
              <a:t>Advancing american kidney health initiative is a national policy initiative launched by the U.S. Department of Health &amp; Human Services aimed at transforming kidney care through:</a:t>
            </a:r>
            <a:endParaRPr sz="1800" dirty="0">
              <a:latin typeface="Times New Roman"/>
              <a:ea typeface="Times New Roman"/>
              <a:cs typeface="Times New Roman"/>
              <a:sym typeface="Times New Roman"/>
            </a:endParaRPr>
          </a:p>
          <a:p>
            <a:pPr marL="609585" lvl="0" indent="-423323" algn="l" rtl="0">
              <a:lnSpc>
                <a:spcPct val="115000"/>
              </a:lnSpc>
              <a:spcBef>
                <a:spcPts val="1600"/>
              </a:spcBef>
              <a:spcAft>
                <a:spcPts val="0"/>
              </a:spcAft>
              <a:buSzPts val="1400"/>
              <a:buFont typeface="Times New Roman"/>
              <a:buChar char="●"/>
            </a:pPr>
            <a:r>
              <a:rPr lang="en" sz="1800" dirty="0">
                <a:latin typeface="Times New Roman"/>
                <a:ea typeface="Times New Roman"/>
                <a:cs typeface="Times New Roman"/>
                <a:sym typeface="Times New Roman"/>
              </a:rPr>
              <a:t>Prevention</a:t>
            </a:r>
            <a:endParaRPr sz="1800" dirty="0">
              <a:latin typeface="Times New Roman"/>
              <a:ea typeface="Times New Roman"/>
              <a:cs typeface="Times New Roman"/>
              <a:sym typeface="Times New Roman"/>
            </a:endParaRPr>
          </a:p>
          <a:p>
            <a:pPr marL="609585" lvl="0" indent="-423323" algn="l" rtl="0">
              <a:lnSpc>
                <a:spcPct val="115000"/>
              </a:lnSpc>
              <a:spcBef>
                <a:spcPts val="0"/>
              </a:spcBef>
              <a:spcAft>
                <a:spcPts val="0"/>
              </a:spcAft>
              <a:buSzPts val="1400"/>
              <a:buFont typeface="Times New Roman"/>
              <a:buChar char="●"/>
            </a:pPr>
            <a:r>
              <a:rPr lang="en" sz="1800" dirty="0">
                <a:latin typeface="Times New Roman"/>
                <a:ea typeface="Times New Roman"/>
                <a:cs typeface="Times New Roman"/>
                <a:sym typeface="Times New Roman"/>
              </a:rPr>
              <a:t>Innovation</a:t>
            </a:r>
            <a:endParaRPr sz="1800" dirty="0">
              <a:latin typeface="Times New Roman"/>
              <a:ea typeface="Times New Roman"/>
              <a:cs typeface="Times New Roman"/>
              <a:sym typeface="Times New Roman"/>
            </a:endParaRPr>
          </a:p>
          <a:p>
            <a:pPr marL="609585" lvl="0" indent="-423323" algn="l" rtl="0">
              <a:lnSpc>
                <a:spcPct val="115000"/>
              </a:lnSpc>
              <a:spcBef>
                <a:spcPts val="0"/>
              </a:spcBef>
              <a:spcAft>
                <a:spcPts val="0"/>
              </a:spcAft>
              <a:buSzPts val="1400"/>
              <a:buFont typeface="Times New Roman"/>
              <a:buChar char="●"/>
            </a:pPr>
            <a:r>
              <a:rPr lang="en" sz="1800" dirty="0">
                <a:latin typeface="Times New Roman"/>
                <a:ea typeface="Times New Roman"/>
                <a:cs typeface="Times New Roman"/>
                <a:sym typeface="Times New Roman"/>
              </a:rPr>
              <a:t>Increased transplantation</a:t>
            </a:r>
            <a:endParaRPr sz="1800" dirty="0">
              <a:latin typeface="Times New Roman"/>
              <a:ea typeface="Times New Roman"/>
              <a:cs typeface="Times New Roman"/>
              <a:sym typeface="Times New Roman"/>
            </a:endParaRPr>
          </a:p>
          <a:p>
            <a:pPr marL="0" lvl="0" indent="0" algn="l" rtl="0">
              <a:lnSpc>
                <a:spcPct val="115000"/>
              </a:lnSpc>
              <a:spcBef>
                <a:spcPts val="1600"/>
              </a:spcBef>
              <a:spcAft>
                <a:spcPts val="0"/>
              </a:spcAft>
              <a:buClr>
                <a:schemeClr val="dk1"/>
              </a:buClr>
              <a:buSzPts val="1100"/>
              <a:buFont typeface="Arial"/>
              <a:buNone/>
            </a:pPr>
            <a:r>
              <a:rPr lang="en" sz="1800" dirty="0">
                <a:latin typeface="Times New Roman"/>
                <a:ea typeface="Times New Roman"/>
                <a:cs typeface="Times New Roman"/>
                <a:sym typeface="Times New Roman"/>
              </a:rPr>
              <a:t>Focuses on three major goals:</a:t>
            </a:r>
            <a:endParaRPr sz="1800" dirty="0">
              <a:latin typeface="Times New Roman"/>
              <a:ea typeface="Times New Roman"/>
              <a:cs typeface="Times New Roman"/>
              <a:sym typeface="Times New Roman"/>
            </a:endParaRPr>
          </a:p>
          <a:p>
            <a:pPr marL="609585" lvl="0" indent="-423323" algn="l" rtl="0">
              <a:lnSpc>
                <a:spcPct val="115000"/>
              </a:lnSpc>
              <a:spcBef>
                <a:spcPts val="1600"/>
              </a:spcBef>
              <a:spcAft>
                <a:spcPts val="0"/>
              </a:spcAft>
              <a:buSzPts val="1400"/>
              <a:buFont typeface="Times New Roman"/>
              <a:buAutoNum type="arabicPeriod"/>
            </a:pPr>
            <a:r>
              <a:rPr lang="en" sz="1800" dirty="0">
                <a:latin typeface="Times New Roman"/>
                <a:ea typeface="Times New Roman"/>
                <a:cs typeface="Times New Roman"/>
                <a:sym typeface="Times New Roman"/>
              </a:rPr>
              <a:t>Reduce kidney failure incidence</a:t>
            </a:r>
            <a:endParaRPr sz="1800" dirty="0">
              <a:latin typeface="Times New Roman"/>
              <a:ea typeface="Times New Roman"/>
              <a:cs typeface="Times New Roman"/>
              <a:sym typeface="Times New Roman"/>
            </a:endParaRPr>
          </a:p>
          <a:p>
            <a:pPr marL="609585" lvl="0" indent="-423323" algn="l" rtl="0">
              <a:lnSpc>
                <a:spcPct val="115000"/>
              </a:lnSpc>
              <a:spcBef>
                <a:spcPts val="0"/>
              </a:spcBef>
              <a:spcAft>
                <a:spcPts val="0"/>
              </a:spcAft>
              <a:buSzPts val="1400"/>
              <a:buFont typeface="Times New Roman"/>
              <a:buAutoNum type="arabicPeriod"/>
            </a:pPr>
            <a:r>
              <a:rPr lang="en" sz="1800" dirty="0">
                <a:latin typeface="Times New Roman"/>
                <a:ea typeface="Times New Roman"/>
                <a:cs typeface="Times New Roman"/>
                <a:sym typeface="Times New Roman"/>
              </a:rPr>
              <a:t>Increase home dialysis and transplant rates</a:t>
            </a:r>
            <a:endParaRPr sz="1800" dirty="0">
              <a:latin typeface="Times New Roman"/>
              <a:ea typeface="Times New Roman"/>
              <a:cs typeface="Times New Roman"/>
              <a:sym typeface="Times New Roman"/>
            </a:endParaRPr>
          </a:p>
          <a:p>
            <a:pPr marL="609585" lvl="0" indent="-423323" algn="l" rtl="0">
              <a:lnSpc>
                <a:spcPct val="115000"/>
              </a:lnSpc>
              <a:spcBef>
                <a:spcPts val="0"/>
              </a:spcBef>
              <a:spcAft>
                <a:spcPts val="0"/>
              </a:spcAft>
              <a:buSzPts val="1400"/>
              <a:buFont typeface="Times New Roman"/>
              <a:buAutoNum type="arabicPeriod"/>
            </a:pPr>
            <a:r>
              <a:rPr lang="en" sz="1800" dirty="0">
                <a:latin typeface="Times New Roman"/>
                <a:ea typeface="Times New Roman"/>
                <a:cs typeface="Times New Roman"/>
                <a:sym typeface="Times New Roman"/>
              </a:rPr>
              <a:t>Improve care coordination and innovation models</a:t>
            </a:r>
            <a:endParaRPr sz="1800" dirty="0">
              <a:latin typeface="Times New Roman"/>
              <a:ea typeface="Times New Roman"/>
              <a:cs typeface="Times New Roman"/>
              <a:sym typeface="Times New Roman"/>
            </a:endParaRPr>
          </a:p>
          <a:p>
            <a:pPr marL="0" lvl="0" indent="0" algn="l" rtl="0">
              <a:lnSpc>
                <a:spcPct val="115000"/>
              </a:lnSpc>
              <a:spcBef>
                <a:spcPts val="1600"/>
              </a:spcBef>
              <a:spcAft>
                <a:spcPts val="0"/>
              </a:spcAft>
              <a:buNone/>
            </a:pPr>
            <a:r>
              <a:rPr lang="en" sz="1800" dirty="0">
                <a:latin typeface="Times New Roman"/>
                <a:ea typeface="Times New Roman"/>
                <a:cs typeface="Times New Roman"/>
                <a:sym typeface="Times New Roman"/>
              </a:rPr>
              <a:t>Purpose: Shift from reactive dialysis care to proactive prevention, Improve quality of life and survival, Reduce healthcare costs associated with ESRD</a:t>
            </a:r>
            <a:endParaRPr sz="1800" dirty="0">
              <a:latin typeface="Times New Roman"/>
              <a:ea typeface="Times New Roman"/>
              <a:cs typeface="Times New Roman"/>
              <a:sym typeface="Times New Roman"/>
            </a:endParaRPr>
          </a:p>
          <a:p>
            <a:pPr marL="0" lvl="0" indent="0" algn="l" rtl="0">
              <a:spcBef>
                <a:spcPts val="0"/>
              </a:spcBef>
              <a:spcAft>
                <a:spcPts val="1600"/>
              </a:spcAft>
              <a:buNone/>
            </a:pPr>
            <a:endParaRPr dirty="0"/>
          </a:p>
        </p:txBody>
      </p:sp>
    </p:spTree>
    <p:extLst>
      <p:ext uri="{BB962C8B-B14F-4D97-AF65-F5344CB8AC3E}">
        <p14:creationId xmlns:p14="http://schemas.microsoft.com/office/powerpoint/2010/main" val="261617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415600" y="970595"/>
            <a:ext cx="11360800" cy="7636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ct val="55000"/>
              <a:buFont typeface="Arial"/>
              <a:buNone/>
            </a:pPr>
            <a:r>
              <a:rPr lang="en" sz="2667">
                <a:solidFill>
                  <a:schemeClr val="dk2"/>
                </a:solidFill>
                <a:highlight>
                  <a:schemeClr val="lt1"/>
                </a:highlight>
              </a:rPr>
              <a:t>3. Advancing American Kidney Health Initiative (2019)</a:t>
            </a:r>
            <a:endParaRPr sz="2667">
              <a:solidFill>
                <a:schemeClr val="dk2"/>
              </a:solidFill>
              <a:highlight>
                <a:schemeClr val="lt1"/>
              </a:highlight>
            </a:endParaRPr>
          </a:p>
          <a:p>
            <a:pPr marL="0" lvl="0" indent="0" algn="l" rtl="0">
              <a:spcBef>
                <a:spcPts val="0"/>
              </a:spcBef>
              <a:spcAft>
                <a:spcPts val="0"/>
              </a:spcAft>
              <a:buNone/>
            </a:pPr>
            <a:endParaRPr/>
          </a:p>
        </p:txBody>
      </p:sp>
      <p:sp>
        <p:nvSpPr>
          <p:cNvPr id="107" name="Google Shape;107;p21"/>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Clr>
                <a:schemeClr val="dk1"/>
              </a:buClr>
              <a:buSzPts val="1100"/>
              <a:buFont typeface="Arial"/>
              <a:buNone/>
            </a:pPr>
            <a:r>
              <a:rPr lang="en" sz="1800" dirty="0">
                <a:latin typeface="Times New Roman" panose="02020603050405020304" pitchFamily="18" charset="0"/>
                <a:cs typeface="Times New Roman" panose="02020603050405020304" pitchFamily="18" charset="0"/>
              </a:rPr>
              <a:t>Level of prevention: Secondary, and Tertiary </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Secondary: promotes earlier nephrology care</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Tertiary: improves outcomes in advanced CKD/ESRD</a:t>
            </a:r>
            <a:endParaRPr sz="1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ts val="1100"/>
              <a:buFont typeface="Arial"/>
              <a:buNone/>
            </a:pPr>
            <a:endParaRPr sz="1800" dirty="0">
              <a:latin typeface="Times New Roman" panose="02020603050405020304" pitchFamily="18" charset="0"/>
              <a:cs typeface="Times New Roman" panose="02020603050405020304" pitchFamily="18" charset="0"/>
            </a:endParaRPr>
          </a:p>
          <a:p>
            <a:pPr marL="0" lvl="0" indent="0" algn="l" rtl="0">
              <a:lnSpc>
                <a:spcPct val="115000"/>
              </a:lnSpc>
              <a:spcBef>
                <a:spcPts val="0"/>
              </a:spcBef>
              <a:spcAft>
                <a:spcPts val="0"/>
              </a:spcAft>
              <a:buClr>
                <a:schemeClr val="dk1"/>
              </a:buClr>
              <a:buSzPts val="1100"/>
              <a:buFont typeface="Arial"/>
              <a:buNone/>
            </a:pPr>
            <a:r>
              <a:rPr lang="en" sz="1800" dirty="0">
                <a:latin typeface="Times New Roman" panose="02020603050405020304" pitchFamily="18" charset="0"/>
                <a:cs typeface="Times New Roman" panose="02020603050405020304" pitchFamily="18" charset="0"/>
              </a:rPr>
              <a:t>Accessibility to </a:t>
            </a:r>
            <a:r>
              <a:rPr lang="en" sz="1800" dirty="0" err="1">
                <a:latin typeface="Times New Roman" panose="02020603050405020304" pitchFamily="18" charset="0"/>
                <a:cs typeface="Times New Roman" panose="02020603050405020304" pitchFamily="18" charset="0"/>
              </a:rPr>
              <a:t>phila</a:t>
            </a:r>
            <a:r>
              <a:rPr lang="en" sz="1800" dirty="0">
                <a:latin typeface="Times New Roman" panose="02020603050405020304" pitchFamily="18" charset="0"/>
                <a:cs typeface="Times New Roman" panose="02020603050405020304" pitchFamily="18" charset="0"/>
              </a:rPr>
              <a:t> community: indirect but impactful </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0"/>
              </a:spcBef>
              <a:spcAft>
                <a:spcPts val="0"/>
              </a:spcAft>
              <a:buSzPts val="1400"/>
              <a:buChar char="●"/>
            </a:pPr>
            <a:r>
              <a:rPr lang="en" sz="1800" dirty="0">
                <a:latin typeface="Times New Roman" panose="02020603050405020304" pitchFamily="18" charset="0"/>
                <a:cs typeface="Times New Roman" panose="02020603050405020304" pitchFamily="18" charset="0"/>
              </a:rPr>
              <a:t>Implemented through Medicare programs and health systems (impacts dialysis centers and transplant programs such as </a:t>
            </a:r>
            <a:r>
              <a:rPr lang="en" sz="1800" dirty="0" err="1">
                <a:latin typeface="Times New Roman" panose="02020603050405020304" pitchFamily="18" charset="0"/>
                <a:cs typeface="Times New Roman" panose="02020603050405020304" pitchFamily="18" charset="0"/>
              </a:rPr>
              <a:t>pennmedicine</a:t>
            </a:r>
            <a:r>
              <a:rPr lang="en" sz="1800" dirty="0">
                <a:latin typeface="Times New Roman" panose="02020603050405020304" pitchFamily="18" charset="0"/>
                <a:cs typeface="Times New Roman" panose="02020603050405020304" pitchFamily="18" charset="0"/>
              </a:rPr>
              <a:t>), Supports expansion of home dialysis options locally</a:t>
            </a:r>
            <a:endParaRPr sz="1800" dirty="0">
              <a:latin typeface="Times New Roman" panose="02020603050405020304" pitchFamily="18" charset="0"/>
              <a:cs typeface="Times New Roman" panose="02020603050405020304" pitchFamily="18" charset="0"/>
            </a:endParaRPr>
          </a:p>
          <a:p>
            <a:pPr marL="609585" lvl="0" indent="0" algn="l" rtl="0">
              <a:lnSpc>
                <a:spcPct val="115000"/>
              </a:lnSpc>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marL="0" lvl="0" indent="0" algn="l" rtl="0">
              <a:lnSpc>
                <a:spcPct val="115000"/>
              </a:lnSpc>
              <a:spcBef>
                <a:spcPts val="1600"/>
              </a:spcBef>
              <a:spcAft>
                <a:spcPts val="0"/>
              </a:spcAft>
              <a:buNone/>
            </a:pPr>
            <a:r>
              <a:rPr lang="en" sz="1800" dirty="0">
                <a:latin typeface="Times New Roman" panose="02020603050405020304" pitchFamily="18" charset="0"/>
                <a:cs typeface="Times New Roman" panose="02020603050405020304" pitchFamily="18" charset="0"/>
              </a:rPr>
              <a:t>NP/Patient Use feasibility:  not direct referral program</a:t>
            </a:r>
            <a:endParaRPr sz="1800" dirty="0">
              <a:latin typeface="Times New Roman" panose="02020603050405020304" pitchFamily="18" charset="0"/>
              <a:cs typeface="Times New Roman" panose="02020603050405020304" pitchFamily="18" charset="0"/>
            </a:endParaRPr>
          </a:p>
          <a:p>
            <a:pPr marL="609585" lvl="0" indent="-423323" algn="l" rtl="0">
              <a:lnSpc>
                <a:spcPct val="115000"/>
              </a:lnSpc>
              <a:spcBef>
                <a:spcPts val="1600"/>
              </a:spcBef>
              <a:spcAft>
                <a:spcPts val="0"/>
              </a:spcAft>
              <a:buSzPts val="1400"/>
              <a:buChar char="●"/>
            </a:pPr>
            <a:r>
              <a:rPr lang="en" sz="1800" dirty="0">
                <a:latin typeface="Times New Roman" panose="02020603050405020304" pitchFamily="18" charset="0"/>
                <a:cs typeface="Times New Roman" panose="02020603050405020304" pitchFamily="18" charset="0"/>
              </a:rPr>
              <a:t>Enables referral to transplant programs and Access to home dialysis education</a:t>
            </a:r>
            <a:endParaRPr sz="1800"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None/>
            </a:pPr>
            <a:endParaRPr dirty="0"/>
          </a:p>
        </p:txBody>
      </p:sp>
    </p:spTree>
    <p:extLst>
      <p:ext uri="{BB962C8B-B14F-4D97-AF65-F5344CB8AC3E}">
        <p14:creationId xmlns:p14="http://schemas.microsoft.com/office/powerpoint/2010/main" val="1219055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281500" y="907723"/>
            <a:ext cx="11360800" cy="1229433"/>
          </a:xfrm>
          <a:prstGeom prst="rect">
            <a:avLst/>
          </a:prstGeom>
        </p:spPr>
        <p:txBody>
          <a:bodyPr spcFirstLastPara="1" wrap="square" lIns="121900" tIns="121900" rIns="121900" bIns="12190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3200">
                <a:solidFill>
                  <a:schemeClr val="dk2"/>
                </a:solidFill>
                <a:highlight>
                  <a:srgbClr val="FFFFFF"/>
                </a:highlight>
                <a:latin typeface="Lato"/>
                <a:ea typeface="Lato"/>
                <a:cs typeface="Lato"/>
                <a:sym typeface="Lato"/>
              </a:rPr>
              <a:t>Intervention 1: Diabetes Self-Managment Education for CKD Prevention</a:t>
            </a:r>
            <a:endParaRPr sz="3200">
              <a:solidFill>
                <a:schemeClr val="dk2"/>
              </a:solidFill>
              <a:highlight>
                <a:srgbClr val="FFFFFF"/>
              </a:highlight>
              <a:latin typeface="Lato"/>
              <a:ea typeface="Lato"/>
              <a:cs typeface="Lato"/>
              <a:sym typeface="Lato"/>
            </a:endParaRPr>
          </a:p>
          <a:p>
            <a:pPr marL="0" lvl="0" indent="0" algn="l" rtl="0">
              <a:spcBef>
                <a:spcPts val="0"/>
              </a:spcBef>
              <a:spcAft>
                <a:spcPts val="0"/>
              </a:spcAft>
              <a:buNone/>
            </a:pPr>
            <a:r>
              <a:rPr lang="en" sz="3200">
                <a:solidFill>
                  <a:srgbClr val="273540"/>
                </a:solidFill>
                <a:highlight>
                  <a:srgbClr val="FFFFFF"/>
                </a:highlight>
                <a:latin typeface="Lato"/>
                <a:ea typeface="Lato"/>
                <a:cs typeface="Lato"/>
                <a:sym typeface="Lato"/>
              </a:rPr>
              <a:t> </a:t>
            </a:r>
            <a:endParaRPr sz="3200"/>
          </a:p>
        </p:txBody>
      </p:sp>
      <p:sp>
        <p:nvSpPr>
          <p:cNvPr id="113" name="Google Shape;113;p22"/>
          <p:cNvSpPr txBox="1">
            <a:spLocks noGrp="1"/>
          </p:cNvSpPr>
          <p:nvPr>
            <p:ph type="body" idx="1"/>
          </p:nvPr>
        </p:nvSpPr>
        <p:spPr>
          <a:xfrm>
            <a:off x="225700" y="1822800"/>
            <a:ext cx="6355600" cy="5035200"/>
          </a:xfrm>
          <a:prstGeom prst="rect">
            <a:avLst/>
          </a:prstGeom>
        </p:spPr>
        <p:txBody>
          <a:bodyPr spcFirstLastPara="1" wrap="square" lIns="121900" tIns="121900" rIns="121900" bIns="121900" anchor="t" anchorCtr="0">
            <a:normAutofit fontScale="3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None/>
            </a:pPr>
            <a:r>
              <a:rPr lang="en" sz="4900" b="1" dirty="0" err="1">
                <a:latin typeface="Times New Roman" panose="02020603050405020304" pitchFamily="18" charset="0"/>
                <a:cs typeface="Times New Roman" panose="02020603050405020304" pitchFamily="18" charset="0"/>
              </a:rPr>
              <a:t>Stratgey</a:t>
            </a:r>
            <a:r>
              <a:rPr lang="en" sz="4900" b="1" dirty="0">
                <a:latin typeface="Times New Roman" panose="02020603050405020304" pitchFamily="18" charset="0"/>
                <a:cs typeface="Times New Roman" panose="02020603050405020304" pitchFamily="18" charset="0"/>
              </a:rPr>
              <a:t>: </a:t>
            </a:r>
            <a:endParaRPr sz="49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Long-term DSME programs for patients with diabetes or at risk for CKD</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Focus on improving self-management skills and glycemic control</a:t>
            </a:r>
            <a:endParaRPr sz="49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4900" b="1" dirty="0">
                <a:latin typeface="Times New Roman" panose="02020603050405020304" pitchFamily="18" charset="0"/>
                <a:cs typeface="Times New Roman" panose="02020603050405020304" pitchFamily="18" charset="0"/>
              </a:rPr>
              <a:t>Key Components</a:t>
            </a:r>
            <a:endParaRPr sz="49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Blood glucose monitoring</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Medication adherence</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Nutrition education (carbohydrate control, low-sodium diet)</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Physical activity guidance</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Lifestyle modification</a:t>
            </a:r>
            <a:endParaRPr sz="49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4900" b="1" dirty="0">
                <a:latin typeface="Times New Roman" panose="02020603050405020304" pitchFamily="18" charset="0"/>
                <a:cs typeface="Times New Roman" panose="02020603050405020304" pitchFamily="18" charset="0"/>
              </a:rPr>
              <a:t>Delivery Method</a:t>
            </a:r>
            <a:endParaRPr sz="49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Structured, ongoing education sessions</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Interdisciplinary team approach:</a:t>
            </a:r>
            <a:endParaRPr sz="49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Nurses</a:t>
            </a:r>
            <a:endParaRPr sz="49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Dietitians</a:t>
            </a:r>
            <a:endParaRPr sz="49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Primary care providers</a:t>
            </a:r>
            <a:endParaRPr sz="49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ct val="100000"/>
              <a:buChar char="●"/>
            </a:pPr>
            <a:r>
              <a:rPr lang="en" sz="4900" dirty="0">
                <a:latin typeface="Times New Roman" panose="02020603050405020304" pitchFamily="18" charset="0"/>
                <a:cs typeface="Times New Roman" panose="02020603050405020304" pitchFamily="18" charset="0"/>
              </a:rPr>
              <a:t>Reinforced with regular follow-ups and coaching</a:t>
            </a:r>
            <a:endParaRPr sz="4900"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Clr>
                <a:schemeClr val="dk1"/>
              </a:buClr>
              <a:buSzPct val="91667"/>
              <a:buFont typeface="Arial"/>
              <a:buNone/>
            </a:pPr>
            <a:endParaRPr sz="1600" dirty="0">
              <a:solidFill>
                <a:schemeClr val="dk1"/>
              </a:solidFill>
            </a:endParaRPr>
          </a:p>
        </p:txBody>
      </p:sp>
      <p:sp>
        <p:nvSpPr>
          <p:cNvPr id="114" name="Google Shape;114;p22"/>
          <p:cNvSpPr txBox="1">
            <a:spLocks noGrp="1"/>
          </p:cNvSpPr>
          <p:nvPr>
            <p:ph type="body" idx="1"/>
          </p:nvPr>
        </p:nvSpPr>
        <p:spPr>
          <a:xfrm>
            <a:off x="6504500" y="1822800"/>
            <a:ext cx="5406000" cy="4866400"/>
          </a:xfrm>
          <a:prstGeom prst="rect">
            <a:avLst/>
          </a:prstGeom>
        </p:spPr>
        <p:txBody>
          <a:bodyPr spcFirstLastPara="1" wrap="square" lIns="121900" tIns="121900" rIns="121900" bIns="1219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None/>
            </a:pPr>
            <a:r>
              <a:rPr lang="en" sz="1800" b="1" dirty="0">
                <a:latin typeface="Times New Roman" panose="02020603050405020304" pitchFamily="18" charset="0"/>
                <a:cs typeface="Times New Roman" panose="02020603050405020304" pitchFamily="18" charset="0"/>
              </a:rPr>
              <a:t>Patient-Centered Focus</a:t>
            </a:r>
            <a:endParaRPr sz="1800" b="1" dirty="0">
              <a:latin typeface="Times New Roman" panose="02020603050405020304" pitchFamily="18" charset="0"/>
              <a:cs typeface="Times New Roman" panose="02020603050405020304" pitchFamily="18" charset="0"/>
            </a:endParaRPr>
          </a:p>
          <a:p>
            <a:pPr marL="609585" lvl="0" indent="-390938" algn="l" rtl="0">
              <a:spcBef>
                <a:spcPts val="160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Emphasizes empowerment and self-efficacy</a:t>
            </a:r>
            <a:endParaRPr sz="1800" dirty="0">
              <a:latin typeface="Times New Roman" panose="02020603050405020304" pitchFamily="18" charset="0"/>
              <a:cs typeface="Times New Roman" panose="02020603050405020304" pitchFamily="18" charset="0"/>
            </a:endParaRPr>
          </a:p>
          <a:p>
            <a:pPr marL="609585" lvl="0" indent="-390938" algn="l" rtl="0">
              <a:spcBef>
                <a:spcPts val="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Goal-setting and accountability</a:t>
            </a:r>
            <a:endParaRPr sz="1800" dirty="0">
              <a:latin typeface="Times New Roman" panose="02020603050405020304" pitchFamily="18" charset="0"/>
              <a:cs typeface="Times New Roman" panose="02020603050405020304" pitchFamily="18" charset="0"/>
            </a:endParaRPr>
          </a:p>
          <a:p>
            <a:pPr marL="609585" lvl="0" indent="-390938" algn="l" rtl="0">
              <a:spcBef>
                <a:spcPts val="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Supports long-term behavior change</a:t>
            </a:r>
            <a:endParaRPr sz="18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800" b="1" dirty="0">
                <a:latin typeface="Times New Roman" panose="02020603050405020304" pitchFamily="18" charset="0"/>
                <a:cs typeface="Times New Roman" panose="02020603050405020304" pitchFamily="18" charset="0"/>
              </a:rPr>
              <a:t>Outcomes/Impact</a:t>
            </a:r>
            <a:endParaRPr sz="1800" b="1" dirty="0">
              <a:latin typeface="Times New Roman" panose="02020603050405020304" pitchFamily="18" charset="0"/>
              <a:cs typeface="Times New Roman" panose="02020603050405020304" pitchFamily="18" charset="0"/>
            </a:endParaRPr>
          </a:p>
          <a:p>
            <a:pPr marL="609585" lvl="0" indent="-390938" algn="l" rtl="0">
              <a:spcBef>
                <a:spcPts val="160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Improved HbA1c control</a:t>
            </a:r>
            <a:endParaRPr sz="1800" dirty="0">
              <a:latin typeface="Times New Roman" panose="02020603050405020304" pitchFamily="18" charset="0"/>
              <a:cs typeface="Times New Roman" panose="02020603050405020304" pitchFamily="18" charset="0"/>
            </a:endParaRPr>
          </a:p>
          <a:p>
            <a:pPr marL="609585" lvl="0" indent="-390938" algn="l" rtl="0">
              <a:spcBef>
                <a:spcPts val="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Reduced risk of kidney damage</a:t>
            </a:r>
            <a:endParaRPr sz="1800" dirty="0">
              <a:latin typeface="Times New Roman" panose="02020603050405020304" pitchFamily="18" charset="0"/>
              <a:cs typeface="Times New Roman" panose="02020603050405020304" pitchFamily="18" charset="0"/>
            </a:endParaRPr>
          </a:p>
          <a:p>
            <a:pPr marL="609585" lvl="0" indent="-390938" algn="l" rtl="0">
              <a:spcBef>
                <a:spcPts val="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Prevention or slowed progression of CKD</a:t>
            </a:r>
            <a:endParaRPr sz="18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800" b="1" dirty="0">
                <a:latin typeface="Times New Roman" panose="02020603050405020304" pitchFamily="18" charset="0"/>
                <a:cs typeface="Times New Roman" panose="02020603050405020304" pitchFamily="18" charset="0"/>
              </a:rPr>
              <a:t>Mission / Aim</a:t>
            </a:r>
            <a:endParaRPr sz="1800" b="1" dirty="0">
              <a:latin typeface="Times New Roman" panose="02020603050405020304" pitchFamily="18" charset="0"/>
              <a:cs typeface="Times New Roman" panose="02020603050405020304" pitchFamily="18" charset="0"/>
            </a:endParaRPr>
          </a:p>
          <a:p>
            <a:pPr marL="609585" lvl="0" indent="-390938" algn="l" rtl="0">
              <a:spcBef>
                <a:spcPts val="160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Reduce CKD incidence &amp; progression in diabetes</a:t>
            </a:r>
            <a:endParaRPr sz="1800" dirty="0">
              <a:latin typeface="Times New Roman" panose="02020603050405020304" pitchFamily="18" charset="0"/>
              <a:cs typeface="Times New Roman" panose="02020603050405020304" pitchFamily="18" charset="0"/>
            </a:endParaRPr>
          </a:p>
          <a:p>
            <a:pPr marL="609585" lvl="0" indent="-390938" algn="l" rtl="0">
              <a:spcBef>
                <a:spcPts val="0"/>
              </a:spcBef>
              <a:spcAft>
                <a:spcPts val="0"/>
              </a:spcAft>
              <a:buClr>
                <a:schemeClr val="dk2"/>
              </a:buClr>
              <a:buSzPct val="100000"/>
              <a:buChar char="●"/>
            </a:pPr>
            <a:r>
              <a:rPr lang="en" sz="1800" dirty="0">
                <a:latin typeface="Times New Roman" panose="02020603050405020304" pitchFamily="18" charset="0"/>
                <a:cs typeface="Times New Roman" panose="02020603050405020304" pitchFamily="18" charset="0"/>
              </a:rPr>
              <a:t>Aligns with NKDEP: awareness, early detection, patient empowerment</a:t>
            </a:r>
            <a:endParaRPr sz="18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endParaRPr sz="1467" dirty="0">
              <a:solidFill>
                <a:schemeClr val="dk1"/>
              </a:solidFill>
            </a:endParaRPr>
          </a:p>
          <a:p>
            <a:pPr marL="0" lvl="0" indent="0" algn="l" rtl="0">
              <a:spcBef>
                <a:spcPts val="1600"/>
              </a:spcBef>
              <a:spcAft>
                <a:spcPts val="0"/>
              </a:spcAft>
              <a:buNone/>
            </a:pPr>
            <a:endParaRPr sz="1467" b="1" dirty="0">
              <a:solidFill>
                <a:schemeClr val="dk1"/>
              </a:solidFill>
            </a:endParaRPr>
          </a:p>
          <a:p>
            <a:pPr marL="0" lvl="0" indent="0" algn="l" rtl="0">
              <a:spcBef>
                <a:spcPts val="1600"/>
              </a:spcBef>
              <a:spcAft>
                <a:spcPts val="1600"/>
              </a:spcAft>
              <a:buNone/>
            </a:pPr>
            <a:endParaRPr sz="1600" dirty="0">
              <a:solidFill>
                <a:schemeClr val="dk1"/>
              </a:solidFill>
            </a:endParaRPr>
          </a:p>
        </p:txBody>
      </p:sp>
    </p:spTree>
    <p:extLst>
      <p:ext uri="{BB962C8B-B14F-4D97-AF65-F5344CB8AC3E}">
        <p14:creationId xmlns:p14="http://schemas.microsoft.com/office/powerpoint/2010/main" val="2521838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2866931" y="274909"/>
            <a:ext cx="9728016" cy="622800"/>
          </a:xfrm>
          <a:prstGeom prst="rect">
            <a:avLst/>
          </a:prstGeom>
        </p:spPr>
        <p:txBody>
          <a:bodyPr spcFirstLastPara="1" wrap="square" lIns="121900" tIns="121900" rIns="121900" bIns="12190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ct val="55000"/>
              <a:buFont typeface="Arial"/>
              <a:buNone/>
            </a:pPr>
            <a:r>
              <a:rPr lang="en" sz="2667">
                <a:solidFill>
                  <a:schemeClr val="dk2"/>
                </a:solidFill>
                <a:highlight>
                  <a:schemeClr val="lt1"/>
                </a:highlight>
                <a:latin typeface="Lato"/>
                <a:ea typeface="Lato"/>
                <a:cs typeface="Lato"/>
                <a:sym typeface="Lato"/>
              </a:rPr>
              <a:t>Intervention 1: Diabetes Self-Managment Education for CKD Prevention</a:t>
            </a:r>
            <a:endParaRPr sz="2667">
              <a:solidFill>
                <a:schemeClr val="dk2"/>
              </a:solidFill>
              <a:highlight>
                <a:schemeClr val="lt1"/>
              </a:highlight>
              <a:latin typeface="Lato"/>
              <a:ea typeface="Lato"/>
              <a:cs typeface="Lato"/>
              <a:sym typeface="Lato"/>
            </a:endParaRPr>
          </a:p>
          <a:p>
            <a:pPr marL="0" lvl="0" indent="0" algn="l" rtl="0">
              <a:spcBef>
                <a:spcPts val="0"/>
              </a:spcBef>
              <a:spcAft>
                <a:spcPts val="0"/>
              </a:spcAft>
              <a:buClr>
                <a:schemeClr val="dk1"/>
              </a:buClr>
              <a:buSzPct val="45833"/>
              <a:buFont typeface="Arial"/>
              <a:buNone/>
            </a:pPr>
            <a:endParaRPr sz="3200">
              <a:solidFill>
                <a:srgbClr val="273540"/>
              </a:solidFill>
              <a:highlight>
                <a:schemeClr val="lt1"/>
              </a:highlight>
              <a:latin typeface="Lato"/>
              <a:ea typeface="Lato"/>
              <a:cs typeface="Lato"/>
              <a:sym typeface="Lato"/>
            </a:endParaRPr>
          </a:p>
          <a:p>
            <a:pPr marL="0" lvl="0" indent="0" algn="l" rtl="0">
              <a:spcBef>
                <a:spcPts val="0"/>
              </a:spcBef>
              <a:spcAft>
                <a:spcPts val="0"/>
              </a:spcAft>
              <a:buNone/>
            </a:pPr>
            <a:endParaRPr/>
          </a:p>
        </p:txBody>
      </p:sp>
      <p:sp>
        <p:nvSpPr>
          <p:cNvPr id="120" name="Google Shape;120;p23"/>
          <p:cNvSpPr txBox="1">
            <a:spLocks noGrp="1"/>
          </p:cNvSpPr>
          <p:nvPr>
            <p:ph type="body" idx="1"/>
          </p:nvPr>
        </p:nvSpPr>
        <p:spPr>
          <a:xfrm>
            <a:off x="415600" y="1048600"/>
            <a:ext cx="5174800" cy="538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ts val="1100"/>
              <a:buFont typeface="Arial"/>
              <a:buNone/>
            </a:pPr>
            <a:r>
              <a:rPr lang="en" sz="1600" b="1" dirty="0">
                <a:latin typeface="Times New Roman" panose="02020603050405020304" pitchFamily="18" charset="0"/>
                <a:cs typeface="Times New Roman" panose="02020603050405020304" pitchFamily="18" charset="0"/>
              </a:rPr>
              <a:t>How It Works</a:t>
            </a:r>
            <a:endParaRPr sz="1600" b="1" dirty="0">
              <a:latin typeface="Times New Roman" panose="02020603050405020304" pitchFamily="18" charset="0"/>
              <a:cs typeface="Times New Roman" panose="02020603050405020304" pitchFamily="18" charset="0"/>
            </a:endParaRPr>
          </a:p>
          <a:p>
            <a:pPr marL="609585" lvl="0" indent="-397923" algn="l" rtl="0">
              <a:spcBef>
                <a:spcPts val="160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Structured, ongoing education + interdisciplinary care team</a:t>
            </a:r>
            <a:endParaRPr sz="1600"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Goal-setting, coaching, and continuous reinforcement</a:t>
            </a:r>
            <a:endParaRPr sz="1600"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Routine monitoring: HbA1c, eGFR, urine albumin</a:t>
            </a:r>
            <a:endParaRPr sz="16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600" b="1" dirty="0">
                <a:latin typeface="Times New Roman" panose="02020603050405020304" pitchFamily="18" charset="0"/>
                <a:cs typeface="Times New Roman" panose="02020603050405020304" pitchFamily="18" charset="0"/>
              </a:rPr>
              <a:t>Impact on CKD</a:t>
            </a:r>
            <a:endParaRPr sz="1600" b="1" dirty="0">
              <a:latin typeface="Times New Roman" panose="02020603050405020304" pitchFamily="18" charset="0"/>
              <a:cs typeface="Times New Roman" panose="02020603050405020304" pitchFamily="18" charset="0"/>
            </a:endParaRPr>
          </a:p>
          <a:p>
            <a:pPr marL="609585" lvl="0" indent="-397923" algn="l" rtl="0">
              <a:spcBef>
                <a:spcPts val="160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Improved glycemic control, </a:t>
            </a:r>
            <a:r>
              <a:rPr lang="en" sz="1600" dirty="0" err="1">
                <a:latin typeface="Times New Roman" panose="02020603050405020304" pitchFamily="18" charset="0"/>
                <a:cs typeface="Times New Roman" panose="02020603050405020304" pitchFamily="18" charset="0"/>
              </a:rPr>
              <a:t>decreasemicrovascular</a:t>
            </a:r>
            <a:r>
              <a:rPr lang="en" sz="1600" dirty="0">
                <a:latin typeface="Times New Roman" panose="02020603050405020304" pitchFamily="18" charset="0"/>
                <a:cs typeface="Times New Roman" panose="02020603050405020304" pitchFamily="18" charset="0"/>
              </a:rPr>
              <a:t> damage</a:t>
            </a:r>
            <a:endParaRPr sz="1600"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Prevents onset &amp; slows progression of diabetic </a:t>
            </a:r>
            <a:r>
              <a:rPr lang="en" sz="1600" dirty="0" err="1">
                <a:latin typeface="Times New Roman" panose="02020603050405020304" pitchFamily="18" charset="0"/>
                <a:cs typeface="Times New Roman" panose="02020603050405020304" pitchFamily="18" charset="0"/>
              </a:rPr>
              <a:t>nephropathy</a:t>
            </a:r>
            <a:endParaRPr sz="16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600" b="1" dirty="0">
                <a:latin typeface="Times New Roman" panose="02020603050405020304" pitchFamily="18" charset="0"/>
                <a:cs typeface="Times New Roman" panose="02020603050405020304" pitchFamily="18" charset="0"/>
              </a:rPr>
              <a:t>Prevention Level</a:t>
            </a:r>
            <a:endParaRPr sz="1600" b="1" dirty="0">
              <a:latin typeface="Times New Roman" panose="02020603050405020304" pitchFamily="18" charset="0"/>
              <a:cs typeface="Times New Roman" panose="02020603050405020304" pitchFamily="18" charset="0"/>
            </a:endParaRPr>
          </a:p>
          <a:p>
            <a:pPr marL="609585" lvl="0" indent="-397923" algn="l" rtl="0">
              <a:spcBef>
                <a:spcPts val="160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Primary: Prevents CKD onset</a:t>
            </a:r>
            <a:endParaRPr sz="1600"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600" dirty="0">
                <a:latin typeface="Times New Roman" panose="02020603050405020304" pitchFamily="18" charset="0"/>
                <a:cs typeface="Times New Roman" panose="02020603050405020304" pitchFamily="18" charset="0"/>
              </a:rPr>
              <a:t>Secondary (main): Early detection &amp; slows progression in at-risk patient</a:t>
            </a:r>
            <a:r>
              <a:rPr lang="en" sz="1467" dirty="0">
                <a:latin typeface="Times New Roman" panose="02020603050405020304" pitchFamily="18" charset="0"/>
                <a:cs typeface="Times New Roman" panose="02020603050405020304" pitchFamily="18" charset="0"/>
              </a:rPr>
              <a:t>s</a:t>
            </a:r>
            <a:endParaRPr sz="1467"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None/>
            </a:pPr>
            <a:endParaRPr sz="1467" dirty="0"/>
          </a:p>
        </p:txBody>
      </p:sp>
      <p:sp>
        <p:nvSpPr>
          <p:cNvPr id="121" name="Google Shape;121;p23"/>
          <p:cNvSpPr txBox="1"/>
          <p:nvPr/>
        </p:nvSpPr>
        <p:spPr>
          <a:xfrm>
            <a:off x="6252069" y="746818"/>
            <a:ext cx="6146000" cy="7316001"/>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ts val="1100"/>
              <a:buFont typeface="Arial"/>
              <a:buNone/>
            </a:pPr>
            <a:r>
              <a:rPr lang="en" sz="1500" b="1" dirty="0">
                <a:solidFill>
                  <a:schemeClr val="tx1"/>
                </a:solidFill>
                <a:latin typeface="Times New Roman" panose="02020603050405020304" pitchFamily="18" charset="0"/>
                <a:cs typeface="Times New Roman" panose="02020603050405020304" pitchFamily="18" charset="0"/>
              </a:rPr>
              <a:t>Implementation &amp; Dissemination</a:t>
            </a:r>
            <a:endParaRPr sz="1500" b="1"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Outpatient DSME programs (in-person + </a:t>
            </a:r>
            <a:r>
              <a:rPr lang="en" sz="1500" dirty="0" err="1">
                <a:solidFill>
                  <a:schemeClr val="tx1"/>
                </a:solidFill>
                <a:latin typeface="Times New Roman" panose="02020603050405020304" pitchFamily="18" charset="0"/>
                <a:cs typeface="Times New Roman" panose="02020603050405020304" pitchFamily="18" charset="0"/>
              </a:rPr>
              <a:t>telehealth</a:t>
            </a:r>
            <a:r>
              <a:rPr lang="en" sz="1500" dirty="0">
                <a:solidFill>
                  <a:schemeClr val="tx1"/>
                </a:solidFill>
                <a:latin typeface="Times New Roman" panose="02020603050405020304" pitchFamily="18" charset="0"/>
                <a:cs typeface="Times New Roman" panose="02020603050405020304" pitchFamily="18" charset="0"/>
              </a:rPr>
              <a:t>)</a:t>
            </a:r>
            <a:endParaRPr sz="1500"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Interdisciplinary team: NP, MD, dietitian, diabetes educator</a:t>
            </a:r>
            <a:endParaRPr sz="1500"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Outreach: clinics, community partnerships, digital platforms</a:t>
            </a:r>
            <a:endParaRPr sz="1500" dirty="0">
              <a:solidFill>
                <a:schemeClr val="tx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500" b="1" dirty="0">
                <a:solidFill>
                  <a:schemeClr val="tx1"/>
                </a:solidFill>
                <a:latin typeface="Times New Roman" panose="02020603050405020304" pitchFamily="18" charset="0"/>
                <a:cs typeface="Times New Roman" panose="02020603050405020304" pitchFamily="18" charset="0"/>
              </a:rPr>
              <a:t>Access</a:t>
            </a:r>
            <a:endParaRPr sz="1500" b="1"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NP Role: Identify patients and place DSME referral </a:t>
            </a:r>
            <a:endParaRPr sz="1500"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Patient: Schedule after referral, attend classes (virtual/in-person)</a:t>
            </a:r>
            <a:endParaRPr sz="1500"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Programs:</a:t>
            </a:r>
            <a:endParaRPr sz="1500" dirty="0">
              <a:solidFill>
                <a:schemeClr val="tx1"/>
              </a:solidFill>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Temple University Hospital Real-World Diabetes Program</a:t>
            </a:r>
            <a:endParaRPr sz="1500" dirty="0">
              <a:solidFill>
                <a:schemeClr val="tx1"/>
              </a:solidFill>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Penn Medicine Pennsylvania Hospital Diabetes Education Center</a:t>
            </a:r>
            <a:endParaRPr lang="en-US" sz="1500" dirty="0">
              <a:solidFill>
                <a:schemeClr val="tx1"/>
              </a:solidFill>
              <a:latin typeface="Times New Roman" panose="02020603050405020304" pitchFamily="18" charset="0"/>
              <a:cs typeface="Times New Roman" panose="02020603050405020304" pitchFamily="18" charset="0"/>
            </a:endParaRPr>
          </a:p>
          <a:p>
            <a:pPr marL="372513">
              <a:buClr>
                <a:schemeClr val="dk2"/>
              </a:buClr>
              <a:buSzPts val="1000"/>
            </a:pPr>
            <a:r>
              <a:rPr lang="en" sz="1500" b="1" dirty="0">
                <a:solidFill>
                  <a:schemeClr val="tx1"/>
                </a:solidFill>
                <a:latin typeface="Times New Roman" panose="02020603050405020304" pitchFamily="18" charset="0"/>
                <a:cs typeface="Times New Roman" panose="02020603050405020304" pitchFamily="18" charset="0"/>
              </a:rPr>
              <a:t>Cost</a:t>
            </a:r>
            <a:endParaRPr sz="1500" b="1"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Medicare: up to 10 hrs DSMT (first year)</a:t>
            </a:r>
            <a:endParaRPr sz="1500" dirty="0">
              <a:solidFill>
                <a:schemeClr val="tx1"/>
              </a:solidFill>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500" dirty="0">
                <a:solidFill>
                  <a:schemeClr val="tx1"/>
                </a:solidFill>
                <a:latin typeface="Times New Roman" panose="02020603050405020304" pitchFamily="18" charset="0"/>
                <a:cs typeface="Times New Roman" panose="02020603050405020304" pitchFamily="18" charset="0"/>
              </a:rPr>
              <a:t>Most private insurance/Medicaid cover (copays may apply)</a:t>
            </a:r>
            <a:endParaRPr sz="1500" dirty="0">
              <a:solidFill>
                <a:schemeClr val="tx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500" dirty="0">
                <a:solidFill>
                  <a:schemeClr val="tx1"/>
                </a:solidFill>
                <a:latin typeface="Times New Roman" panose="02020603050405020304" pitchFamily="18" charset="0"/>
                <a:cs typeface="Times New Roman" panose="02020603050405020304" pitchFamily="18" charset="0"/>
              </a:rPr>
              <a:t>Improves HbA1c, BP, weight, lipids, adherence</a:t>
            </a:r>
            <a:endParaRPr sz="1500" dirty="0">
              <a:solidFill>
                <a:schemeClr val="tx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500" dirty="0">
                <a:solidFill>
                  <a:schemeClr val="tx1"/>
                </a:solidFill>
                <a:latin typeface="Times New Roman" panose="02020603050405020304" pitchFamily="18" charset="0"/>
                <a:cs typeface="Times New Roman" panose="02020603050405020304" pitchFamily="18" charset="0"/>
              </a:rPr>
              <a:t>Decrease hospitalizations &amp; healthcare costs</a:t>
            </a:r>
            <a:endParaRPr sz="1500" dirty="0">
              <a:solidFill>
                <a:schemeClr val="tx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500" dirty="0">
                <a:solidFill>
                  <a:schemeClr val="tx1"/>
                </a:solidFill>
                <a:latin typeface="Times New Roman" panose="02020603050405020304" pitchFamily="18" charset="0"/>
                <a:cs typeface="Times New Roman" panose="02020603050405020304" pitchFamily="18" charset="0"/>
              </a:rPr>
              <a:t>CKD markers: improved eGFR &amp; decrease  urine albumin</a:t>
            </a:r>
            <a:endParaRPr sz="1500" dirty="0">
              <a:solidFill>
                <a:schemeClr val="tx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endParaRPr sz="1067"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600"/>
              </a:spcBef>
              <a:spcAft>
                <a:spcPts val="0"/>
              </a:spcAft>
              <a:buNone/>
            </a:pPr>
            <a:endParaRPr sz="1467" dirty="0">
              <a:solidFill>
                <a:schemeClr val="dk1"/>
              </a:solidFill>
            </a:endParaRPr>
          </a:p>
          <a:p>
            <a:pPr marL="0" lvl="0" indent="0" algn="l" rtl="0">
              <a:lnSpc>
                <a:spcPct val="115000"/>
              </a:lnSpc>
              <a:spcBef>
                <a:spcPts val="1600"/>
              </a:spcBef>
              <a:spcAft>
                <a:spcPts val="1600"/>
              </a:spcAft>
              <a:buNone/>
            </a:pPr>
            <a:endParaRPr sz="1467" b="1" dirty="0">
              <a:solidFill>
                <a:schemeClr val="dk1"/>
              </a:solidFill>
            </a:endParaRPr>
          </a:p>
        </p:txBody>
      </p:sp>
    </p:spTree>
    <p:extLst>
      <p:ext uri="{BB962C8B-B14F-4D97-AF65-F5344CB8AC3E}">
        <p14:creationId xmlns:p14="http://schemas.microsoft.com/office/powerpoint/2010/main" val="1345198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415600" y="268533"/>
            <a:ext cx="11360800" cy="7636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ct val="50000"/>
              <a:buFont typeface="Arial"/>
              <a:buNone/>
            </a:pPr>
            <a:r>
              <a:rPr lang="en" sz="2933">
                <a:solidFill>
                  <a:schemeClr val="dk2"/>
                </a:solidFill>
                <a:highlight>
                  <a:schemeClr val="lt1"/>
                </a:highlight>
                <a:latin typeface="Lato"/>
                <a:ea typeface="Lato"/>
                <a:cs typeface="Lato"/>
                <a:sym typeface="Lato"/>
              </a:rPr>
              <a:t>Intervention 2: Annual CKD Screening for High-Risk Adults </a:t>
            </a:r>
            <a:endParaRPr sz="2933">
              <a:solidFill>
                <a:schemeClr val="dk2"/>
              </a:solidFill>
              <a:highlight>
                <a:schemeClr val="lt1"/>
              </a:highlight>
              <a:latin typeface="Lato"/>
              <a:ea typeface="Lato"/>
              <a:cs typeface="Lato"/>
              <a:sym typeface="Lato"/>
            </a:endParaRPr>
          </a:p>
          <a:p>
            <a:pPr marL="0" lvl="0" indent="0" algn="l" rtl="0">
              <a:spcBef>
                <a:spcPts val="0"/>
              </a:spcBef>
              <a:spcAft>
                <a:spcPts val="0"/>
              </a:spcAft>
              <a:buClr>
                <a:schemeClr val="dk1"/>
              </a:buClr>
              <a:buSzPct val="45833"/>
              <a:buFont typeface="Arial"/>
              <a:buNone/>
            </a:pPr>
            <a:endParaRPr sz="3200">
              <a:solidFill>
                <a:srgbClr val="273540"/>
              </a:solidFill>
              <a:highlight>
                <a:schemeClr val="lt1"/>
              </a:highlight>
              <a:latin typeface="Lato"/>
              <a:ea typeface="Lato"/>
              <a:cs typeface="Lato"/>
              <a:sym typeface="Lato"/>
            </a:endParaRPr>
          </a:p>
          <a:p>
            <a:pPr marL="0" lvl="0" indent="0" algn="l" rtl="0">
              <a:spcBef>
                <a:spcPts val="1600"/>
              </a:spcBef>
              <a:spcAft>
                <a:spcPts val="0"/>
              </a:spcAft>
              <a:buNone/>
            </a:pPr>
            <a:endParaRPr sz="1467"/>
          </a:p>
          <a:p>
            <a:pPr marL="0" lvl="0" indent="0" algn="l" rtl="0">
              <a:spcBef>
                <a:spcPts val="1600"/>
              </a:spcBef>
              <a:spcAft>
                <a:spcPts val="0"/>
              </a:spcAft>
              <a:buNone/>
            </a:pPr>
            <a:endParaRPr sz="1600" b="1"/>
          </a:p>
          <a:p>
            <a:pPr marL="0" lvl="0" indent="0" algn="l" rtl="0">
              <a:spcBef>
                <a:spcPts val="0"/>
              </a:spcBef>
              <a:spcAft>
                <a:spcPts val="0"/>
              </a:spcAft>
              <a:buNone/>
            </a:pPr>
            <a:endParaRPr/>
          </a:p>
        </p:txBody>
      </p:sp>
      <p:sp>
        <p:nvSpPr>
          <p:cNvPr id="127" name="Google Shape;127;p24"/>
          <p:cNvSpPr txBox="1">
            <a:spLocks noGrp="1"/>
          </p:cNvSpPr>
          <p:nvPr>
            <p:ph type="body" idx="1"/>
          </p:nvPr>
        </p:nvSpPr>
        <p:spPr>
          <a:xfrm>
            <a:off x="6265900" y="1032133"/>
            <a:ext cx="5209600" cy="45552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ts val="1100"/>
              <a:buFont typeface="Arial"/>
              <a:buNone/>
            </a:pPr>
            <a:r>
              <a:rPr lang="en" sz="1800" b="1" dirty="0">
                <a:latin typeface="Times New Roman" panose="02020603050405020304" pitchFamily="18" charset="0"/>
                <a:cs typeface="Times New Roman" panose="02020603050405020304" pitchFamily="18" charset="0"/>
              </a:rPr>
              <a:t>Purpose / Aim</a:t>
            </a:r>
            <a:endParaRPr sz="1800" b="1" dirty="0">
              <a:latin typeface="Times New Roman" panose="02020603050405020304" pitchFamily="18" charset="0"/>
              <a:cs typeface="Times New Roman" panose="02020603050405020304" pitchFamily="18" charset="0"/>
            </a:endParaRPr>
          </a:p>
          <a:p>
            <a:pPr marL="609585" lvl="0" indent="-423323" algn="l" rtl="0">
              <a:spcBef>
                <a:spcPts val="1600"/>
              </a:spcBef>
              <a:spcAft>
                <a:spcPts val="0"/>
              </a:spcAft>
              <a:buClr>
                <a:schemeClr val="dk2"/>
              </a:buClr>
              <a:buSzPts val="1400"/>
              <a:buChar char="●"/>
            </a:pPr>
            <a:r>
              <a:rPr lang="en" sz="1800" dirty="0">
                <a:latin typeface="Times New Roman" panose="02020603050405020304" pitchFamily="18" charset="0"/>
                <a:cs typeface="Times New Roman" panose="02020603050405020304" pitchFamily="18" charset="0"/>
              </a:rPr>
              <a:t>Early detection of CKD</a:t>
            </a:r>
            <a:endParaRPr sz="1800" dirty="0">
              <a:latin typeface="Times New Roman" panose="02020603050405020304" pitchFamily="18" charset="0"/>
              <a:cs typeface="Times New Roman" panose="02020603050405020304" pitchFamily="18" charset="0"/>
            </a:endParaRPr>
          </a:p>
          <a:p>
            <a:pPr marL="609585" lvl="0" indent="-423323" algn="l" rtl="0">
              <a:spcBef>
                <a:spcPts val="0"/>
              </a:spcBef>
              <a:spcAft>
                <a:spcPts val="0"/>
              </a:spcAft>
              <a:buClr>
                <a:schemeClr val="dk2"/>
              </a:buClr>
              <a:buSzPts val="1400"/>
              <a:buChar char="●"/>
            </a:pPr>
            <a:r>
              <a:rPr lang="en" sz="1800" dirty="0">
                <a:latin typeface="Times New Roman" panose="02020603050405020304" pitchFamily="18" charset="0"/>
                <a:cs typeface="Times New Roman" panose="02020603050405020304" pitchFamily="18" charset="0"/>
              </a:rPr>
              <a:t>Increase awareness</a:t>
            </a:r>
            <a:endParaRPr sz="1800" dirty="0">
              <a:latin typeface="Times New Roman" panose="02020603050405020304" pitchFamily="18" charset="0"/>
              <a:cs typeface="Times New Roman" panose="02020603050405020304" pitchFamily="18" charset="0"/>
            </a:endParaRPr>
          </a:p>
          <a:p>
            <a:pPr marL="609585" lvl="0" indent="-423323" algn="l" rtl="0">
              <a:spcBef>
                <a:spcPts val="0"/>
              </a:spcBef>
              <a:spcAft>
                <a:spcPts val="0"/>
              </a:spcAft>
              <a:buClr>
                <a:schemeClr val="dk2"/>
              </a:buClr>
              <a:buSzPts val="1400"/>
              <a:buChar char="●"/>
            </a:pPr>
            <a:r>
              <a:rPr lang="en" sz="1800" dirty="0">
                <a:latin typeface="Times New Roman" panose="02020603050405020304" pitchFamily="18" charset="0"/>
                <a:cs typeface="Times New Roman" panose="02020603050405020304" pitchFamily="18" charset="0"/>
              </a:rPr>
              <a:t>Initiate early treatment to decrease progression</a:t>
            </a:r>
            <a:endParaRPr sz="18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800" b="1" dirty="0">
                <a:latin typeface="Times New Roman" panose="02020603050405020304" pitchFamily="18" charset="0"/>
                <a:cs typeface="Times New Roman" panose="02020603050405020304" pitchFamily="18" charset="0"/>
              </a:rPr>
              <a:t>Prevention Level</a:t>
            </a:r>
            <a:endParaRPr sz="1800" b="1" dirty="0">
              <a:latin typeface="Times New Roman" panose="02020603050405020304" pitchFamily="18" charset="0"/>
              <a:cs typeface="Times New Roman" panose="02020603050405020304" pitchFamily="18" charset="0"/>
            </a:endParaRPr>
          </a:p>
          <a:p>
            <a:pPr marL="609585" lvl="0" indent="-423323" algn="l" rtl="0">
              <a:spcBef>
                <a:spcPts val="1600"/>
              </a:spcBef>
              <a:spcAft>
                <a:spcPts val="0"/>
              </a:spcAft>
              <a:buClr>
                <a:schemeClr val="dk2"/>
              </a:buClr>
              <a:buSzPts val="1400"/>
              <a:buChar char="●"/>
            </a:pPr>
            <a:r>
              <a:rPr lang="en" sz="1800" dirty="0">
                <a:latin typeface="Times New Roman" panose="02020603050405020304" pitchFamily="18" charset="0"/>
                <a:cs typeface="Times New Roman" panose="02020603050405020304" pitchFamily="18" charset="0"/>
              </a:rPr>
              <a:t>Secondary prevention (early detection in at-risk patients)</a:t>
            </a:r>
            <a:endParaRPr sz="18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endParaRPr sz="1800" b="1"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Clr>
                <a:schemeClr val="dk1"/>
              </a:buClr>
              <a:buSzPts val="1100"/>
              <a:buFont typeface="Arial"/>
              <a:buNone/>
            </a:pPr>
            <a:endParaRPr sz="1800" b="1" dirty="0">
              <a:solidFill>
                <a:schemeClr val="dk1"/>
              </a:solidFill>
              <a:latin typeface="Times New Roman" panose="02020603050405020304" pitchFamily="18" charset="0"/>
              <a:cs typeface="Times New Roman" panose="02020603050405020304" pitchFamily="18" charset="0"/>
            </a:endParaRPr>
          </a:p>
        </p:txBody>
      </p:sp>
      <p:sp>
        <p:nvSpPr>
          <p:cNvPr id="128" name="Google Shape;128;p24"/>
          <p:cNvSpPr txBox="1">
            <a:spLocks noGrp="1"/>
          </p:cNvSpPr>
          <p:nvPr>
            <p:ph type="body" idx="1"/>
          </p:nvPr>
        </p:nvSpPr>
        <p:spPr>
          <a:xfrm>
            <a:off x="343400" y="1032133"/>
            <a:ext cx="6406400" cy="6006400"/>
          </a:xfrm>
          <a:prstGeom prst="rect">
            <a:avLst/>
          </a:prstGeom>
        </p:spPr>
        <p:txBody>
          <a:bodyPr spcFirstLastPara="1" wrap="square" lIns="121900" tIns="121900" rIns="121900" bIns="1219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00000"/>
              </a:lnSpc>
              <a:spcBef>
                <a:spcPts val="1600"/>
              </a:spcBef>
              <a:spcAft>
                <a:spcPts val="0"/>
              </a:spcAft>
              <a:buNone/>
            </a:pPr>
            <a:r>
              <a:rPr lang="en" sz="1600" b="1" dirty="0">
                <a:latin typeface="Times New Roman" panose="02020603050405020304" pitchFamily="18" charset="0"/>
                <a:cs typeface="Times New Roman" panose="02020603050405020304" pitchFamily="18" charset="0"/>
              </a:rPr>
              <a:t>Strategy / Intervention</a:t>
            </a:r>
            <a:endParaRPr sz="1600" b="1"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160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Annual CKD screening for high-risk adults</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Tests:</a:t>
            </a:r>
            <a:endParaRPr sz="1600" dirty="0">
              <a:latin typeface="Times New Roman" panose="02020603050405020304" pitchFamily="18" charset="0"/>
              <a:cs typeface="Times New Roman" panose="02020603050405020304" pitchFamily="18" charset="0"/>
            </a:endParaRPr>
          </a:p>
          <a:p>
            <a:pPr marL="1219170" lvl="1"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Serum creatinine, eGFR</a:t>
            </a:r>
            <a:endParaRPr sz="1600" dirty="0">
              <a:latin typeface="Times New Roman" panose="02020603050405020304" pitchFamily="18" charset="0"/>
              <a:cs typeface="Times New Roman" panose="02020603050405020304" pitchFamily="18" charset="0"/>
            </a:endParaRPr>
          </a:p>
          <a:p>
            <a:pPr marL="1219170" lvl="1"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Urine albumin-to-creatinine ratio (uACR)</a:t>
            </a:r>
            <a:endParaRPr sz="1600" dirty="0">
              <a:latin typeface="Times New Roman" panose="02020603050405020304" pitchFamily="18" charset="0"/>
              <a:cs typeface="Times New Roman" panose="02020603050405020304" pitchFamily="18" charset="0"/>
            </a:endParaRPr>
          </a:p>
          <a:p>
            <a:pPr marL="0" lvl="0" indent="0" algn="l" rtl="0">
              <a:lnSpc>
                <a:spcPct val="100000"/>
              </a:lnSpc>
              <a:spcBef>
                <a:spcPts val="1600"/>
              </a:spcBef>
              <a:spcAft>
                <a:spcPts val="0"/>
              </a:spcAft>
              <a:buNone/>
            </a:pPr>
            <a:r>
              <a:rPr lang="en" sz="1600" b="1" dirty="0">
                <a:latin typeface="Times New Roman" panose="02020603050405020304" pitchFamily="18" charset="0"/>
                <a:cs typeface="Times New Roman" panose="02020603050405020304" pitchFamily="18" charset="0"/>
              </a:rPr>
              <a:t>Target Population</a:t>
            </a:r>
            <a:endParaRPr sz="1600" b="1"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160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Diabetes</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Hypertension</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Other CKD risk factors</a:t>
            </a:r>
            <a:endParaRPr sz="1600" dirty="0">
              <a:latin typeface="Times New Roman" panose="02020603050405020304" pitchFamily="18" charset="0"/>
              <a:cs typeface="Times New Roman" panose="02020603050405020304" pitchFamily="18" charset="0"/>
            </a:endParaRPr>
          </a:p>
          <a:p>
            <a:pPr marL="0" lvl="0" indent="0" algn="l" rtl="0">
              <a:lnSpc>
                <a:spcPct val="100000"/>
              </a:lnSpc>
              <a:spcBef>
                <a:spcPts val="1600"/>
              </a:spcBef>
              <a:spcAft>
                <a:spcPts val="0"/>
              </a:spcAft>
              <a:buNone/>
            </a:pPr>
            <a:r>
              <a:rPr lang="en" sz="1600" b="1" dirty="0">
                <a:latin typeface="Times New Roman" panose="02020603050405020304" pitchFamily="18" charset="0"/>
                <a:cs typeface="Times New Roman" panose="02020603050405020304" pitchFamily="18" charset="0"/>
              </a:rPr>
              <a:t>How It Works</a:t>
            </a:r>
            <a:endParaRPr sz="1600" b="1"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160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Detects kidney damage before symptoms</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eGFR: measures kidney function</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uACR: detects albuminuria</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Abnormal results confirmed with repeat testing</a:t>
            </a:r>
            <a:endParaRPr sz="1600" dirty="0">
              <a:latin typeface="Times New Roman" panose="02020603050405020304" pitchFamily="18" charset="0"/>
              <a:cs typeface="Times New Roman" panose="02020603050405020304" pitchFamily="18" charset="0"/>
            </a:endParaRPr>
          </a:p>
          <a:p>
            <a:pPr marL="0" lvl="0" indent="0" algn="l" rtl="0">
              <a:lnSpc>
                <a:spcPct val="100000"/>
              </a:lnSpc>
              <a:spcBef>
                <a:spcPts val="1600"/>
              </a:spcBef>
              <a:spcAft>
                <a:spcPts val="0"/>
              </a:spcAft>
              <a:buNone/>
            </a:pPr>
            <a:r>
              <a:rPr lang="en" sz="1600" b="1" dirty="0">
                <a:latin typeface="Times New Roman" panose="02020603050405020304" pitchFamily="18" charset="0"/>
                <a:cs typeface="Times New Roman" panose="02020603050405020304" pitchFamily="18" charset="0"/>
              </a:rPr>
              <a:t>Diagnostic Indicators</a:t>
            </a:r>
            <a:endParaRPr sz="1600" b="1"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160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uACR ≥ 30 mg/g: kidney damage</a:t>
            </a:r>
            <a:endParaRPr sz="1600" dirty="0">
              <a:latin typeface="Times New Roman" panose="02020603050405020304" pitchFamily="18" charset="0"/>
              <a:cs typeface="Times New Roman" panose="02020603050405020304" pitchFamily="18" charset="0"/>
            </a:endParaRPr>
          </a:p>
          <a:p>
            <a:pPr marL="609585" lvl="0" indent="-406390" algn="l" rtl="0">
              <a:lnSpc>
                <a:spcPct val="100000"/>
              </a:lnSpc>
              <a:spcBef>
                <a:spcPts val="0"/>
              </a:spcBef>
              <a:spcAft>
                <a:spcPts val="0"/>
              </a:spcAft>
              <a:buClr>
                <a:schemeClr val="dk2"/>
              </a:buClr>
              <a:buSzPts val="1200"/>
              <a:buChar char="●"/>
            </a:pPr>
            <a:r>
              <a:rPr lang="en" sz="1600" dirty="0">
                <a:latin typeface="Times New Roman" panose="02020603050405020304" pitchFamily="18" charset="0"/>
                <a:cs typeface="Times New Roman" panose="02020603050405020304" pitchFamily="18" charset="0"/>
              </a:rPr>
              <a:t>eGFR &lt; 60 mL/min/1.73 m²: CKD</a:t>
            </a:r>
            <a:endParaRPr sz="1600" b="1"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endParaRPr sz="1467" b="1" dirty="0"/>
          </a:p>
          <a:p>
            <a:pPr marL="0" lvl="0" indent="0" algn="l" rtl="0">
              <a:spcBef>
                <a:spcPts val="1600"/>
              </a:spcBef>
              <a:spcAft>
                <a:spcPts val="1600"/>
              </a:spcAft>
              <a:buNone/>
            </a:pPr>
            <a:endParaRPr sz="1600" b="1" dirty="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415600" y="250467"/>
            <a:ext cx="113608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ts val="1100"/>
              <a:buFont typeface="Arial"/>
              <a:buNone/>
            </a:pPr>
            <a:r>
              <a:rPr lang="en" sz="2400">
                <a:solidFill>
                  <a:schemeClr val="dk2"/>
                </a:solidFill>
                <a:highlight>
                  <a:schemeClr val="lt1"/>
                </a:highlight>
                <a:latin typeface="Lato"/>
                <a:ea typeface="Lato"/>
                <a:cs typeface="Lato"/>
                <a:sym typeface="Lato"/>
              </a:rPr>
              <a:t>Intervention 2: Annual CKD Screening for High-Risk Adults </a:t>
            </a:r>
            <a:endParaRPr sz="2400">
              <a:solidFill>
                <a:schemeClr val="dk2"/>
              </a:solidFill>
              <a:highlight>
                <a:schemeClr val="lt1"/>
              </a:highlight>
              <a:latin typeface="Lato"/>
              <a:ea typeface="Lato"/>
              <a:cs typeface="Lato"/>
              <a:sym typeface="Lato"/>
            </a:endParaRPr>
          </a:p>
          <a:p>
            <a:pPr marL="0" lvl="0" indent="0" algn="l" rtl="0">
              <a:spcBef>
                <a:spcPts val="0"/>
              </a:spcBef>
              <a:spcAft>
                <a:spcPts val="0"/>
              </a:spcAft>
              <a:buNone/>
            </a:pPr>
            <a:endParaRPr/>
          </a:p>
        </p:txBody>
      </p:sp>
      <p:sp>
        <p:nvSpPr>
          <p:cNvPr id="134" name="Google Shape;134;p25"/>
          <p:cNvSpPr txBox="1">
            <a:spLocks noGrp="1"/>
          </p:cNvSpPr>
          <p:nvPr>
            <p:ph type="body" idx="1"/>
          </p:nvPr>
        </p:nvSpPr>
        <p:spPr>
          <a:xfrm>
            <a:off x="253167" y="1151399"/>
            <a:ext cx="5529200" cy="5248897"/>
          </a:xfrm>
          <a:prstGeom prst="rect">
            <a:avLst/>
          </a:prstGeom>
        </p:spPr>
        <p:txBody>
          <a:bodyPr spcFirstLastPara="1" wrap="square" lIns="121900" tIns="121900" rIns="121900" bIns="121900" anchor="t"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ts val="275"/>
              <a:buFont typeface="Arial"/>
              <a:buNone/>
            </a:pPr>
            <a:r>
              <a:rPr lang="en" sz="7200" b="1" dirty="0">
                <a:latin typeface="Times New Roman" panose="02020603050405020304" pitchFamily="18" charset="0"/>
                <a:cs typeface="Times New Roman" panose="02020603050405020304" pitchFamily="18" charset="0"/>
              </a:rPr>
              <a:t>Implementation &amp; Organizations</a:t>
            </a:r>
            <a:endParaRPr sz="7200" b="1" dirty="0">
              <a:latin typeface="Times New Roman" panose="02020603050405020304" pitchFamily="18" charset="0"/>
              <a:cs typeface="Times New Roman" panose="02020603050405020304" pitchFamily="18" charset="0"/>
            </a:endParaRPr>
          </a:p>
          <a:p>
            <a:pPr marL="609585" lvl="0" indent="-406390" algn="l" rtl="0">
              <a:spcBef>
                <a:spcPts val="160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Community + clinical screening programs</a:t>
            </a:r>
            <a:endParaRPr sz="7200" dirty="0">
              <a:latin typeface="Times New Roman" panose="02020603050405020304" pitchFamily="18" charset="0"/>
              <a:cs typeface="Times New Roman" panose="02020603050405020304" pitchFamily="18" charset="0"/>
            </a:endParaRPr>
          </a:p>
          <a:p>
            <a:pPr marL="609585" lvl="0" indent="-406390" algn="l" rtl="0">
              <a:spcBef>
                <a:spcPts val="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Penn Kidney Disease Screening and Awareness Program (PennKDSAP)</a:t>
            </a:r>
            <a:endParaRPr sz="7200" dirty="0">
              <a:latin typeface="Times New Roman" panose="02020603050405020304" pitchFamily="18" charset="0"/>
              <a:cs typeface="Times New Roman" panose="02020603050405020304" pitchFamily="18" charset="0"/>
            </a:endParaRPr>
          </a:p>
          <a:p>
            <a:pPr marL="609585" lvl="0" indent="-406390" algn="l" rtl="0">
              <a:spcBef>
                <a:spcPts val="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Penn Medicine + community partners</a:t>
            </a:r>
            <a:endParaRPr sz="72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275"/>
              <a:buFont typeface="Arial"/>
              <a:buNone/>
            </a:pPr>
            <a:r>
              <a:rPr lang="en" sz="7200" b="1" dirty="0">
                <a:latin typeface="Times New Roman" panose="02020603050405020304" pitchFamily="18" charset="0"/>
                <a:cs typeface="Times New Roman" panose="02020603050405020304" pitchFamily="18" charset="0"/>
              </a:rPr>
              <a:t>Access</a:t>
            </a:r>
            <a:endParaRPr sz="7200" b="1" dirty="0">
              <a:latin typeface="Times New Roman" panose="02020603050405020304" pitchFamily="18" charset="0"/>
              <a:cs typeface="Times New Roman" panose="02020603050405020304" pitchFamily="18" charset="0"/>
            </a:endParaRPr>
          </a:p>
          <a:p>
            <a:pPr marL="609585" lvl="0" indent="-406390" algn="l" rtl="0">
              <a:spcBef>
                <a:spcPts val="160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NP: Order eGFR &amp; uACR OR refer to community screening</a:t>
            </a:r>
            <a:endParaRPr sz="7200" dirty="0">
              <a:latin typeface="Times New Roman" panose="02020603050405020304" pitchFamily="18" charset="0"/>
              <a:cs typeface="Times New Roman" panose="02020603050405020304" pitchFamily="18" charset="0"/>
            </a:endParaRPr>
          </a:p>
          <a:p>
            <a:pPr marL="609585" lvl="0" indent="-406390" algn="l" rtl="0">
              <a:spcBef>
                <a:spcPts val="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Patient:</a:t>
            </a:r>
            <a:endParaRPr sz="7200" dirty="0">
              <a:latin typeface="Times New Roman" panose="02020603050405020304" pitchFamily="18" charset="0"/>
              <a:cs typeface="Times New Roman" panose="02020603050405020304" pitchFamily="18" charset="0"/>
            </a:endParaRPr>
          </a:p>
          <a:p>
            <a:pPr marL="1219170" lvl="1" indent="-406390" algn="l" rtl="0">
              <a:spcBef>
                <a:spcPts val="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Routine lab testing via provider</a:t>
            </a:r>
            <a:endParaRPr sz="7200" dirty="0">
              <a:latin typeface="Times New Roman" panose="02020603050405020304" pitchFamily="18" charset="0"/>
              <a:cs typeface="Times New Roman" panose="02020603050405020304" pitchFamily="18" charset="0"/>
            </a:endParaRPr>
          </a:p>
          <a:p>
            <a:pPr marL="1219170" lvl="1" indent="-406390" algn="l" rtl="0">
              <a:spcBef>
                <a:spcPts val="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Free community screenings (churches, community centers)</a:t>
            </a:r>
            <a:endParaRPr sz="72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275"/>
              <a:buFont typeface="Arial"/>
              <a:buNone/>
            </a:pPr>
            <a:r>
              <a:rPr lang="en" sz="7200" b="1" dirty="0">
                <a:latin typeface="Times New Roman" panose="02020603050405020304" pitchFamily="18" charset="0"/>
                <a:cs typeface="Times New Roman" panose="02020603050405020304" pitchFamily="18" charset="0"/>
              </a:rPr>
              <a:t>Communication</a:t>
            </a:r>
            <a:endParaRPr sz="7200" b="1" dirty="0">
              <a:latin typeface="Times New Roman" panose="02020603050405020304" pitchFamily="18" charset="0"/>
              <a:cs typeface="Times New Roman" panose="02020603050405020304" pitchFamily="18" charset="0"/>
            </a:endParaRPr>
          </a:p>
          <a:p>
            <a:pPr marL="609585" lvl="0" indent="-406390" algn="l" rtl="0">
              <a:spcBef>
                <a:spcPts val="160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Websites, community outreach, partnerships</a:t>
            </a:r>
            <a:endParaRPr sz="7200" dirty="0">
              <a:latin typeface="Times New Roman" panose="02020603050405020304" pitchFamily="18" charset="0"/>
              <a:cs typeface="Times New Roman" panose="02020603050405020304" pitchFamily="18" charset="0"/>
            </a:endParaRPr>
          </a:p>
          <a:p>
            <a:pPr marL="609585" lvl="0" indent="-406390" algn="l" rtl="0">
              <a:spcBef>
                <a:spcPts val="0"/>
              </a:spcBef>
              <a:spcAft>
                <a:spcPts val="0"/>
              </a:spcAft>
              <a:buClr>
                <a:schemeClr val="dk2"/>
              </a:buClr>
              <a:buSzPct val="100000"/>
              <a:buChar char="●"/>
            </a:pPr>
            <a:r>
              <a:rPr lang="en" sz="7200" dirty="0">
                <a:latin typeface="Times New Roman" panose="02020603050405020304" pitchFamily="18" charset="0"/>
                <a:cs typeface="Times New Roman" panose="02020603050405020304" pitchFamily="18" charset="0"/>
              </a:rPr>
              <a:t>Local screening events &amp; referrals</a:t>
            </a:r>
            <a:endParaRPr sz="7200"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None/>
            </a:pPr>
            <a:endParaRPr dirty="0"/>
          </a:p>
        </p:txBody>
      </p:sp>
      <p:sp>
        <p:nvSpPr>
          <p:cNvPr id="135" name="Google Shape;135;p25"/>
          <p:cNvSpPr txBox="1">
            <a:spLocks noGrp="1"/>
          </p:cNvSpPr>
          <p:nvPr>
            <p:ph type="body" idx="1"/>
          </p:nvPr>
        </p:nvSpPr>
        <p:spPr>
          <a:xfrm>
            <a:off x="5570396" y="869667"/>
            <a:ext cx="6621604" cy="5699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ts val="1100"/>
              <a:buFont typeface="Arial"/>
              <a:buNone/>
            </a:pPr>
            <a:r>
              <a:rPr lang="en" sz="1400" b="1" dirty="0">
                <a:latin typeface="Times New Roman" panose="02020603050405020304" pitchFamily="18" charset="0"/>
                <a:cs typeface="Times New Roman" panose="02020603050405020304" pitchFamily="18" charset="0"/>
              </a:rPr>
              <a:t>Advantages</a:t>
            </a:r>
            <a:endParaRPr sz="14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Early detection before symptoms</a:t>
            </a:r>
            <a:endParaRPr sz="14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Simple, low-cost testing</a:t>
            </a:r>
            <a:endParaRPr sz="14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Community-based → improved access</a:t>
            </a:r>
            <a:endParaRPr sz="14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400" b="1" dirty="0">
                <a:latin typeface="Times New Roman" panose="02020603050405020304" pitchFamily="18" charset="0"/>
                <a:cs typeface="Times New Roman" panose="02020603050405020304" pitchFamily="18" charset="0"/>
              </a:rPr>
              <a:t>Barriers</a:t>
            </a:r>
            <a:endParaRPr sz="14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Low CKD awareness</a:t>
            </a:r>
            <a:endParaRPr sz="14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Insurance/transportation issues</a:t>
            </a:r>
            <a:endParaRPr sz="14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Limited follow-up in vulnerable populations</a:t>
            </a:r>
            <a:endParaRPr sz="14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400" b="1" dirty="0">
                <a:latin typeface="Times New Roman" panose="02020603050405020304" pitchFamily="18" charset="0"/>
                <a:cs typeface="Times New Roman" panose="02020603050405020304" pitchFamily="18" charset="0"/>
              </a:rPr>
              <a:t>Cost</a:t>
            </a:r>
            <a:endParaRPr sz="14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Community screenings: Free</a:t>
            </a:r>
            <a:endParaRPr sz="14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Clinical labs: insurance/Medicare/Medicaid or out-of-pocket</a:t>
            </a:r>
            <a:endParaRPr sz="14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400" b="1" dirty="0">
                <a:latin typeface="Times New Roman" panose="02020603050405020304" pitchFamily="18" charset="0"/>
                <a:cs typeface="Times New Roman" panose="02020603050405020304" pitchFamily="18" charset="0"/>
              </a:rPr>
              <a:t>Effectiveness &amp; Outcomes</a:t>
            </a:r>
            <a:endParaRPr sz="1400" b="1" dirty="0">
              <a:latin typeface="Times New Roman" panose="02020603050405020304" pitchFamily="18" charset="0"/>
              <a:cs typeface="Times New Roman" panose="02020603050405020304" pitchFamily="18" charset="0"/>
            </a:endParaRPr>
          </a:p>
          <a:p>
            <a:pPr marL="609585" lvl="0" indent="-389457" algn="l" rtl="0">
              <a:spcBef>
                <a:spcPts val="160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Identifies undiagnosed CKD early</a:t>
            </a:r>
            <a:endParaRPr sz="1400" dirty="0">
              <a:latin typeface="Times New Roman" panose="02020603050405020304" pitchFamily="18" charset="0"/>
              <a:cs typeface="Times New Roman" panose="02020603050405020304" pitchFamily="18" charset="0"/>
            </a:endParaRPr>
          </a:p>
          <a:p>
            <a:pPr marL="609585" lvl="0"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Outcome measures:</a:t>
            </a:r>
            <a:endParaRPr sz="14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 screened</a:t>
            </a:r>
            <a:endParaRPr sz="14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Abnormal eGFR/uACR rates</a:t>
            </a:r>
            <a:endParaRPr sz="14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CKD awareness</a:t>
            </a:r>
            <a:endParaRPr sz="1400" dirty="0">
              <a:latin typeface="Times New Roman" panose="02020603050405020304" pitchFamily="18" charset="0"/>
              <a:cs typeface="Times New Roman" panose="02020603050405020304" pitchFamily="18" charset="0"/>
            </a:endParaRPr>
          </a:p>
          <a:p>
            <a:pPr marL="1219170" lvl="1" indent="-389457" algn="l" rtl="0">
              <a:spcBef>
                <a:spcPts val="0"/>
              </a:spcBef>
              <a:spcAft>
                <a:spcPts val="0"/>
              </a:spcAft>
              <a:buClr>
                <a:schemeClr val="dk2"/>
              </a:buClr>
              <a:buSzPts val="1000"/>
              <a:buChar char="○"/>
            </a:pPr>
            <a:r>
              <a:rPr lang="en" sz="1400" dirty="0">
                <a:latin typeface="Times New Roman" panose="02020603050405020304" pitchFamily="18" charset="0"/>
                <a:cs typeface="Times New Roman" panose="02020603050405020304" pitchFamily="18" charset="0"/>
              </a:rPr>
              <a:t>Follow-up/referrals</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554320" y="161435"/>
            <a:ext cx="9074841" cy="22151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133" dirty="0">
                <a:solidFill>
                  <a:schemeClr val="dk2"/>
                </a:solidFill>
                <a:highlight>
                  <a:schemeClr val="lt1"/>
                </a:highlight>
                <a:latin typeface="Lato"/>
                <a:ea typeface="Lato"/>
                <a:cs typeface="Lato"/>
                <a:sym typeface="Lato"/>
              </a:rPr>
              <a:t>Intervention 3: Hypertension Control with Self-Monitored Blood Pressure and Follow-Up Care</a:t>
            </a:r>
            <a:endParaRPr sz="2133" dirty="0">
              <a:solidFill>
                <a:schemeClr val="dk2"/>
              </a:solidFill>
              <a:highlight>
                <a:schemeClr val="lt1"/>
              </a:highlight>
              <a:latin typeface="Lato"/>
              <a:ea typeface="Lato"/>
              <a:cs typeface="Lato"/>
              <a:sym typeface="Lato"/>
            </a:endParaRPr>
          </a:p>
          <a:p>
            <a:pPr marL="0" lvl="0" indent="0" algn="l" rtl="0">
              <a:spcBef>
                <a:spcPts val="0"/>
              </a:spcBef>
              <a:spcAft>
                <a:spcPts val="0"/>
              </a:spcAft>
              <a:buNone/>
            </a:pPr>
            <a:endParaRPr dirty="0"/>
          </a:p>
        </p:txBody>
      </p:sp>
      <p:sp>
        <p:nvSpPr>
          <p:cNvPr id="141" name="Google Shape;141;p26"/>
          <p:cNvSpPr txBox="1">
            <a:spLocks noGrp="1"/>
          </p:cNvSpPr>
          <p:nvPr>
            <p:ph type="body" idx="1"/>
          </p:nvPr>
        </p:nvSpPr>
        <p:spPr>
          <a:xfrm>
            <a:off x="94898" y="853949"/>
            <a:ext cx="5349755" cy="2954951"/>
          </a:xfrm>
          <a:prstGeom prst="rect">
            <a:avLst/>
          </a:prstGeom>
        </p:spPr>
        <p:txBody>
          <a:bodyPr spcFirstLastPara="1" wrap="square" lIns="121900" tIns="121900" rIns="121900" bIns="121900" anchor="t" anchorCtr="0">
            <a:normAutofit fontScale="2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20000"/>
              </a:lnSpc>
              <a:spcBef>
                <a:spcPts val="1600"/>
              </a:spcBef>
              <a:spcAft>
                <a:spcPts val="0"/>
              </a:spcAft>
              <a:buClr>
                <a:schemeClr val="dk1"/>
              </a:buClr>
              <a:buSzPct val="27500"/>
              <a:buFont typeface="Arial"/>
              <a:buNone/>
            </a:pPr>
            <a:r>
              <a:rPr lang="en" sz="4800" b="1" dirty="0">
                <a:latin typeface="Times New Roman" panose="02020603050405020304" pitchFamily="18" charset="0"/>
                <a:cs typeface="Times New Roman" panose="02020603050405020304" pitchFamily="18" charset="0"/>
              </a:rPr>
              <a:t>Strategy</a:t>
            </a:r>
            <a:endParaRPr sz="4800" b="1"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160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Community-based hypertension control</a:t>
            </a:r>
            <a:endParaRPr sz="4800"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Self-measured blood pressure monitoring (</a:t>
            </a:r>
            <a:r>
              <a:rPr lang="en" sz="4800" b="1" dirty="0">
                <a:latin typeface="Times New Roman" panose="02020603050405020304" pitchFamily="18" charset="0"/>
                <a:cs typeface="Times New Roman" panose="02020603050405020304" pitchFamily="18" charset="0"/>
              </a:rPr>
              <a:t>SMBP</a:t>
            </a:r>
            <a:r>
              <a:rPr lang="en" sz="4800" dirty="0">
                <a:latin typeface="Times New Roman" panose="02020603050405020304" pitchFamily="18" charset="0"/>
                <a:cs typeface="Times New Roman" panose="02020603050405020304" pitchFamily="18" charset="0"/>
              </a:rPr>
              <a:t>) + follow-up care</a:t>
            </a:r>
            <a:endParaRPr lang="en-US" sz="4800" dirty="0">
              <a:latin typeface="Times New Roman" panose="02020603050405020304" pitchFamily="18" charset="0"/>
              <a:cs typeface="Times New Roman" panose="02020603050405020304" pitchFamily="18" charset="0"/>
            </a:endParaRPr>
          </a:p>
          <a:p>
            <a:pPr marL="0" lvl="0" indent="0" algn="l" rtl="0">
              <a:lnSpc>
                <a:spcPct val="120000"/>
              </a:lnSpc>
              <a:spcBef>
                <a:spcPts val="1600"/>
              </a:spcBef>
              <a:spcAft>
                <a:spcPts val="0"/>
              </a:spcAft>
              <a:buClr>
                <a:schemeClr val="dk1"/>
              </a:buClr>
              <a:buSzPct val="27500"/>
              <a:buFont typeface="Arial"/>
              <a:buNone/>
            </a:pPr>
            <a:r>
              <a:rPr lang="en-US" sz="4800" b="1" dirty="0">
                <a:latin typeface="Times New Roman" panose="02020603050405020304" pitchFamily="18" charset="0"/>
                <a:cs typeface="Times New Roman" panose="02020603050405020304" pitchFamily="18" charset="0"/>
              </a:rPr>
              <a:t>Intervention</a:t>
            </a:r>
          </a:p>
          <a:p>
            <a:pPr marL="609585" lvl="0" indent="-389457" algn="l" rtl="0">
              <a:lnSpc>
                <a:spcPct val="120000"/>
              </a:lnSpc>
              <a:spcBef>
                <a:spcPts val="160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Home BP monitoring with validated devices</a:t>
            </a:r>
            <a:endParaRPr sz="4800"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Patients share readings with care team</a:t>
            </a:r>
            <a:endParaRPr sz="4800"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Additional support:</a:t>
            </a:r>
            <a:endParaRPr sz="4800" dirty="0">
              <a:latin typeface="Times New Roman" panose="02020603050405020304" pitchFamily="18" charset="0"/>
              <a:cs typeface="Times New Roman" panose="02020603050405020304" pitchFamily="18" charset="0"/>
            </a:endParaRPr>
          </a:p>
          <a:p>
            <a:pPr marL="1219170" lvl="1"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Medication management</a:t>
            </a:r>
            <a:endParaRPr sz="4800" dirty="0">
              <a:latin typeface="Times New Roman" panose="02020603050405020304" pitchFamily="18" charset="0"/>
              <a:cs typeface="Times New Roman" panose="02020603050405020304" pitchFamily="18" charset="0"/>
            </a:endParaRPr>
          </a:p>
          <a:p>
            <a:pPr marL="1219170" lvl="1"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Lifestyle counseling (diet, exercise)</a:t>
            </a:r>
            <a:endParaRPr sz="4800" dirty="0">
              <a:latin typeface="Times New Roman" panose="02020603050405020304" pitchFamily="18" charset="0"/>
              <a:cs typeface="Times New Roman" panose="02020603050405020304" pitchFamily="18" charset="0"/>
            </a:endParaRPr>
          </a:p>
          <a:p>
            <a:pPr marL="1219170" lvl="1"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Coaching (phone, text, web-based)</a:t>
            </a:r>
            <a:endParaRPr sz="4800" dirty="0">
              <a:latin typeface="Times New Roman" panose="02020603050405020304" pitchFamily="18" charset="0"/>
              <a:cs typeface="Times New Roman" panose="02020603050405020304" pitchFamily="18" charset="0"/>
            </a:endParaRPr>
          </a:p>
          <a:p>
            <a:pPr marL="0" lvl="0" indent="0" algn="l" rtl="0">
              <a:lnSpc>
                <a:spcPct val="120000"/>
              </a:lnSpc>
              <a:spcBef>
                <a:spcPts val="1600"/>
              </a:spcBef>
              <a:spcAft>
                <a:spcPts val="0"/>
              </a:spcAft>
              <a:buClr>
                <a:schemeClr val="dk1"/>
              </a:buClr>
              <a:buSzPct val="27500"/>
              <a:buFont typeface="Arial"/>
              <a:buNone/>
            </a:pPr>
            <a:r>
              <a:rPr lang="en" sz="4800" b="1" dirty="0">
                <a:latin typeface="Times New Roman" panose="02020603050405020304" pitchFamily="18" charset="0"/>
                <a:cs typeface="Times New Roman" panose="02020603050405020304" pitchFamily="18" charset="0"/>
              </a:rPr>
              <a:t>Purpose / Aim</a:t>
            </a:r>
            <a:endParaRPr sz="4800" b="1"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160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Improve BP control in high-risk adults</a:t>
            </a:r>
            <a:endParaRPr sz="4800"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Prevent CKD, cardiovascular disease, stroke </a:t>
            </a:r>
            <a:endParaRPr sz="4800" dirty="0">
              <a:latin typeface="Times New Roman" panose="02020603050405020304" pitchFamily="18" charset="0"/>
              <a:cs typeface="Times New Roman" panose="02020603050405020304" pitchFamily="18" charset="0"/>
            </a:endParaRPr>
          </a:p>
          <a:p>
            <a:pPr marL="0" lvl="0" indent="0" algn="l" rtl="0">
              <a:lnSpc>
                <a:spcPct val="120000"/>
              </a:lnSpc>
              <a:spcBef>
                <a:spcPts val="1600"/>
              </a:spcBef>
              <a:spcAft>
                <a:spcPts val="0"/>
              </a:spcAft>
              <a:buNone/>
            </a:pPr>
            <a:r>
              <a:rPr lang="en" sz="4800" b="1" dirty="0">
                <a:latin typeface="Times New Roman" panose="02020603050405020304" pitchFamily="18" charset="0"/>
                <a:cs typeface="Times New Roman" panose="02020603050405020304" pitchFamily="18" charset="0"/>
              </a:rPr>
              <a:t>CKD Impact</a:t>
            </a:r>
            <a:endParaRPr sz="4800" b="1"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160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BP control ↓ kidney damage risk</a:t>
            </a:r>
            <a:endParaRPr sz="4800"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0"/>
              </a:spcBef>
              <a:spcAft>
                <a:spcPts val="0"/>
              </a:spcAft>
              <a:buClr>
                <a:schemeClr val="dk2"/>
              </a:buClr>
              <a:buSzPct val="100000"/>
              <a:buChar char="●"/>
            </a:pPr>
            <a:r>
              <a:rPr lang="en" sz="4800" dirty="0">
                <a:latin typeface="Times New Roman" panose="02020603050405020304" pitchFamily="18" charset="0"/>
                <a:cs typeface="Times New Roman" panose="02020603050405020304" pitchFamily="18" charset="0"/>
              </a:rPr>
              <a:t>Prevents or delays CKD progression</a:t>
            </a:r>
            <a:endParaRPr sz="4800" dirty="0">
              <a:latin typeface="Times New Roman" panose="02020603050405020304" pitchFamily="18" charset="0"/>
              <a:cs typeface="Times New Roman" panose="02020603050405020304" pitchFamily="18" charset="0"/>
            </a:endParaRPr>
          </a:p>
          <a:p>
            <a:pPr marL="0" lvl="0" indent="0" algn="l" rtl="0">
              <a:lnSpc>
                <a:spcPct val="120000"/>
              </a:lnSpc>
              <a:spcBef>
                <a:spcPts val="1600"/>
              </a:spcBef>
              <a:spcAft>
                <a:spcPts val="0"/>
              </a:spcAft>
              <a:buNone/>
            </a:pPr>
            <a:r>
              <a:rPr lang="en" sz="4800" b="1" dirty="0">
                <a:latin typeface="Times New Roman" panose="02020603050405020304" pitchFamily="18" charset="0"/>
                <a:cs typeface="Times New Roman" panose="02020603050405020304" pitchFamily="18" charset="0"/>
              </a:rPr>
              <a:t>Prevention Level</a:t>
            </a:r>
            <a:endParaRPr sz="4800" b="1"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1600"/>
              </a:spcBef>
              <a:spcAft>
                <a:spcPts val="0"/>
              </a:spcAft>
              <a:buClr>
                <a:schemeClr val="dk2"/>
              </a:buClr>
              <a:buSzPct val="100000"/>
              <a:buChar char="●"/>
            </a:pPr>
            <a:r>
              <a:rPr lang="en" sz="4800" b="1" dirty="0">
                <a:latin typeface="Times New Roman" panose="02020603050405020304" pitchFamily="18" charset="0"/>
                <a:cs typeface="Times New Roman" panose="02020603050405020304" pitchFamily="18" charset="0"/>
              </a:rPr>
              <a:t>Primary:</a:t>
            </a:r>
            <a:r>
              <a:rPr lang="en" sz="4800" dirty="0">
                <a:latin typeface="Times New Roman" panose="02020603050405020304" pitchFamily="18" charset="0"/>
                <a:cs typeface="Times New Roman" panose="02020603050405020304" pitchFamily="18" charset="0"/>
              </a:rPr>
              <a:t> Prevent CKD in hypertensive patients</a:t>
            </a:r>
            <a:endParaRPr sz="4800" dirty="0">
              <a:latin typeface="Times New Roman" panose="02020603050405020304" pitchFamily="18" charset="0"/>
              <a:cs typeface="Times New Roman" panose="02020603050405020304" pitchFamily="18" charset="0"/>
            </a:endParaRPr>
          </a:p>
          <a:p>
            <a:pPr marL="609585" lvl="0" indent="-389457" algn="l" rtl="0">
              <a:lnSpc>
                <a:spcPct val="120000"/>
              </a:lnSpc>
              <a:spcBef>
                <a:spcPts val="0"/>
              </a:spcBef>
              <a:spcAft>
                <a:spcPts val="0"/>
              </a:spcAft>
              <a:buClr>
                <a:schemeClr val="dk2"/>
              </a:buClr>
              <a:buSzPct val="100000"/>
              <a:buChar char="●"/>
            </a:pPr>
            <a:r>
              <a:rPr lang="en" sz="4800" b="1" dirty="0">
                <a:latin typeface="Times New Roman" panose="02020603050405020304" pitchFamily="18" charset="0"/>
                <a:cs typeface="Times New Roman" panose="02020603050405020304" pitchFamily="18" charset="0"/>
              </a:rPr>
              <a:t>Secondary:</a:t>
            </a:r>
            <a:r>
              <a:rPr lang="en" sz="4800" dirty="0">
                <a:latin typeface="Times New Roman" panose="02020603050405020304" pitchFamily="18" charset="0"/>
                <a:cs typeface="Times New Roman" panose="02020603050405020304" pitchFamily="18" charset="0"/>
              </a:rPr>
              <a:t> Slow progression in early CKD</a:t>
            </a:r>
            <a:endParaRPr sz="4800" dirty="0">
              <a:latin typeface="Times New Roman" panose="02020603050405020304" pitchFamily="18" charset="0"/>
              <a:cs typeface="Times New Roman" panose="02020603050405020304" pitchFamily="18" charset="0"/>
            </a:endParaRPr>
          </a:p>
          <a:p>
            <a:pPr marL="0" lvl="0" indent="0" algn="l" rtl="0">
              <a:lnSpc>
                <a:spcPct val="120000"/>
              </a:lnSpc>
              <a:spcBef>
                <a:spcPts val="1600"/>
              </a:spcBef>
              <a:spcAft>
                <a:spcPts val="0"/>
              </a:spcAft>
              <a:buNone/>
            </a:pPr>
            <a:endParaRPr sz="4800" dirty="0"/>
          </a:p>
          <a:p>
            <a:pPr marL="0" lvl="0" indent="0" algn="l" rtl="0">
              <a:spcBef>
                <a:spcPts val="1600"/>
              </a:spcBef>
              <a:spcAft>
                <a:spcPts val="1600"/>
              </a:spcAft>
              <a:buNone/>
            </a:pPr>
            <a:endParaRPr dirty="0"/>
          </a:p>
        </p:txBody>
      </p:sp>
      <p:sp>
        <p:nvSpPr>
          <p:cNvPr id="142" name="Google Shape;142;p26"/>
          <p:cNvSpPr txBox="1">
            <a:spLocks noGrp="1"/>
          </p:cNvSpPr>
          <p:nvPr>
            <p:ph type="body" idx="1"/>
          </p:nvPr>
        </p:nvSpPr>
        <p:spPr>
          <a:xfrm>
            <a:off x="6308302" y="569155"/>
            <a:ext cx="5788800" cy="5448400"/>
          </a:xfrm>
          <a:prstGeom prst="rect">
            <a:avLst/>
          </a:prstGeom>
        </p:spPr>
        <p:txBody>
          <a:bodyPr spcFirstLastPara="1" wrap="square" lIns="121900" tIns="121900" rIns="121900" bIns="121900" anchor="t" anchorCtr="0">
            <a:normAutofit fontScale="3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ct val="29333"/>
              <a:buFont typeface="Arial"/>
              <a:buNone/>
            </a:pPr>
            <a:r>
              <a:rPr lang="en" sz="5000" b="1" dirty="0">
                <a:latin typeface="Times New Roman" panose="02020603050405020304" pitchFamily="18" charset="0"/>
                <a:cs typeface="Times New Roman" panose="02020603050405020304" pitchFamily="18" charset="0"/>
              </a:rPr>
              <a:t>Organizations</a:t>
            </a:r>
            <a:endParaRPr sz="5000" b="1" dirty="0">
              <a:latin typeface="Times New Roman" panose="02020603050405020304" pitchFamily="18" charset="0"/>
              <a:cs typeface="Times New Roman" panose="02020603050405020304" pitchFamily="18" charset="0"/>
            </a:endParaRPr>
          </a:p>
          <a:p>
            <a:pPr marL="609585" lvl="0" indent="-384165" algn="l" rtl="0">
              <a:spcBef>
                <a:spcPts val="160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Temple Health</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Temple Care Integrated Network</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Comprehensive Hypertension Program</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Target: BP (AHA &amp; AMA initiative)</a:t>
            </a:r>
            <a:endParaRPr sz="50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29333"/>
              <a:buFont typeface="Arial"/>
              <a:buNone/>
            </a:pPr>
            <a:r>
              <a:rPr lang="en" sz="5000" b="1" dirty="0">
                <a:latin typeface="Times New Roman" panose="02020603050405020304" pitchFamily="18" charset="0"/>
                <a:cs typeface="Times New Roman" panose="02020603050405020304" pitchFamily="18" charset="0"/>
              </a:rPr>
              <a:t>How It Works</a:t>
            </a:r>
            <a:endParaRPr sz="5000" b="1" dirty="0">
              <a:latin typeface="Times New Roman" panose="02020603050405020304" pitchFamily="18" charset="0"/>
              <a:cs typeface="Times New Roman" panose="02020603050405020304" pitchFamily="18" charset="0"/>
            </a:endParaRPr>
          </a:p>
          <a:p>
            <a:pPr marL="609585" lvl="0" indent="-384165" algn="l" rtl="0">
              <a:spcBef>
                <a:spcPts val="160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High-risk patients enrolled</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Provided Bluetooth home BP monitors</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Continuous monitoring + provider feedback</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Integrated care: meds, nutrition, exercise</a:t>
            </a:r>
            <a:endParaRPr sz="50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29333"/>
              <a:buFont typeface="Arial"/>
              <a:buNone/>
            </a:pPr>
            <a:r>
              <a:rPr lang="en" sz="5000" b="1" dirty="0">
                <a:latin typeface="Times New Roman" panose="02020603050405020304" pitchFamily="18" charset="0"/>
                <a:cs typeface="Times New Roman" panose="02020603050405020304" pitchFamily="18" charset="0"/>
              </a:rPr>
              <a:t>Access</a:t>
            </a:r>
            <a:endParaRPr sz="5000" b="1" dirty="0">
              <a:latin typeface="Times New Roman" panose="02020603050405020304" pitchFamily="18" charset="0"/>
              <a:cs typeface="Times New Roman" panose="02020603050405020304" pitchFamily="18" charset="0"/>
            </a:endParaRPr>
          </a:p>
          <a:p>
            <a:pPr marL="609585" lvl="0" indent="-384165" algn="l" rtl="0">
              <a:spcBef>
                <a:spcPts val="1600"/>
              </a:spcBef>
              <a:spcAft>
                <a:spcPts val="0"/>
              </a:spcAft>
              <a:buClr>
                <a:schemeClr val="dk2"/>
              </a:buClr>
              <a:buSzPct val="100000"/>
              <a:buChar char="●"/>
            </a:pPr>
            <a:r>
              <a:rPr lang="en" sz="5000" b="1" dirty="0">
                <a:latin typeface="Times New Roman" panose="02020603050405020304" pitchFamily="18" charset="0"/>
                <a:cs typeface="Times New Roman" panose="02020603050405020304" pitchFamily="18" charset="0"/>
              </a:rPr>
              <a:t>NP Role:</a:t>
            </a:r>
            <a:r>
              <a:rPr lang="en" sz="5000" dirty="0">
                <a:latin typeface="Times New Roman" panose="02020603050405020304" pitchFamily="18" charset="0"/>
                <a:cs typeface="Times New Roman" panose="02020603050405020304" pitchFamily="18" charset="0"/>
              </a:rPr>
              <a:t> Identify uncontrolled HTN → order SMBP → refer to program</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b="1" dirty="0">
                <a:latin typeface="Times New Roman" panose="02020603050405020304" pitchFamily="18" charset="0"/>
                <a:cs typeface="Times New Roman" panose="02020603050405020304" pitchFamily="18" charset="0"/>
              </a:rPr>
              <a:t>Patient:</a:t>
            </a:r>
            <a:r>
              <a:rPr lang="en" sz="5000" dirty="0">
                <a:latin typeface="Times New Roman" panose="02020603050405020304" pitchFamily="18" charset="0"/>
                <a:cs typeface="Times New Roman" panose="02020603050405020304" pitchFamily="18" charset="0"/>
              </a:rPr>
              <a:t> Enrolled via provider referral or care team outreach</a:t>
            </a:r>
            <a:endParaRPr sz="50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29333"/>
              <a:buFont typeface="Arial"/>
              <a:buNone/>
            </a:pPr>
            <a:r>
              <a:rPr lang="en" sz="5000" b="1" dirty="0">
                <a:latin typeface="Times New Roman" panose="02020603050405020304" pitchFamily="18" charset="0"/>
                <a:cs typeface="Times New Roman" panose="02020603050405020304" pitchFamily="18" charset="0"/>
              </a:rPr>
              <a:t>Communication</a:t>
            </a:r>
            <a:endParaRPr sz="5000" b="1" dirty="0">
              <a:latin typeface="Times New Roman" panose="02020603050405020304" pitchFamily="18" charset="0"/>
              <a:cs typeface="Times New Roman" panose="02020603050405020304" pitchFamily="18" charset="0"/>
            </a:endParaRPr>
          </a:p>
          <a:p>
            <a:pPr marL="609585" lvl="0" indent="-384165" algn="l" rtl="0">
              <a:spcBef>
                <a:spcPts val="160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Temple website, newsletters, case studies</a:t>
            </a:r>
            <a:endParaRPr sz="5000" dirty="0">
              <a:latin typeface="Times New Roman" panose="02020603050405020304" pitchFamily="18" charset="0"/>
              <a:cs typeface="Times New Roman" panose="02020603050405020304" pitchFamily="18" charset="0"/>
            </a:endParaRPr>
          </a:p>
          <a:p>
            <a:pPr marL="609585" lvl="0" indent="-384165" algn="l" rtl="0">
              <a:spcBef>
                <a:spcPts val="0"/>
              </a:spcBef>
              <a:spcAft>
                <a:spcPts val="0"/>
              </a:spcAft>
              <a:buClr>
                <a:schemeClr val="dk2"/>
              </a:buClr>
              <a:buSzPct val="100000"/>
              <a:buChar char="●"/>
            </a:pPr>
            <a:r>
              <a:rPr lang="en" sz="5000" dirty="0">
                <a:latin typeface="Times New Roman" panose="02020603050405020304" pitchFamily="18" charset="0"/>
                <a:cs typeface="Times New Roman" panose="02020603050405020304" pitchFamily="18" charset="0"/>
              </a:rPr>
              <a:t>Community outreach + provider education</a:t>
            </a:r>
            <a:endParaRPr sz="5000"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None/>
            </a:pPr>
            <a:endParaRPr sz="1467" b="1" dirty="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113818" y="228767"/>
            <a:ext cx="11360800" cy="763600"/>
          </a:xfrm>
          <a:prstGeom prst="rect">
            <a:avLst/>
          </a:prstGeom>
        </p:spPr>
        <p:txBody>
          <a:bodyPr spcFirstLastPara="1" wrap="square" lIns="121900" tIns="121900" rIns="121900" bIns="12190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Clr>
                <a:schemeClr val="dk1"/>
              </a:buClr>
              <a:buSzPct val="45833"/>
              <a:buFont typeface="Arial"/>
              <a:buNone/>
            </a:pPr>
            <a:r>
              <a:rPr lang="en" sz="3200" dirty="0">
                <a:solidFill>
                  <a:schemeClr val="dk2"/>
                </a:solidFill>
                <a:highlight>
                  <a:schemeClr val="lt1"/>
                </a:highlight>
                <a:latin typeface="Lato"/>
                <a:ea typeface="Lato"/>
                <a:cs typeface="Lato"/>
                <a:sym typeface="Lato"/>
              </a:rPr>
              <a:t>Intervention 3: Hypertension Control with Self-Monitored Blood Pressure and Follow-Up Care</a:t>
            </a:r>
            <a:endParaRPr sz="3200" dirty="0">
              <a:solidFill>
                <a:schemeClr val="dk2"/>
              </a:solidFill>
              <a:highlight>
                <a:schemeClr val="lt1"/>
              </a:highlight>
              <a:latin typeface="Lato"/>
              <a:ea typeface="Lato"/>
              <a:cs typeface="Lato"/>
              <a:sym typeface="Lato"/>
            </a:endParaRPr>
          </a:p>
          <a:p>
            <a:pPr marL="0" lvl="0" indent="0" algn="l" rtl="0">
              <a:spcBef>
                <a:spcPts val="0"/>
              </a:spcBef>
              <a:spcAft>
                <a:spcPts val="0"/>
              </a:spcAft>
              <a:buNone/>
            </a:pPr>
            <a:endParaRPr dirty="0"/>
          </a:p>
        </p:txBody>
      </p:sp>
      <p:sp>
        <p:nvSpPr>
          <p:cNvPr id="148" name="Google Shape;148;p27"/>
          <p:cNvSpPr txBox="1">
            <a:spLocks noGrp="1"/>
          </p:cNvSpPr>
          <p:nvPr>
            <p:ph type="body" idx="1"/>
          </p:nvPr>
        </p:nvSpPr>
        <p:spPr>
          <a:xfrm>
            <a:off x="415600" y="1536633"/>
            <a:ext cx="5576000" cy="45552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spcBef>
                <a:spcPts val="1600"/>
              </a:spcBef>
              <a:buClr>
                <a:schemeClr val="dk1"/>
              </a:buClr>
              <a:buSzPts val="1100"/>
              <a:buFont typeface="Arial"/>
              <a:buNone/>
            </a:pPr>
            <a:r>
              <a:rPr lang="en" sz="1600" b="1" dirty="0">
                <a:latin typeface="Times New Roman" panose="02020603050405020304" pitchFamily="18" charset="0"/>
                <a:cs typeface="Times New Roman" panose="02020603050405020304" pitchFamily="18" charset="0"/>
              </a:rPr>
              <a:t>Advantages</a:t>
            </a:r>
            <a:endParaRPr sz="1600" b="1" dirty="0">
              <a:latin typeface="Times New Roman" panose="02020603050405020304" pitchFamily="18" charset="0"/>
              <a:cs typeface="Times New Roman" panose="02020603050405020304" pitchFamily="18" charset="0"/>
            </a:endParaRPr>
          </a:p>
          <a:p>
            <a:pPr marL="609585" indent="-397923">
              <a:spcBef>
                <a:spcPts val="160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Frequent BP monitoring outside clinic</a:t>
            </a:r>
            <a:endParaRPr sz="1600" dirty="0">
              <a:latin typeface="Times New Roman" panose="02020603050405020304" pitchFamily="18" charset="0"/>
              <a:cs typeface="Times New Roman" panose="02020603050405020304" pitchFamily="18" charset="0"/>
            </a:endParaRPr>
          </a:p>
          <a:p>
            <a:pPr marL="609585" indent="-397923">
              <a:spcBef>
                <a:spcPts val="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Earlier detection &amp; treatment adjustment</a:t>
            </a:r>
            <a:endParaRPr sz="1600" dirty="0">
              <a:latin typeface="Times New Roman" panose="02020603050405020304" pitchFamily="18" charset="0"/>
              <a:cs typeface="Times New Roman" panose="02020603050405020304" pitchFamily="18" charset="0"/>
            </a:endParaRPr>
          </a:p>
          <a:p>
            <a:pPr marL="609585" indent="-397923">
              <a:spcBef>
                <a:spcPts val="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Improved BP control in high-risk populations</a:t>
            </a:r>
            <a:endParaRPr sz="1600" dirty="0">
              <a:latin typeface="Times New Roman" panose="02020603050405020304" pitchFamily="18" charset="0"/>
              <a:cs typeface="Times New Roman" panose="02020603050405020304" pitchFamily="18" charset="0"/>
            </a:endParaRPr>
          </a:p>
          <a:p>
            <a:pPr marL="0" indent="0">
              <a:spcBef>
                <a:spcPts val="1600"/>
              </a:spcBef>
              <a:buClr>
                <a:schemeClr val="dk1"/>
              </a:buClr>
              <a:buSzPts val="1100"/>
              <a:buFont typeface="Arial"/>
              <a:buNone/>
            </a:pPr>
            <a:r>
              <a:rPr lang="en" sz="1600" b="1" dirty="0">
                <a:latin typeface="Times New Roman" panose="02020603050405020304" pitchFamily="18" charset="0"/>
                <a:cs typeface="Times New Roman" panose="02020603050405020304" pitchFamily="18" charset="0"/>
              </a:rPr>
              <a:t>Barriers</a:t>
            </a:r>
            <a:endParaRPr sz="1600" b="1" dirty="0">
              <a:latin typeface="Times New Roman" panose="02020603050405020304" pitchFamily="18" charset="0"/>
              <a:cs typeface="Times New Roman" panose="02020603050405020304" pitchFamily="18" charset="0"/>
            </a:endParaRPr>
          </a:p>
          <a:p>
            <a:pPr marL="609585" indent="-397923">
              <a:spcBef>
                <a:spcPts val="160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Cost of devices ($50–$100)</a:t>
            </a:r>
            <a:endParaRPr sz="1600" dirty="0">
              <a:latin typeface="Times New Roman" panose="02020603050405020304" pitchFamily="18" charset="0"/>
              <a:cs typeface="Times New Roman" panose="02020603050405020304" pitchFamily="18" charset="0"/>
            </a:endParaRPr>
          </a:p>
          <a:p>
            <a:pPr marL="609585" indent="-397923">
              <a:spcBef>
                <a:spcPts val="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Need for training &amp; digital access</a:t>
            </a:r>
            <a:endParaRPr sz="1600" dirty="0">
              <a:latin typeface="Times New Roman" panose="02020603050405020304" pitchFamily="18" charset="0"/>
              <a:cs typeface="Times New Roman" panose="02020603050405020304" pitchFamily="18" charset="0"/>
            </a:endParaRPr>
          </a:p>
          <a:p>
            <a:pPr marL="609585" indent="-397923">
              <a:spcBef>
                <a:spcPts val="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Insurance variability, follow-up gaps</a:t>
            </a:r>
            <a:endParaRPr sz="1600" dirty="0">
              <a:latin typeface="Times New Roman" panose="02020603050405020304" pitchFamily="18" charset="0"/>
              <a:cs typeface="Times New Roman" panose="02020603050405020304" pitchFamily="18" charset="0"/>
            </a:endParaRPr>
          </a:p>
          <a:p>
            <a:pPr marL="0" indent="0">
              <a:spcBef>
                <a:spcPts val="1600"/>
              </a:spcBef>
              <a:buClr>
                <a:schemeClr val="dk1"/>
              </a:buClr>
              <a:buSzPts val="1100"/>
              <a:buFont typeface="Arial"/>
              <a:buNone/>
            </a:pPr>
            <a:r>
              <a:rPr lang="en" sz="1600" b="1" dirty="0">
                <a:latin typeface="Times New Roman" panose="02020603050405020304" pitchFamily="18" charset="0"/>
                <a:cs typeface="Times New Roman" panose="02020603050405020304" pitchFamily="18" charset="0"/>
              </a:rPr>
              <a:t>Cost</a:t>
            </a:r>
            <a:endParaRPr sz="1600" b="1" dirty="0">
              <a:latin typeface="Times New Roman" panose="02020603050405020304" pitchFamily="18" charset="0"/>
              <a:cs typeface="Times New Roman" panose="02020603050405020304" pitchFamily="18" charset="0"/>
            </a:endParaRPr>
          </a:p>
          <a:p>
            <a:pPr marL="609585" indent="-397923">
              <a:spcBef>
                <a:spcPts val="160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~$60 (SMBP alone) to ~$174 (with support) per patient</a:t>
            </a:r>
            <a:endParaRPr sz="1600" dirty="0">
              <a:latin typeface="Times New Roman" panose="02020603050405020304" pitchFamily="18" charset="0"/>
              <a:cs typeface="Times New Roman" panose="02020603050405020304" pitchFamily="18" charset="0"/>
            </a:endParaRPr>
          </a:p>
          <a:p>
            <a:pPr marL="609585" indent="-397923">
              <a:spcBef>
                <a:spcPts val="0"/>
              </a:spcBef>
              <a:buClr>
                <a:schemeClr val="dk2"/>
              </a:buClr>
              <a:buSzPts val="1100"/>
              <a:buFont typeface="Arial"/>
              <a:buChar char="●"/>
            </a:pPr>
            <a:r>
              <a:rPr lang="en" sz="1600" dirty="0">
                <a:latin typeface="Times New Roman" panose="02020603050405020304" pitchFamily="18" charset="0"/>
                <a:cs typeface="Times New Roman" panose="02020603050405020304" pitchFamily="18" charset="0"/>
              </a:rPr>
              <a:t>Funded by health systems, insurers, grants, or patient </a:t>
            </a:r>
            <a:endParaRPr sz="1600"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None/>
            </a:pPr>
            <a:endParaRPr dirty="0"/>
          </a:p>
        </p:txBody>
      </p:sp>
      <p:sp>
        <p:nvSpPr>
          <p:cNvPr id="149" name="Google Shape;149;p27"/>
          <p:cNvSpPr txBox="1">
            <a:spLocks noGrp="1"/>
          </p:cNvSpPr>
          <p:nvPr>
            <p:ph type="body" idx="1"/>
          </p:nvPr>
        </p:nvSpPr>
        <p:spPr>
          <a:xfrm>
            <a:off x="6200400" y="1536633"/>
            <a:ext cx="5576000" cy="45552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1600"/>
              </a:spcBef>
              <a:spcAft>
                <a:spcPts val="0"/>
              </a:spcAft>
              <a:buClr>
                <a:schemeClr val="dk1"/>
              </a:buClr>
              <a:buSzPts val="1100"/>
              <a:buFont typeface="Arial"/>
              <a:buNone/>
            </a:pPr>
            <a:r>
              <a:rPr lang="en" sz="1467" b="1" dirty="0">
                <a:latin typeface="Times New Roman" panose="02020603050405020304" pitchFamily="18" charset="0"/>
                <a:cs typeface="Times New Roman" panose="02020603050405020304" pitchFamily="18" charset="0"/>
              </a:rPr>
              <a:t>Effectiveness</a:t>
            </a:r>
            <a:endParaRPr sz="1467" b="1" dirty="0">
              <a:latin typeface="Times New Roman" panose="02020603050405020304" pitchFamily="18" charset="0"/>
              <a:cs typeface="Times New Roman" panose="02020603050405020304" pitchFamily="18" charset="0"/>
            </a:endParaRPr>
          </a:p>
          <a:p>
            <a:pPr marL="609585" lvl="0" indent="-397923" algn="l" rtl="0">
              <a:spcBef>
                <a:spcPts val="160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Recommended by Community Preventive Services Task Force</a:t>
            </a:r>
            <a:endParaRPr sz="1467"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Temple program: ~10 mmHg ↓ systolic BP</a:t>
            </a:r>
            <a:endParaRPr sz="1467"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Research: improved BP control vs usual care</a:t>
            </a:r>
            <a:endParaRPr sz="1467"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467" b="1" dirty="0">
                <a:latin typeface="Times New Roman" panose="02020603050405020304" pitchFamily="18" charset="0"/>
                <a:cs typeface="Times New Roman" panose="02020603050405020304" pitchFamily="18" charset="0"/>
              </a:rPr>
              <a:t>Outcome Measures</a:t>
            </a:r>
            <a:endParaRPr sz="1467" b="1" dirty="0">
              <a:latin typeface="Times New Roman" panose="02020603050405020304" pitchFamily="18" charset="0"/>
              <a:cs typeface="Times New Roman" panose="02020603050405020304" pitchFamily="18" charset="0"/>
            </a:endParaRPr>
          </a:p>
          <a:p>
            <a:pPr marL="609585" lvl="0" indent="-397923" algn="l" rtl="0">
              <a:spcBef>
                <a:spcPts val="160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 BP at goal</a:t>
            </a:r>
            <a:endParaRPr sz="1467"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 systolic/diastolic BP</a:t>
            </a:r>
            <a:endParaRPr sz="1467"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Reduced complications &amp; healthcare use</a:t>
            </a:r>
            <a:endParaRPr sz="1467"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ts val="1100"/>
              <a:buFont typeface="Arial"/>
              <a:buNone/>
            </a:pPr>
            <a:r>
              <a:rPr lang="en" sz="1467" b="1" dirty="0">
                <a:latin typeface="Times New Roman" panose="02020603050405020304" pitchFamily="18" charset="0"/>
                <a:cs typeface="Times New Roman" panose="02020603050405020304" pitchFamily="18" charset="0"/>
              </a:rPr>
              <a:t>Value</a:t>
            </a:r>
            <a:endParaRPr sz="1467" b="1" dirty="0">
              <a:latin typeface="Times New Roman" panose="02020603050405020304" pitchFamily="18" charset="0"/>
              <a:cs typeface="Times New Roman" panose="02020603050405020304" pitchFamily="18" charset="0"/>
            </a:endParaRPr>
          </a:p>
          <a:p>
            <a:pPr marL="609585" lvl="0" indent="-397923" algn="l" rtl="0">
              <a:spcBef>
                <a:spcPts val="160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Cost-effective (~$2,800–$4,000 per QALY)</a:t>
            </a:r>
            <a:endParaRPr sz="1467" dirty="0">
              <a:latin typeface="Times New Roman" panose="02020603050405020304" pitchFamily="18" charset="0"/>
              <a:cs typeface="Times New Roman" panose="02020603050405020304" pitchFamily="18" charset="0"/>
            </a:endParaRPr>
          </a:p>
          <a:p>
            <a:pPr marL="609585" lvl="0" indent="-397923" algn="l" rtl="0">
              <a:spcBef>
                <a:spcPts val="0"/>
              </a:spcBef>
              <a:spcAft>
                <a:spcPts val="0"/>
              </a:spcAft>
              <a:buClr>
                <a:schemeClr val="dk2"/>
              </a:buClr>
              <a:buSzPts val="1100"/>
              <a:buChar char="●"/>
            </a:pPr>
            <a:r>
              <a:rPr lang="en" sz="1467" dirty="0">
                <a:latin typeface="Times New Roman" panose="02020603050405020304" pitchFamily="18" charset="0"/>
                <a:cs typeface="Times New Roman" panose="02020603050405020304" pitchFamily="18" charset="0"/>
              </a:rPr>
              <a:t>Improves long-term population health outcomes</a:t>
            </a:r>
            <a:endParaRPr sz="1467" dirty="0">
              <a:latin typeface="Times New Roman" panose="02020603050405020304" pitchFamily="18" charset="0"/>
              <a:cs typeface="Times New Roman" panose="02020603050405020304" pitchFamily="18" charset="0"/>
            </a:endParaRPr>
          </a:p>
          <a:p>
            <a:pPr marL="0" lvl="0" indent="0" algn="l" rtl="0">
              <a:spcBef>
                <a:spcPts val="1600"/>
              </a:spcBef>
              <a:spcAft>
                <a:spcPts val="160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113168" y="775881"/>
            <a:ext cx="12398218" cy="2040752"/>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667"/>
              </a:spcAft>
              <a:buClr>
                <a:schemeClr val="dk1"/>
              </a:buClr>
              <a:buSzPts val="1100"/>
              <a:buFont typeface="Arial"/>
              <a:buNone/>
            </a:pPr>
            <a:r>
              <a:rPr lang="en" sz="2133" b="1" dirty="0">
                <a:solidFill>
                  <a:schemeClr val="dk2"/>
                </a:solidFill>
                <a:highlight>
                  <a:schemeClr val="lt1"/>
                </a:highlight>
                <a:latin typeface="Lato"/>
                <a:ea typeface="Lato"/>
                <a:cs typeface="Lato"/>
                <a:sym typeface="Lato"/>
              </a:rPr>
              <a:t>The </a:t>
            </a:r>
            <a:r>
              <a:rPr lang="en" sz="2133" b="1" i="1" dirty="0">
                <a:solidFill>
                  <a:schemeClr val="dk2"/>
                </a:solidFill>
                <a:highlight>
                  <a:schemeClr val="lt1"/>
                </a:highlight>
                <a:latin typeface="Lato"/>
                <a:ea typeface="Lato"/>
                <a:cs typeface="Lato"/>
                <a:sym typeface="Lato"/>
              </a:rPr>
              <a:t>Chronic Kidney Disease Improvement in Research and Treatment Act (H.R. 5027 / S. 4469) </a:t>
            </a:r>
            <a:endParaRPr sz="2133" b="1" dirty="0">
              <a:solidFill>
                <a:schemeClr val="dk2"/>
              </a:solidFill>
              <a:highlight>
                <a:schemeClr val="lt1"/>
              </a:highlight>
              <a:latin typeface="Lato"/>
              <a:ea typeface="Lato"/>
              <a:cs typeface="Lato"/>
              <a:sym typeface="Lato"/>
            </a:endParaRPr>
          </a:p>
        </p:txBody>
      </p:sp>
      <p:sp>
        <p:nvSpPr>
          <p:cNvPr id="155" name="Google Shape;155;p28"/>
          <p:cNvSpPr txBox="1"/>
          <p:nvPr/>
        </p:nvSpPr>
        <p:spPr>
          <a:xfrm>
            <a:off x="213763" y="1395743"/>
            <a:ext cx="11293147" cy="53653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467" dirty="0">
                <a:solidFill>
                  <a:schemeClr val="tx1"/>
                </a:solidFill>
                <a:latin typeface="Times New Roman" panose="02020603050405020304" pitchFamily="18" charset="0"/>
                <a:ea typeface="Lato"/>
                <a:cs typeface="Times New Roman" panose="02020603050405020304" pitchFamily="18" charset="0"/>
                <a:sym typeface="Lato"/>
              </a:rPr>
              <a:t>A federal bill sponsored by Representative Carol D. Miller (R-WV), bill introduced</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0" lvl="0" indent="0" algn="l" rtl="0">
              <a:spcBef>
                <a:spcPts val="0"/>
              </a:spcBef>
              <a:spcAft>
                <a:spcPts val="0"/>
              </a:spcAft>
              <a:buNone/>
            </a:pP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0" lvl="0" indent="0" algn="l" rtl="0">
              <a:spcBef>
                <a:spcPts val="0"/>
              </a:spcBef>
              <a:spcAft>
                <a:spcPts val="0"/>
              </a:spcAft>
              <a:buNone/>
            </a:pPr>
            <a:r>
              <a:rPr lang="en" sz="1467" dirty="0">
                <a:solidFill>
                  <a:schemeClr val="tx1"/>
                </a:solidFill>
                <a:latin typeface="Times New Roman" panose="02020603050405020304" pitchFamily="18" charset="0"/>
                <a:ea typeface="Lato"/>
                <a:cs typeface="Times New Roman" panose="02020603050405020304" pitchFamily="18" charset="0"/>
                <a:sym typeface="Lato"/>
              </a:rPr>
              <a:t>Expands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kidney disease screening</a:t>
            </a:r>
            <a:r>
              <a:rPr lang="en" sz="1467" dirty="0">
                <a:solidFill>
                  <a:schemeClr val="tx1"/>
                </a:solidFill>
                <a:latin typeface="Times New Roman" panose="02020603050405020304" pitchFamily="18" charset="0"/>
                <a:ea typeface="Lato"/>
                <a:cs typeface="Times New Roman" panose="02020603050405020304" pitchFamily="18" charset="0"/>
                <a:sym typeface="Lato"/>
              </a:rPr>
              <a:t> during Medicare wellness visits</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1600"/>
              </a:spcBef>
              <a:spcAft>
                <a:spcPts val="0"/>
              </a:spcAft>
              <a:buClr>
                <a:schemeClr val="dk2"/>
              </a:buClr>
              <a:buSzPts val="1100"/>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Helps detect CKD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earlier</a:t>
            </a:r>
            <a:r>
              <a:rPr lang="en" sz="1467" dirty="0">
                <a:solidFill>
                  <a:schemeClr val="tx1"/>
                </a:solidFill>
                <a:latin typeface="Times New Roman" panose="02020603050405020304" pitchFamily="18" charset="0"/>
                <a:ea typeface="Lato"/>
                <a:cs typeface="Times New Roman" panose="02020603050405020304" pitchFamily="18" charset="0"/>
                <a:sym typeface="Lato"/>
              </a:rPr>
              <a:t>, when it is easier to treat</a:t>
            </a:r>
            <a:endParaRPr lang="en-US" sz="1467" dirty="0">
              <a:solidFill>
                <a:schemeClr val="tx1"/>
              </a:solidFill>
              <a:latin typeface="Times New Roman" panose="02020603050405020304" pitchFamily="18" charset="0"/>
              <a:ea typeface="Lato"/>
              <a:cs typeface="Times New Roman" panose="02020603050405020304" pitchFamily="18" charset="0"/>
              <a:sym typeface="Lato"/>
            </a:endParaRPr>
          </a:p>
          <a:p>
            <a:pPr marL="0" lvl="0" indent="0" algn="l" rtl="0">
              <a:spcBef>
                <a:spcPts val="1600"/>
              </a:spcBef>
              <a:spcAft>
                <a:spcPts val="0"/>
              </a:spcAft>
              <a:buNone/>
            </a:pPr>
            <a:r>
              <a:rPr lang="en-US" sz="1467" dirty="0">
                <a:solidFill>
                  <a:schemeClr val="tx1"/>
                </a:solidFill>
                <a:latin typeface="Times New Roman" panose="02020603050405020304" pitchFamily="18" charset="0"/>
                <a:ea typeface="Lato"/>
                <a:cs typeface="Times New Roman" panose="02020603050405020304" pitchFamily="18" charset="0"/>
                <a:sym typeface="Lato"/>
              </a:rPr>
              <a:t>Increases </a:t>
            </a:r>
            <a:r>
              <a:rPr lang="en-US" sz="1467" b="1" dirty="0">
                <a:solidFill>
                  <a:schemeClr val="tx1"/>
                </a:solidFill>
                <a:latin typeface="Times New Roman" panose="02020603050405020304" pitchFamily="18" charset="0"/>
                <a:ea typeface="Lato"/>
                <a:cs typeface="Times New Roman" panose="02020603050405020304" pitchFamily="18" charset="0"/>
                <a:sym typeface="Lato"/>
              </a:rPr>
              <a:t>patient education access</a:t>
            </a:r>
          </a:p>
          <a:p>
            <a:pPr marL="609585" lvl="0" indent="-397923" algn="l" rtl="0">
              <a:spcBef>
                <a:spcPts val="1600"/>
              </a:spcBef>
              <a:spcAft>
                <a:spcPts val="0"/>
              </a:spcAft>
              <a:buClr>
                <a:schemeClr val="dk2"/>
              </a:buClr>
              <a:buSzPts val="1100"/>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Education provided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earlier (not just Stage 4 CKD)</a:t>
            </a:r>
            <a:endParaRPr sz="1467" b="1"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0"/>
              </a:spcBef>
              <a:spcAft>
                <a:spcPts val="0"/>
              </a:spcAft>
              <a:buClr>
                <a:schemeClr val="dk2"/>
              </a:buClr>
              <a:buSzPts val="1100"/>
              <a:buFont typeface="Lato"/>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Allows more providers (nurses, nurse practitioners) to educate patients</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0"/>
              </a:spcBef>
              <a:spcAft>
                <a:spcPts val="0"/>
              </a:spcAft>
              <a:buClr>
                <a:schemeClr val="dk2"/>
              </a:buClr>
              <a:buSzPts val="1100"/>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Previously limited due to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strict Medicare rules</a:t>
            </a:r>
            <a:endParaRPr sz="1467" b="1" dirty="0">
              <a:solidFill>
                <a:schemeClr val="tx1"/>
              </a:solidFill>
              <a:latin typeface="Times New Roman" panose="02020603050405020304" pitchFamily="18" charset="0"/>
              <a:ea typeface="Lato"/>
              <a:cs typeface="Times New Roman" panose="02020603050405020304" pitchFamily="18" charset="0"/>
              <a:sym typeface="Lato"/>
            </a:endParaRPr>
          </a:p>
          <a:p>
            <a:pPr marL="0" lvl="0" indent="0" algn="l" rtl="0">
              <a:spcBef>
                <a:spcPts val="1600"/>
              </a:spcBef>
              <a:spcAft>
                <a:spcPts val="0"/>
              </a:spcAft>
              <a:buNone/>
            </a:pPr>
            <a:r>
              <a:rPr lang="en" sz="1467" dirty="0">
                <a:solidFill>
                  <a:schemeClr val="tx1"/>
                </a:solidFill>
                <a:latin typeface="Times New Roman" panose="02020603050405020304" pitchFamily="18" charset="0"/>
                <a:ea typeface="Lato"/>
                <a:cs typeface="Times New Roman" panose="02020603050405020304" pitchFamily="18" charset="0"/>
                <a:sym typeface="Lato"/>
              </a:rPr>
              <a:t>Improves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affordability of care (</a:t>
            </a:r>
            <a:r>
              <a:rPr lang="en" sz="1467" b="1" dirty="0" err="1">
                <a:solidFill>
                  <a:schemeClr val="tx1"/>
                </a:solidFill>
                <a:latin typeface="Times New Roman" panose="02020603050405020304" pitchFamily="18" charset="0"/>
                <a:ea typeface="Lato"/>
                <a:cs typeface="Times New Roman" panose="02020603050405020304" pitchFamily="18" charset="0"/>
                <a:sym typeface="Lato"/>
              </a:rPr>
              <a:t>Medigap</a:t>
            </a:r>
            <a:r>
              <a:rPr lang="en" sz="1467" b="1" dirty="0">
                <a:solidFill>
                  <a:schemeClr val="tx1"/>
                </a:solidFill>
                <a:latin typeface="Times New Roman" panose="02020603050405020304" pitchFamily="18" charset="0"/>
                <a:ea typeface="Lato"/>
                <a:cs typeface="Times New Roman" panose="02020603050405020304" pitchFamily="18" charset="0"/>
                <a:sym typeface="Lato"/>
              </a:rPr>
              <a:t>)</a:t>
            </a:r>
            <a:endParaRPr sz="1467" b="1"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1600"/>
              </a:spcBef>
              <a:spcAft>
                <a:spcPts val="0"/>
              </a:spcAft>
              <a:buClr>
                <a:schemeClr val="dk2"/>
              </a:buClr>
              <a:buSzPts val="1100"/>
              <a:buFont typeface="Lato"/>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Medicare covers ~80%, leaving patients with high costs</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0"/>
              </a:spcBef>
              <a:spcAft>
                <a:spcPts val="0"/>
              </a:spcAft>
              <a:buClr>
                <a:schemeClr val="dk2"/>
              </a:buClr>
              <a:buSzPts val="1100"/>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Patients under 65 often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cannot access </a:t>
            </a:r>
            <a:r>
              <a:rPr lang="en" sz="1467" b="1" dirty="0" err="1">
                <a:solidFill>
                  <a:schemeClr val="tx1"/>
                </a:solidFill>
                <a:latin typeface="Times New Roman" panose="02020603050405020304" pitchFamily="18" charset="0"/>
                <a:ea typeface="Lato"/>
                <a:cs typeface="Times New Roman" panose="02020603050405020304" pitchFamily="18" charset="0"/>
                <a:sym typeface="Lato"/>
              </a:rPr>
              <a:t>Medigap</a:t>
            </a:r>
            <a:endParaRPr sz="1467" b="1"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0"/>
              </a:spcBef>
              <a:spcAft>
                <a:spcPts val="0"/>
              </a:spcAft>
              <a:buClr>
                <a:schemeClr val="dk2"/>
              </a:buClr>
              <a:buSzPts val="1100"/>
              <a:buFont typeface="Lato"/>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Bill expands access to help cover remaining expenses</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0" lvl="0" indent="0" algn="l" rtl="0">
              <a:spcBef>
                <a:spcPts val="1600"/>
              </a:spcBef>
              <a:spcAft>
                <a:spcPts val="0"/>
              </a:spcAft>
              <a:buNone/>
            </a:pPr>
            <a:r>
              <a:rPr lang="en" sz="1467" dirty="0">
                <a:solidFill>
                  <a:schemeClr val="tx1"/>
                </a:solidFill>
                <a:latin typeface="Times New Roman" panose="02020603050405020304" pitchFamily="18" charset="0"/>
                <a:ea typeface="Lato"/>
                <a:cs typeface="Times New Roman" panose="02020603050405020304" pitchFamily="18" charset="0"/>
                <a:sym typeface="Lato"/>
              </a:rPr>
              <a:t>Supports </a:t>
            </a:r>
            <a:r>
              <a:rPr lang="en" sz="1467" b="1" dirty="0">
                <a:solidFill>
                  <a:schemeClr val="tx1"/>
                </a:solidFill>
                <a:latin typeface="Times New Roman" panose="02020603050405020304" pitchFamily="18" charset="0"/>
                <a:ea typeface="Lato"/>
                <a:cs typeface="Times New Roman" panose="02020603050405020304" pitchFamily="18" charset="0"/>
                <a:sym typeface="Lato"/>
              </a:rPr>
              <a:t>innovation in treatment</a:t>
            </a:r>
            <a:endParaRPr sz="1467" b="1"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397923" algn="l" rtl="0">
              <a:spcBef>
                <a:spcPts val="1600"/>
              </a:spcBef>
              <a:spcAft>
                <a:spcPts val="0"/>
              </a:spcAft>
              <a:buClr>
                <a:schemeClr val="dk2"/>
              </a:buClr>
              <a:buSzPts val="1100"/>
              <a:buFont typeface="Lato"/>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Makes it easier for Medicare to cover:</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1219170" lvl="1" indent="-397923" algn="l" rtl="0">
              <a:spcBef>
                <a:spcPts val="0"/>
              </a:spcBef>
              <a:spcAft>
                <a:spcPts val="0"/>
              </a:spcAft>
              <a:buClr>
                <a:schemeClr val="dk2"/>
              </a:buClr>
              <a:buSzPts val="1100"/>
              <a:buFont typeface="Lato"/>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New medications</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1219170" lvl="1" indent="-397923" algn="l" rtl="0">
              <a:spcBef>
                <a:spcPts val="0"/>
              </a:spcBef>
              <a:spcAft>
                <a:spcPts val="0"/>
              </a:spcAft>
              <a:buClr>
                <a:schemeClr val="dk2"/>
              </a:buClr>
              <a:buSzPts val="1100"/>
              <a:buFont typeface="Lato"/>
              <a:buChar char="○"/>
            </a:pPr>
            <a:r>
              <a:rPr lang="en" sz="1467" dirty="0">
                <a:solidFill>
                  <a:schemeClr val="tx1"/>
                </a:solidFill>
                <a:latin typeface="Times New Roman" panose="02020603050405020304" pitchFamily="18" charset="0"/>
                <a:ea typeface="Lato"/>
                <a:cs typeface="Times New Roman" panose="02020603050405020304" pitchFamily="18" charset="0"/>
                <a:sym typeface="Lato"/>
              </a:rPr>
              <a:t>Medical devices</a:t>
            </a:r>
            <a:endParaRPr sz="1467" dirty="0">
              <a:solidFill>
                <a:schemeClr val="tx1"/>
              </a:solidFill>
              <a:latin typeface="Times New Roman" panose="02020603050405020304" pitchFamily="18" charset="0"/>
              <a:ea typeface="Lato"/>
              <a:cs typeface="Times New Roman" panose="02020603050405020304" pitchFamily="18" charset="0"/>
              <a:sym typeface="Lato"/>
            </a:endParaRPr>
          </a:p>
          <a:p>
            <a:pPr marL="609585" lvl="0" indent="0" algn="l" rtl="0">
              <a:lnSpc>
                <a:spcPct val="115000"/>
              </a:lnSpc>
              <a:spcBef>
                <a:spcPts val="1600"/>
              </a:spcBef>
              <a:spcAft>
                <a:spcPts val="0"/>
              </a:spcAft>
              <a:buNone/>
            </a:pPr>
            <a:endParaRPr sz="1467" dirty="0">
              <a:solidFill>
                <a:schemeClr val="dk1"/>
              </a:solidFill>
            </a:endParaRPr>
          </a:p>
          <a:p>
            <a:pPr marL="609585" lvl="0" indent="0" algn="l" rtl="0">
              <a:spcBef>
                <a:spcPts val="1600"/>
              </a:spcBef>
              <a:spcAft>
                <a:spcPts val="0"/>
              </a:spcAft>
              <a:buNone/>
            </a:pPr>
            <a:endParaRPr sz="2400" dirty="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2519127" y="1002936"/>
            <a:ext cx="10515600" cy="1009651"/>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b="1" dirty="0">
                <a:solidFill>
                  <a:schemeClr val="dk2"/>
                </a:solidFill>
                <a:latin typeface="Times New Roman" panose="02020603050405020304" pitchFamily="18" charset="0"/>
                <a:ea typeface="Lato"/>
                <a:cs typeface="Times New Roman" panose="02020603050405020304" pitchFamily="18" charset="0"/>
                <a:sym typeface="Lato"/>
              </a:rPr>
              <a:t>Support and Opposition: Key Arguments </a:t>
            </a:r>
            <a:endParaRPr b="1" dirty="0">
              <a:solidFill>
                <a:schemeClr val="dk2"/>
              </a:solidFill>
              <a:latin typeface="Times New Roman" panose="02020603050405020304" pitchFamily="18" charset="0"/>
              <a:ea typeface="Lato"/>
              <a:cs typeface="Times New Roman" panose="02020603050405020304" pitchFamily="18" charset="0"/>
              <a:sym typeface="Lato"/>
            </a:endParaRPr>
          </a:p>
        </p:txBody>
      </p:sp>
      <p:sp>
        <p:nvSpPr>
          <p:cNvPr id="161" name="Google Shape;161;p29"/>
          <p:cNvSpPr txBox="1">
            <a:spLocks noGrp="1"/>
          </p:cNvSpPr>
          <p:nvPr>
            <p:ph sz="half" idx="1"/>
          </p:nvPr>
        </p:nvSpPr>
        <p:spPr>
          <a:prstGeom prst="rect">
            <a:avLst/>
          </a:prstGeom>
        </p:spPr>
        <p:txBody>
          <a:bodyPr spcFirstLastPara="1" wrap="square" lIns="121900" tIns="121900" rIns="121900" bIns="121900"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spcBef>
                <a:spcPts val="0"/>
              </a:spcBef>
              <a:buNone/>
            </a:pPr>
            <a:r>
              <a:rPr lang="en" sz="3000" dirty="0">
                <a:highlight>
                  <a:schemeClr val="lt1"/>
                </a:highlight>
                <a:latin typeface="Times New Roman" panose="02020603050405020304" pitchFamily="18" charset="0"/>
                <a:ea typeface="Lato"/>
                <a:cs typeface="Times New Roman" panose="02020603050405020304" pitchFamily="18" charset="0"/>
                <a:sym typeface="Lato"/>
              </a:rPr>
              <a:t>West Virginia has the highest mortality rate of chronic kidney disease in the country, and I am working to change that”  </a:t>
            </a:r>
            <a:endParaRPr sz="3000" dirty="0">
              <a:highlight>
                <a:schemeClr val="lt1"/>
              </a:highlight>
              <a:latin typeface="Times New Roman" panose="02020603050405020304" pitchFamily="18" charset="0"/>
              <a:ea typeface="Lato"/>
              <a:cs typeface="Times New Roman" panose="02020603050405020304" pitchFamily="18" charset="0"/>
              <a:sym typeface="Lato"/>
            </a:endParaRPr>
          </a:p>
          <a:p>
            <a:pPr marL="0" indent="0">
              <a:spcBef>
                <a:spcPts val="1600"/>
              </a:spcBef>
              <a:buNone/>
            </a:pPr>
            <a:r>
              <a:rPr lang="en" sz="3000" dirty="0">
                <a:highlight>
                  <a:schemeClr val="lt1"/>
                </a:highlight>
                <a:latin typeface="Times New Roman" panose="02020603050405020304" pitchFamily="18" charset="0"/>
                <a:ea typeface="Lato"/>
                <a:cs typeface="Times New Roman" panose="02020603050405020304" pitchFamily="18" charset="0"/>
                <a:sym typeface="Lato"/>
              </a:rPr>
              <a:t>“The Chronic Kidney Disease Improvement in Research and Treatment Act is exactly what my constituents need ... This bill will provide the necessary resources and affordable access to treatment for patients suffering with [CKD] in communities across West Virginia and the country.”- Carol Miller, R-WV </a:t>
            </a:r>
            <a:endParaRPr sz="3000" dirty="0">
              <a:highlight>
                <a:schemeClr val="lt1"/>
              </a:highlight>
              <a:latin typeface="Times New Roman" panose="02020603050405020304" pitchFamily="18" charset="0"/>
              <a:ea typeface="Lato"/>
              <a:cs typeface="Times New Roman" panose="02020603050405020304" pitchFamily="18" charset="0"/>
              <a:sym typeface="Lato"/>
            </a:endParaRPr>
          </a:p>
          <a:p>
            <a:pPr marL="0" lvl="0" indent="0" algn="l" rtl="0">
              <a:spcBef>
                <a:spcPts val="1600"/>
              </a:spcBef>
              <a:spcAft>
                <a:spcPts val="1600"/>
              </a:spcAft>
              <a:buNone/>
            </a:pPr>
            <a:endParaRPr sz="1600" dirty="0">
              <a:solidFill>
                <a:srgbClr val="373D3F"/>
              </a:solidFill>
              <a:highlight>
                <a:srgbClr val="FAFAFA"/>
              </a:highlight>
              <a:latin typeface="Merriweather"/>
              <a:ea typeface="Merriweather"/>
              <a:cs typeface="Merriweather"/>
              <a:sym typeface="Merriweather"/>
            </a:endParaRPr>
          </a:p>
        </p:txBody>
      </p:sp>
      <p:sp>
        <p:nvSpPr>
          <p:cNvPr id="162" name="Google Shape;162;p29"/>
          <p:cNvSpPr txBox="1"/>
          <p:nvPr/>
        </p:nvSpPr>
        <p:spPr>
          <a:xfrm>
            <a:off x="5128833" y="3209200"/>
            <a:ext cx="7092400" cy="61560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00">
              <a:solidFill>
                <a:schemeClr val="dk2"/>
              </a:solidFill>
            </a:endParaRPr>
          </a:p>
        </p:txBody>
      </p:sp>
      <p:sp>
        <p:nvSpPr>
          <p:cNvPr id="163" name="Google Shape;163;p29"/>
          <p:cNvSpPr txBox="1"/>
          <p:nvPr/>
        </p:nvSpPr>
        <p:spPr>
          <a:xfrm>
            <a:off x="5883761" y="1660430"/>
            <a:ext cx="8149110" cy="353713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09585" lvl="0" indent="0" algn="l" rtl="0">
              <a:lnSpc>
                <a:spcPct val="115000"/>
              </a:lnSpc>
              <a:spcBef>
                <a:spcPts val="1600"/>
              </a:spcBef>
              <a:spcAft>
                <a:spcPts val="0"/>
              </a:spcAft>
              <a:buNone/>
            </a:pPr>
            <a:r>
              <a:rPr lang="en" sz="1600" dirty="0">
                <a:solidFill>
                  <a:schemeClr val="dk1"/>
                </a:solidFill>
                <a:latin typeface="Times New Roman" panose="02020603050405020304" pitchFamily="18" charset="0"/>
                <a:cs typeface="Times New Roman" panose="02020603050405020304" pitchFamily="18" charset="0"/>
              </a:rPr>
              <a:t>✔️ </a:t>
            </a:r>
            <a:r>
              <a:rPr lang="en" sz="1600" b="1" dirty="0">
                <a:solidFill>
                  <a:schemeClr val="dk1"/>
                </a:solidFill>
                <a:latin typeface="Times New Roman" panose="02020603050405020304" pitchFamily="18" charset="0"/>
                <a:cs typeface="Times New Roman" panose="02020603050405020304" pitchFamily="18" charset="0"/>
              </a:rPr>
              <a:t>Bipartisan lawmakers</a:t>
            </a:r>
            <a:r>
              <a:rPr lang="en" sz="1600" dirty="0">
                <a:solidFill>
                  <a:schemeClr val="dk1"/>
                </a:solidFill>
                <a:latin typeface="Times New Roman" panose="02020603050405020304" pitchFamily="18" charset="0"/>
                <a:cs typeface="Times New Roman" panose="02020603050405020304" pitchFamily="18" charset="0"/>
              </a:rPr>
              <a:t> (Democrats &amp; Republicans)</a:t>
            </a:r>
            <a:endParaRPr sz="1600"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None/>
            </a:pPr>
            <a:r>
              <a:rPr lang="en" sz="1600" dirty="0">
                <a:solidFill>
                  <a:schemeClr val="dk1"/>
                </a:solidFill>
                <a:latin typeface="Times New Roman" panose="02020603050405020304" pitchFamily="18" charset="0"/>
                <a:cs typeface="Times New Roman" panose="02020603050405020304" pitchFamily="18" charset="0"/>
              </a:rPr>
              <a:t>✔️ </a:t>
            </a:r>
            <a:r>
              <a:rPr lang="en" sz="1600" b="1" dirty="0">
                <a:solidFill>
                  <a:schemeClr val="dk1"/>
                </a:solidFill>
                <a:latin typeface="Times New Roman" panose="02020603050405020304" pitchFamily="18" charset="0"/>
                <a:cs typeface="Times New Roman" panose="02020603050405020304" pitchFamily="18" charset="0"/>
              </a:rPr>
              <a:t>Kidney organizations &amp; nonprofits</a:t>
            </a:r>
            <a:endParaRPr sz="1600" b="1"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Clr>
                <a:schemeClr val="dk1"/>
              </a:buClr>
              <a:buSzPts val="1100"/>
              <a:buFont typeface="Arial"/>
              <a:buNone/>
            </a:pPr>
            <a:r>
              <a:rPr lang="en" sz="1600" b="1" dirty="0">
                <a:solidFill>
                  <a:schemeClr val="dk1"/>
                </a:solidFill>
                <a:latin typeface="Times New Roman" panose="02020603050405020304" pitchFamily="18" charset="0"/>
                <a:cs typeface="Times New Roman" panose="02020603050405020304" pitchFamily="18" charset="0"/>
              </a:rPr>
              <a:t>✔️ American Kidney Fund</a:t>
            </a:r>
            <a:endParaRPr sz="1600" b="1"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Clr>
                <a:schemeClr val="dk1"/>
              </a:buClr>
              <a:buSzPts val="1100"/>
              <a:buFont typeface="Arial"/>
              <a:buNone/>
            </a:pPr>
            <a:r>
              <a:rPr lang="en" sz="1600" b="1" dirty="0">
                <a:solidFill>
                  <a:schemeClr val="dk1"/>
                </a:solidFill>
                <a:latin typeface="Times New Roman" panose="02020603050405020304" pitchFamily="18" charset="0"/>
                <a:cs typeface="Times New Roman" panose="02020603050405020304" pitchFamily="18" charset="0"/>
              </a:rPr>
              <a:t>✔️ Renal Support Network</a:t>
            </a:r>
            <a:endParaRPr sz="1600" b="1"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Clr>
                <a:schemeClr val="dk1"/>
              </a:buClr>
              <a:buSzPts val="1100"/>
              <a:buFont typeface="Arial"/>
              <a:buNone/>
            </a:pPr>
            <a:r>
              <a:rPr lang="en" sz="1600" b="1" dirty="0">
                <a:solidFill>
                  <a:schemeClr val="dk1"/>
                </a:solidFill>
                <a:latin typeface="Times New Roman" panose="02020603050405020304" pitchFamily="18" charset="0"/>
                <a:cs typeface="Times New Roman" panose="02020603050405020304" pitchFamily="18" charset="0"/>
              </a:rPr>
              <a:t>✔️ Dialysis Patient Citizens</a:t>
            </a:r>
            <a:endParaRPr sz="1600" b="1"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None/>
            </a:pPr>
            <a:r>
              <a:rPr lang="en" sz="1600" dirty="0">
                <a:solidFill>
                  <a:schemeClr val="dk1"/>
                </a:solidFill>
                <a:latin typeface="Times New Roman" panose="02020603050405020304" pitchFamily="18" charset="0"/>
                <a:cs typeface="Times New Roman" panose="02020603050405020304" pitchFamily="18" charset="0"/>
              </a:rPr>
              <a:t>✔️ </a:t>
            </a:r>
            <a:r>
              <a:rPr lang="en" sz="1600" b="1" dirty="0">
                <a:solidFill>
                  <a:schemeClr val="dk1"/>
                </a:solidFill>
                <a:latin typeface="Times New Roman" panose="02020603050405020304" pitchFamily="18" charset="0"/>
                <a:cs typeface="Times New Roman" panose="02020603050405020304" pitchFamily="18" charset="0"/>
              </a:rPr>
              <a:t>Doctors &amp; healthcare providers</a:t>
            </a:r>
            <a:endParaRPr sz="1600" b="1"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None/>
            </a:pPr>
            <a:r>
              <a:rPr lang="en" sz="1600" dirty="0">
                <a:solidFill>
                  <a:schemeClr val="dk1"/>
                </a:solidFill>
                <a:latin typeface="Times New Roman" panose="02020603050405020304" pitchFamily="18" charset="0"/>
                <a:cs typeface="Times New Roman" panose="02020603050405020304" pitchFamily="18" charset="0"/>
              </a:rPr>
              <a:t>✔️ </a:t>
            </a:r>
            <a:r>
              <a:rPr lang="en" sz="1600" b="1" dirty="0">
                <a:solidFill>
                  <a:schemeClr val="dk1"/>
                </a:solidFill>
                <a:latin typeface="Times New Roman" panose="02020603050405020304" pitchFamily="18" charset="0"/>
                <a:cs typeface="Times New Roman" panose="02020603050405020304" pitchFamily="18" charset="0"/>
              </a:rPr>
              <a:t>Patient advocacy groups</a:t>
            </a:r>
            <a:endParaRPr sz="1600" b="1" dirty="0">
              <a:solidFill>
                <a:schemeClr val="dk1"/>
              </a:solidFill>
              <a:latin typeface="Times New Roman" panose="02020603050405020304" pitchFamily="18" charset="0"/>
              <a:cs typeface="Times New Roman" panose="02020603050405020304" pitchFamily="18" charset="0"/>
            </a:endParaRPr>
          </a:p>
          <a:p>
            <a:pPr marL="609585" lvl="0" indent="0" algn="l" rtl="0">
              <a:lnSpc>
                <a:spcPct val="115000"/>
              </a:lnSpc>
              <a:spcBef>
                <a:spcPts val="1600"/>
              </a:spcBef>
              <a:spcAft>
                <a:spcPts val="0"/>
              </a:spcAft>
              <a:buNone/>
            </a:pPr>
            <a:endParaRPr sz="1467" b="1" dirty="0">
              <a:solidFill>
                <a:schemeClr val="dk1"/>
              </a:solidFill>
            </a:endParaRPr>
          </a:p>
          <a:p>
            <a:pPr marL="609585" lvl="0" indent="0" algn="l" rtl="0">
              <a:lnSpc>
                <a:spcPct val="115000"/>
              </a:lnSpc>
              <a:spcBef>
                <a:spcPts val="1600"/>
              </a:spcBef>
              <a:spcAft>
                <a:spcPts val="0"/>
              </a:spcAft>
              <a:buNone/>
            </a:pPr>
            <a:endParaRPr sz="1467" b="1" dirty="0">
              <a:solidFill>
                <a:schemeClr val="dk1"/>
              </a:solidFill>
            </a:endParaRPr>
          </a:p>
          <a:p>
            <a:pPr marL="0" lvl="0" indent="0" algn="l" rtl="0">
              <a:spcBef>
                <a:spcPts val="1600"/>
              </a:spcBef>
              <a:spcAft>
                <a:spcPts val="0"/>
              </a:spcAft>
              <a:buNone/>
            </a:pPr>
            <a:endParaRPr sz="2400" dirty="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0"/>
          <p:cNvSpPr txBox="1">
            <a:spLocks noGrp="1"/>
          </p:cNvSpPr>
          <p:nvPr>
            <p:ph type="body" idx="1"/>
          </p:nvPr>
        </p:nvSpPr>
        <p:spPr>
          <a:xfrm>
            <a:off x="151541" y="1379802"/>
            <a:ext cx="11360800" cy="58680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50000"/>
              </a:lnSpc>
              <a:spcBef>
                <a:spcPts val="0"/>
              </a:spcBef>
              <a:spcAft>
                <a:spcPts val="0"/>
              </a:spcAft>
              <a:buNone/>
            </a:pPr>
            <a:r>
              <a:rPr lang="en" b="1" dirty="0">
                <a:latin typeface="Times New Roman" panose="02020603050405020304" pitchFamily="18" charset="0"/>
                <a:cs typeface="Times New Roman" panose="02020603050405020304" pitchFamily="18" charset="0"/>
              </a:rPr>
              <a:t>Benefits of the Bill: </a:t>
            </a:r>
            <a:r>
              <a:rPr lang="en" dirty="0">
                <a:latin typeface="Times New Roman" panose="02020603050405020304" pitchFamily="18" charset="0"/>
                <a:cs typeface="Times New Roman" panose="02020603050405020304" pitchFamily="18" charset="0"/>
              </a:rPr>
              <a:t>Now focusing on early diagnosis and education of CKD, expanding access to treatments by reducing out of pocket costs, helps to reduce long-term health costs by preventing disease progression.    </a:t>
            </a:r>
            <a:r>
              <a:rPr lang="en" b="1" dirty="0">
                <a:latin typeface="Times New Roman" panose="02020603050405020304" pitchFamily="18" charset="0"/>
                <a:cs typeface="Times New Roman" panose="02020603050405020304" pitchFamily="18" charset="0"/>
              </a:rPr>
              <a:t>    </a:t>
            </a:r>
            <a:endParaRPr b="1" dirty="0">
              <a:latin typeface="Times New Roman" panose="02020603050405020304" pitchFamily="18" charset="0"/>
              <a:cs typeface="Times New Roman" panose="02020603050405020304" pitchFamily="18" charset="0"/>
            </a:endParaRPr>
          </a:p>
          <a:p>
            <a:pPr marL="0" lvl="0" indent="0" algn="l" rtl="0">
              <a:lnSpc>
                <a:spcPct val="150000"/>
              </a:lnSpc>
              <a:spcBef>
                <a:spcPts val="1600"/>
              </a:spcBef>
              <a:spcAft>
                <a:spcPts val="0"/>
              </a:spcAft>
              <a:buNone/>
            </a:pPr>
            <a:r>
              <a:rPr lang="en" b="1" dirty="0">
                <a:latin typeface="Times New Roman" panose="02020603050405020304" pitchFamily="18" charset="0"/>
                <a:cs typeface="Times New Roman" panose="02020603050405020304" pitchFamily="18" charset="0"/>
              </a:rPr>
              <a:t>Population Affected: </a:t>
            </a:r>
            <a:r>
              <a:rPr lang="en" dirty="0">
                <a:latin typeface="Times New Roman" panose="02020603050405020304" pitchFamily="18" charset="0"/>
                <a:cs typeface="Times New Roman" panose="02020603050405020304" pitchFamily="18" charset="0"/>
              </a:rPr>
              <a:t>Patients with Chronic Kidney Disease, and underserved and low income communities </a:t>
            </a:r>
            <a:endParaRPr dirty="0">
              <a:latin typeface="Times New Roman" panose="02020603050405020304" pitchFamily="18" charset="0"/>
              <a:cs typeface="Times New Roman" panose="02020603050405020304" pitchFamily="18" charset="0"/>
            </a:endParaRPr>
          </a:p>
          <a:p>
            <a:pPr marL="0" lvl="0" indent="0" algn="l" rtl="0">
              <a:lnSpc>
                <a:spcPct val="150000"/>
              </a:lnSpc>
              <a:spcBef>
                <a:spcPts val="1600"/>
              </a:spcBef>
              <a:spcAft>
                <a:spcPts val="0"/>
              </a:spcAft>
              <a:buNone/>
            </a:pPr>
            <a:r>
              <a:rPr lang="en" b="1" dirty="0">
                <a:latin typeface="Times New Roman" panose="02020603050405020304" pitchFamily="18" charset="0"/>
                <a:cs typeface="Times New Roman" panose="02020603050405020304" pitchFamily="18" charset="0"/>
              </a:rPr>
              <a:t>Arguments for the Bill: </a:t>
            </a:r>
            <a:r>
              <a:rPr lang="en" dirty="0">
                <a:latin typeface="Times New Roman" panose="02020603050405020304" pitchFamily="18" charset="0"/>
                <a:cs typeface="Times New Roman" panose="02020603050405020304" pitchFamily="18" charset="0"/>
              </a:rPr>
              <a:t>Early detection saves lives and improves healthcare costs, and address a public health issue</a:t>
            </a:r>
            <a:endParaRPr b="1" dirty="0">
              <a:latin typeface="Times New Roman" panose="02020603050405020304" pitchFamily="18" charset="0"/>
              <a:cs typeface="Times New Roman" panose="02020603050405020304" pitchFamily="18" charset="0"/>
            </a:endParaRPr>
          </a:p>
          <a:p>
            <a:pPr marL="0" lvl="0" indent="0" algn="l" rtl="0">
              <a:lnSpc>
                <a:spcPct val="150000"/>
              </a:lnSpc>
              <a:spcBef>
                <a:spcPts val="1600"/>
              </a:spcBef>
              <a:spcAft>
                <a:spcPts val="1600"/>
              </a:spcAft>
              <a:buNone/>
            </a:pPr>
            <a:r>
              <a:rPr lang="en" b="1" dirty="0">
                <a:latin typeface="Times New Roman" panose="02020603050405020304" pitchFamily="18" charset="0"/>
                <a:cs typeface="Times New Roman" panose="02020603050405020304" pitchFamily="18" charset="0"/>
              </a:rPr>
              <a:t>Counterarguments for the Bill: </a:t>
            </a:r>
            <a:r>
              <a:rPr lang="en" dirty="0">
                <a:latin typeface="Times New Roman" panose="02020603050405020304" pitchFamily="18" charset="0"/>
                <a:cs typeface="Times New Roman" panose="02020603050405020304" pitchFamily="18" charset="0"/>
              </a:rPr>
              <a:t>Could increase government healthcare spending? Reduce expensive treatments like dialysis?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415600" y="920297"/>
            <a:ext cx="11360800" cy="763600"/>
          </a:xfrm>
          <a:prstGeom prst="rect">
            <a:avLst/>
          </a:prstGeom>
          <a:ln>
            <a:solidFill>
              <a:schemeClr val="tx2"/>
            </a:solid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b="1" dirty="0">
                <a:solidFill>
                  <a:schemeClr val="dk2"/>
                </a:solidFill>
                <a:latin typeface="Times New Roman" panose="02020603050405020304" pitchFamily="18" charset="0"/>
                <a:ea typeface="Lato"/>
                <a:cs typeface="Times New Roman" panose="02020603050405020304" pitchFamily="18" charset="0"/>
                <a:sym typeface="Lato"/>
              </a:rPr>
              <a:t>How to Get Involved in the Policy Process </a:t>
            </a:r>
            <a:endParaRPr b="1" dirty="0">
              <a:solidFill>
                <a:schemeClr val="dk2"/>
              </a:solidFill>
              <a:latin typeface="Times New Roman" panose="02020603050405020304" pitchFamily="18" charset="0"/>
              <a:ea typeface="Lato"/>
              <a:cs typeface="Times New Roman" panose="02020603050405020304" pitchFamily="18" charset="0"/>
              <a:sym typeface="Lato"/>
            </a:endParaRPr>
          </a:p>
        </p:txBody>
      </p:sp>
      <p:sp>
        <p:nvSpPr>
          <p:cNvPr id="174" name="Google Shape;174;p31"/>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900" dirty="0">
                <a:solidFill>
                  <a:schemeClr val="dk1"/>
                </a:solidFill>
                <a:latin typeface="Times New Roman" panose="02020603050405020304" pitchFamily="18" charset="0"/>
                <a:cs typeface="Times New Roman" panose="02020603050405020304" pitchFamily="18" charset="0"/>
              </a:rPr>
              <a:t>Email or call your federal representative to urge them to co-sponsor the bill</a:t>
            </a:r>
            <a:endParaRPr sz="19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64399"/>
              <a:buFont typeface="Arial"/>
              <a:buNone/>
            </a:pPr>
            <a:r>
              <a:rPr lang="en" sz="1900" b="1" u="sng" dirty="0">
                <a:solidFill>
                  <a:schemeClr val="dk1"/>
                </a:solidFill>
                <a:latin typeface="Times New Roman" panose="02020603050405020304" pitchFamily="18" charset="0"/>
                <a:cs typeface="Times New Roman" panose="02020603050405020304" pitchFamily="18" charset="0"/>
              </a:rPr>
              <a:t>https://</a:t>
            </a:r>
            <a:r>
              <a:rPr lang="en" sz="1900" b="1" u="sng" dirty="0" err="1">
                <a:solidFill>
                  <a:schemeClr val="dk1"/>
                </a:solidFill>
                <a:latin typeface="Times New Roman" panose="02020603050405020304" pitchFamily="18" charset="0"/>
                <a:cs typeface="Times New Roman" panose="02020603050405020304" pitchFamily="18" charset="0"/>
              </a:rPr>
              <a:t>www.palegis.us</a:t>
            </a:r>
            <a:r>
              <a:rPr lang="en" sz="1900" b="1" u="sng" dirty="0">
                <a:solidFill>
                  <a:schemeClr val="dk1"/>
                </a:solidFill>
                <a:latin typeface="Times New Roman" panose="02020603050405020304" pitchFamily="18" charset="0"/>
                <a:cs typeface="Times New Roman" panose="02020603050405020304" pitchFamily="18" charset="0"/>
              </a:rPr>
              <a:t>/find-my-legislator</a:t>
            </a:r>
            <a:endParaRPr sz="1900" b="1" u="sng"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64399"/>
              <a:buFont typeface="Arial"/>
              <a:buNone/>
            </a:pPr>
            <a:r>
              <a:rPr lang="en" sz="1900" dirty="0">
                <a:solidFill>
                  <a:schemeClr val="dk1"/>
                </a:solidFill>
                <a:latin typeface="Times New Roman" panose="02020603050405020304" pitchFamily="18" charset="0"/>
                <a:cs typeface="Times New Roman" panose="02020603050405020304" pitchFamily="18" charset="0"/>
              </a:rPr>
              <a:t>Join the </a:t>
            </a:r>
            <a:r>
              <a:rPr lang="en" sz="1900" b="1" dirty="0">
                <a:solidFill>
                  <a:schemeClr val="dk1"/>
                </a:solidFill>
                <a:latin typeface="Times New Roman" panose="02020603050405020304" pitchFamily="18" charset="0"/>
                <a:cs typeface="Times New Roman" panose="02020603050405020304" pitchFamily="18" charset="0"/>
              </a:rPr>
              <a:t>American Kidney Fund Mobile Advocacy Network</a:t>
            </a:r>
            <a:endParaRPr sz="1900" b="1" dirty="0">
              <a:solidFill>
                <a:schemeClr val="dk1"/>
              </a:solidFill>
              <a:latin typeface="Times New Roman" panose="02020603050405020304" pitchFamily="18" charset="0"/>
              <a:cs typeface="Times New Roman" panose="02020603050405020304" pitchFamily="18" charset="0"/>
            </a:endParaRPr>
          </a:p>
          <a:p>
            <a:pPr marL="609585" lvl="0" indent="-427716" algn="l" rtl="0">
              <a:spcBef>
                <a:spcPts val="1600"/>
              </a:spcBef>
              <a:spcAft>
                <a:spcPts val="0"/>
              </a:spcAft>
              <a:buClr>
                <a:schemeClr val="dk1"/>
              </a:buClr>
              <a:buSzPct val="100000"/>
              <a:buChar char="●"/>
            </a:pPr>
            <a:r>
              <a:rPr lang="en" sz="1900" dirty="0">
                <a:solidFill>
                  <a:schemeClr val="dk1"/>
                </a:solidFill>
                <a:latin typeface="Times New Roman" panose="02020603050405020304" pitchFamily="18" charset="0"/>
                <a:cs typeface="Times New Roman" panose="02020603050405020304" pitchFamily="18" charset="0"/>
              </a:rPr>
              <a:t>Sign up by texting </a:t>
            </a:r>
            <a:r>
              <a:rPr lang="en" sz="1900" b="1" dirty="0">
                <a:solidFill>
                  <a:schemeClr val="dk1"/>
                </a:solidFill>
                <a:latin typeface="Times New Roman" panose="02020603050405020304" pitchFamily="18" charset="0"/>
                <a:cs typeface="Times New Roman" panose="02020603050405020304" pitchFamily="18" charset="0"/>
              </a:rPr>
              <a:t>“KIDNEY” to 52886</a:t>
            </a:r>
            <a:endParaRPr sz="1900" b="1"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64399"/>
              <a:buFont typeface="Arial"/>
              <a:buNone/>
            </a:pPr>
            <a:r>
              <a:rPr lang="en" sz="1900" dirty="0">
                <a:solidFill>
                  <a:schemeClr val="dk1"/>
                </a:solidFill>
                <a:latin typeface="Times New Roman" panose="02020603050405020304" pitchFamily="18" charset="0"/>
                <a:cs typeface="Times New Roman" panose="02020603050405020304" pitchFamily="18" charset="0"/>
              </a:rPr>
              <a:t>Become an </a:t>
            </a:r>
            <a:r>
              <a:rPr lang="en" sz="1900" b="1" dirty="0">
                <a:solidFill>
                  <a:schemeClr val="dk1"/>
                </a:solidFill>
                <a:latin typeface="Times New Roman" panose="02020603050405020304" pitchFamily="18" charset="0"/>
                <a:cs typeface="Times New Roman" panose="02020603050405020304" pitchFamily="18" charset="0"/>
              </a:rPr>
              <a:t>American Kidney Fund Ambassador</a:t>
            </a:r>
            <a:endParaRPr sz="1900" b="1" dirty="0">
              <a:solidFill>
                <a:schemeClr val="dk1"/>
              </a:solidFill>
              <a:latin typeface="Times New Roman" panose="02020603050405020304" pitchFamily="18" charset="0"/>
              <a:cs typeface="Times New Roman" panose="02020603050405020304" pitchFamily="18" charset="0"/>
            </a:endParaRPr>
          </a:p>
          <a:p>
            <a:pPr marL="609585" lvl="0" indent="-427716" algn="l" rtl="0">
              <a:spcBef>
                <a:spcPts val="1600"/>
              </a:spcBef>
              <a:spcAft>
                <a:spcPts val="0"/>
              </a:spcAft>
              <a:buClr>
                <a:schemeClr val="dk1"/>
              </a:buClr>
              <a:buSzPct val="100000"/>
              <a:buChar char="●"/>
            </a:pPr>
            <a:r>
              <a:rPr lang="en" sz="1900" dirty="0">
                <a:solidFill>
                  <a:schemeClr val="dk1"/>
                </a:solidFill>
                <a:latin typeface="Times New Roman" panose="02020603050405020304" pitchFamily="18" charset="0"/>
                <a:cs typeface="Times New Roman" panose="02020603050405020304" pitchFamily="18" charset="0"/>
              </a:rPr>
              <a:t>Advocate for people with kidney disease</a:t>
            </a:r>
            <a:endParaRPr sz="1900" dirty="0">
              <a:solidFill>
                <a:schemeClr val="dk1"/>
              </a:solidFill>
              <a:latin typeface="Times New Roman" panose="02020603050405020304" pitchFamily="18" charset="0"/>
              <a:cs typeface="Times New Roman" panose="02020603050405020304" pitchFamily="18" charset="0"/>
            </a:endParaRPr>
          </a:p>
          <a:p>
            <a:pPr marL="609585" lvl="0" indent="-427716" algn="l" rtl="0">
              <a:spcBef>
                <a:spcPts val="0"/>
              </a:spcBef>
              <a:spcAft>
                <a:spcPts val="0"/>
              </a:spcAft>
              <a:buClr>
                <a:schemeClr val="dk1"/>
              </a:buClr>
              <a:buSzPct val="100000"/>
              <a:buChar char="●"/>
            </a:pPr>
            <a:r>
              <a:rPr lang="en" sz="1900" dirty="0">
                <a:solidFill>
                  <a:schemeClr val="dk1"/>
                </a:solidFill>
                <a:latin typeface="Times New Roman" panose="02020603050405020304" pitchFamily="18" charset="0"/>
                <a:cs typeface="Times New Roman" panose="02020603050405020304" pitchFamily="18" charset="0"/>
              </a:rPr>
              <a:t>Work with others to contact lawmakers, attend meetings, and support better healthcare policies</a:t>
            </a:r>
            <a:endParaRPr sz="19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64399"/>
              <a:buFont typeface="Arial"/>
              <a:buNone/>
            </a:pPr>
            <a:r>
              <a:rPr lang="en" sz="1900" dirty="0">
                <a:solidFill>
                  <a:schemeClr val="dk1"/>
                </a:solidFill>
                <a:latin typeface="Times New Roman" panose="02020603050405020304" pitchFamily="18" charset="0"/>
                <a:cs typeface="Times New Roman" panose="02020603050405020304" pitchFamily="18" charset="0"/>
              </a:rPr>
              <a:t>Attend the </a:t>
            </a:r>
            <a:r>
              <a:rPr lang="en" sz="1900" b="1" dirty="0">
                <a:solidFill>
                  <a:schemeClr val="dk1"/>
                </a:solidFill>
                <a:latin typeface="Times New Roman" panose="02020603050405020304" pitchFamily="18" charset="0"/>
                <a:cs typeface="Times New Roman" panose="02020603050405020304" pitchFamily="18" charset="0"/>
              </a:rPr>
              <a:t>Kidney Action Summit</a:t>
            </a:r>
            <a:r>
              <a:rPr lang="en" sz="1900" dirty="0">
                <a:solidFill>
                  <a:schemeClr val="dk1"/>
                </a:solidFill>
                <a:latin typeface="Times New Roman" panose="02020603050405020304" pitchFamily="18" charset="0"/>
                <a:cs typeface="Times New Roman" panose="02020603050405020304" pitchFamily="18" charset="0"/>
              </a:rPr>
              <a:t> </a:t>
            </a:r>
            <a:r>
              <a:rPr lang="en" sz="1900" i="1" dirty="0">
                <a:solidFill>
                  <a:schemeClr val="dk1"/>
                </a:solidFill>
                <a:latin typeface="Times New Roman" panose="02020603050405020304" pitchFamily="18" charset="0"/>
                <a:cs typeface="Times New Roman" panose="02020603050405020304" pitchFamily="18" charset="0"/>
              </a:rPr>
              <a:t>(May 4–6 in Washington, DC</a:t>
            </a:r>
            <a:r>
              <a:rPr lang="en" sz="1900" i="1" dirty="0">
                <a:solidFill>
                  <a:schemeClr val="dk1"/>
                </a:solidFill>
              </a:rPr>
              <a:t>)</a:t>
            </a:r>
            <a:endParaRPr sz="1900" i="1" dirty="0">
              <a:solidFill>
                <a:schemeClr val="dk1"/>
              </a:solidFill>
            </a:endParaRPr>
          </a:p>
          <a:p>
            <a:pPr marL="0" lvl="0" indent="0" algn="l" rtl="0">
              <a:spcBef>
                <a:spcPts val="0"/>
              </a:spcBef>
              <a:spcAft>
                <a:spcPts val="0"/>
              </a:spcAft>
              <a:buNone/>
            </a:pPr>
            <a:endParaRPr dirty="0"/>
          </a:p>
          <a:p>
            <a:pPr marL="0" lvl="0" indent="0" algn="l" rtl="0">
              <a:spcBef>
                <a:spcPts val="1600"/>
              </a:spcBef>
              <a:spcAft>
                <a:spcPts val="1600"/>
              </a:spcAft>
              <a:buNone/>
            </a:pPr>
            <a:r>
              <a:rPr lang="en" dirty="0"/>
              <a:t>	</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2" title="Screenshot 2026-04-18 at 5.12.12 PM.png"/>
          <p:cNvPicPr preferRelativeResize="0"/>
          <p:nvPr/>
        </p:nvPicPr>
        <p:blipFill>
          <a:blip r:embed="rId3">
            <a:alphaModFix/>
          </a:blip>
          <a:stretch>
            <a:fillRect/>
          </a:stretch>
        </p:blipFill>
        <p:spPr>
          <a:xfrm>
            <a:off x="3357327" y="477822"/>
            <a:ext cx="5120840" cy="617624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3"/>
          <p:cNvSpPr txBox="1">
            <a:spLocks noGrp="1"/>
          </p:cNvSpPr>
          <p:nvPr>
            <p:ph type="title"/>
          </p:nvPr>
        </p:nvSpPr>
        <p:spPr>
          <a:xfrm>
            <a:off x="415600" y="219400"/>
            <a:ext cx="11360800" cy="763600"/>
          </a:xfrm>
          <a:prstGeom prst="rect">
            <a:avLst/>
          </a:prstGeom>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a:solidFill>
                  <a:schemeClr val="dk2"/>
                </a:solidFill>
              </a:rPr>
              <a:t>References</a:t>
            </a:r>
            <a:endParaRPr>
              <a:solidFill>
                <a:schemeClr val="dk2"/>
              </a:solidFill>
            </a:endParaRPr>
          </a:p>
        </p:txBody>
      </p:sp>
      <p:sp>
        <p:nvSpPr>
          <p:cNvPr id="185" name="Google Shape;185;p33"/>
          <p:cNvSpPr txBox="1">
            <a:spLocks noGrp="1"/>
          </p:cNvSpPr>
          <p:nvPr>
            <p:ph type="body" idx="1"/>
          </p:nvPr>
        </p:nvSpPr>
        <p:spPr>
          <a:xfrm>
            <a:off x="415600" y="983000"/>
            <a:ext cx="11360800" cy="5480168"/>
          </a:xfrm>
          <a:prstGeom prst="rect">
            <a:avLst/>
          </a:prstGeom>
        </p:spPr>
        <p:txBody>
          <a:bodyPr spcFirstLastPara="1" wrap="square" lIns="121900" tIns="121900" rIns="121900" bIns="121900" anchor="t" anchorCtr="0">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600" dirty="0" err="1">
                <a:latin typeface="Times New Roman" panose="02020603050405020304" pitchFamily="18" charset="0"/>
                <a:cs typeface="Times New Roman" panose="02020603050405020304" pitchFamily="18" charset="0"/>
              </a:rPr>
              <a:t>Chrvala</a:t>
            </a:r>
            <a:r>
              <a:rPr lang="en" sz="1600" dirty="0">
                <a:latin typeface="Times New Roman" panose="02020603050405020304" pitchFamily="18" charset="0"/>
                <a:cs typeface="Times New Roman" panose="02020603050405020304" pitchFamily="18" charset="0"/>
              </a:rPr>
              <a:t>, C. A., </a:t>
            </a:r>
            <a:r>
              <a:rPr lang="en" sz="1600" dirty="0" err="1">
                <a:latin typeface="Times New Roman" panose="02020603050405020304" pitchFamily="18" charset="0"/>
                <a:cs typeface="Times New Roman" panose="02020603050405020304" pitchFamily="18" charset="0"/>
              </a:rPr>
              <a:t>Sherr</a:t>
            </a:r>
            <a:r>
              <a:rPr lang="en" sz="1600" dirty="0">
                <a:latin typeface="Times New Roman" panose="02020603050405020304" pitchFamily="18" charset="0"/>
                <a:cs typeface="Times New Roman" panose="02020603050405020304" pitchFamily="18" charset="0"/>
              </a:rPr>
              <a:t>, D., &amp; Lipman, R. D. (2016). Diabetes self-management education for adults with type 2 diabetes mellitus: A systematic review of the effect on glycemic control. </a:t>
            </a:r>
            <a:r>
              <a:rPr lang="en" sz="1600" i="1" dirty="0">
                <a:latin typeface="Times New Roman" panose="02020603050405020304" pitchFamily="18" charset="0"/>
                <a:cs typeface="Times New Roman" panose="02020603050405020304" pitchFamily="18" charset="0"/>
              </a:rPr>
              <a:t>Patient Education and Counseling, 99</a:t>
            </a:r>
            <a:r>
              <a:rPr lang="en" sz="1600" dirty="0">
                <a:latin typeface="Times New Roman" panose="02020603050405020304" pitchFamily="18" charset="0"/>
                <a:cs typeface="Times New Roman" panose="02020603050405020304" pitchFamily="18" charset="0"/>
              </a:rPr>
              <a:t>(6), 926–943.</a:t>
            </a:r>
            <a:r>
              <a:rPr lang="en" sz="1200" b="1" dirty="0">
                <a:latin typeface="Times New Roman" panose="02020603050405020304" pitchFamily="18" charset="0"/>
                <a:cs typeface="Times New Roman" panose="02020603050405020304" pitchFamily="18" charset="0"/>
              </a:rPr>
              <a:t> </a:t>
            </a:r>
            <a:r>
              <a:rPr lang="en" sz="1200" b="1" u="sng" dirty="0">
                <a:latin typeface="Times New Roman" panose="02020603050405020304" pitchFamily="18" charset="0"/>
                <a:cs typeface="Times New Roman" panose="02020603050405020304" pitchFamily="18" charset="0"/>
                <a:hlinkClick r:id="rId3"/>
              </a:rPr>
              <a:t>https://</a:t>
            </a:r>
            <a:r>
              <a:rPr lang="en" sz="1200" b="1" u="sng" dirty="0" err="1">
                <a:latin typeface="Times New Roman" panose="02020603050405020304" pitchFamily="18" charset="0"/>
                <a:cs typeface="Times New Roman" panose="02020603050405020304" pitchFamily="18" charset="0"/>
                <a:hlinkClick r:id="rId3"/>
              </a:rPr>
              <a:t>doi.org</a:t>
            </a:r>
            <a:r>
              <a:rPr lang="en" sz="1200" b="1" u="sng" dirty="0">
                <a:latin typeface="Times New Roman" panose="02020603050405020304" pitchFamily="18" charset="0"/>
                <a:cs typeface="Times New Roman" panose="02020603050405020304" pitchFamily="18" charset="0"/>
                <a:hlinkClick r:id="rId3"/>
              </a:rPr>
              <a:t>/10.1016/j.pec.2015.11.003</a:t>
            </a:r>
            <a:endParaRPr sz="1200" b="1"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endParaRPr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1467" dirty="0">
                <a:latin typeface="Times New Roman" panose="02020603050405020304" pitchFamily="18" charset="0"/>
                <a:cs typeface="Times New Roman" panose="02020603050405020304" pitchFamily="18" charset="0"/>
              </a:rPr>
              <a:t>U.S. Department of Health and Human Services, Office of the Assistant Secretary for Planning and Evaluation. (2019, July 9). </a:t>
            </a:r>
            <a:r>
              <a:rPr lang="en" sz="1467" i="1" dirty="0">
                <a:latin typeface="Times New Roman" panose="02020603050405020304" pitchFamily="18" charset="0"/>
                <a:cs typeface="Times New Roman" panose="02020603050405020304" pitchFamily="18" charset="0"/>
              </a:rPr>
              <a:t>Advancing American kidney health</a:t>
            </a:r>
            <a:r>
              <a:rPr lang="en" sz="1467" dirty="0">
                <a:latin typeface="Times New Roman" panose="02020603050405020304" pitchFamily="18" charset="0"/>
                <a:cs typeface="Times New Roman" panose="02020603050405020304" pitchFamily="18" charset="0"/>
              </a:rPr>
              <a:t>.</a:t>
            </a:r>
            <a:r>
              <a:rPr lang="en" sz="1467" dirty="0">
                <a:uFill>
                  <a:noFill/>
                </a:uFill>
                <a:latin typeface="Times New Roman" panose="02020603050405020304" pitchFamily="18" charset="0"/>
                <a:cs typeface="Times New Roman" panose="02020603050405020304" pitchFamily="18" charset="0"/>
                <a:hlinkClick r:id="rId4"/>
              </a:rPr>
              <a:t> </a:t>
            </a:r>
            <a:r>
              <a:rPr lang="en" sz="1467" u="sng" dirty="0">
                <a:latin typeface="Times New Roman" panose="02020603050405020304" pitchFamily="18" charset="0"/>
                <a:cs typeface="Times New Roman" panose="02020603050405020304" pitchFamily="18" charset="0"/>
                <a:hlinkClick r:id="rId4"/>
              </a:rPr>
              <a:t>https://</a:t>
            </a:r>
            <a:r>
              <a:rPr lang="en" sz="1467" u="sng" dirty="0" err="1">
                <a:latin typeface="Times New Roman" panose="02020603050405020304" pitchFamily="18" charset="0"/>
                <a:cs typeface="Times New Roman" panose="02020603050405020304" pitchFamily="18" charset="0"/>
                <a:hlinkClick r:id="rId4"/>
              </a:rPr>
              <a:t>aspe.hhs.gov</a:t>
            </a:r>
            <a:r>
              <a:rPr lang="en" sz="1467" u="sng" dirty="0">
                <a:latin typeface="Times New Roman" panose="02020603050405020304" pitchFamily="18" charset="0"/>
                <a:cs typeface="Times New Roman" panose="02020603050405020304" pitchFamily="18" charset="0"/>
                <a:hlinkClick r:id="rId4"/>
              </a:rPr>
              <a:t>/reports/advancing-american-kidney-health</a:t>
            </a:r>
            <a:endParaRPr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467" dirty="0">
                <a:latin typeface="Times New Roman" panose="02020603050405020304" pitchFamily="18" charset="0"/>
                <a:cs typeface="Times New Roman" panose="02020603050405020304" pitchFamily="18" charset="0"/>
              </a:rPr>
              <a:t>National Institute of Diabetes and Digestive and Kidney Diseases. (2023, August). </a:t>
            </a:r>
            <a:r>
              <a:rPr lang="en" sz="1467" i="1" dirty="0">
                <a:latin typeface="Times New Roman" panose="02020603050405020304" pitchFamily="18" charset="0"/>
                <a:cs typeface="Times New Roman" panose="02020603050405020304" pitchFamily="18" charset="0"/>
              </a:rPr>
              <a:t>Kidney disease for health professionals</a:t>
            </a:r>
            <a:r>
              <a:rPr lang="en" sz="1467" dirty="0">
                <a:latin typeface="Times New Roman" panose="02020603050405020304" pitchFamily="18" charset="0"/>
                <a:cs typeface="Times New Roman" panose="02020603050405020304" pitchFamily="18" charset="0"/>
              </a:rPr>
              <a:t>.</a:t>
            </a:r>
            <a:r>
              <a:rPr lang="en" sz="1467" dirty="0">
                <a:uFill>
                  <a:noFill/>
                </a:uFill>
                <a:latin typeface="Times New Roman" panose="02020603050405020304" pitchFamily="18" charset="0"/>
                <a:cs typeface="Times New Roman" panose="02020603050405020304" pitchFamily="18" charset="0"/>
                <a:hlinkClick r:id="rId5"/>
              </a:rPr>
              <a:t> </a:t>
            </a:r>
            <a:r>
              <a:rPr lang="en" sz="1467" u="sng" dirty="0">
                <a:latin typeface="Times New Roman" panose="02020603050405020304" pitchFamily="18" charset="0"/>
                <a:cs typeface="Times New Roman" panose="02020603050405020304" pitchFamily="18" charset="0"/>
                <a:hlinkClick r:id="rId5"/>
              </a:rPr>
              <a:t>https://</a:t>
            </a:r>
            <a:r>
              <a:rPr lang="en" sz="1467" u="sng" dirty="0" err="1">
                <a:latin typeface="Times New Roman" panose="02020603050405020304" pitchFamily="18" charset="0"/>
                <a:cs typeface="Times New Roman" panose="02020603050405020304" pitchFamily="18" charset="0"/>
                <a:hlinkClick r:id="rId5"/>
              </a:rPr>
              <a:t>www.niddk.nih.gov</a:t>
            </a:r>
            <a:r>
              <a:rPr lang="en" sz="1467" u="sng" dirty="0">
                <a:latin typeface="Times New Roman" panose="02020603050405020304" pitchFamily="18" charset="0"/>
                <a:cs typeface="Times New Roman" panose="02020603050405020304" pitchFamily="18" charset="0"/>
                <a:hlinkClick r:id="rId5"/>
              </a:rPr>
              <a:t>/health-information/professionals/clinical-tools-patient-management/kidney-disease</a:t>
            </a:r>
            <a:endParaRPr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467" dirty="0">
                <a:latin typeface="Times New Roman" panose="02020603050405020304" pitchFamily="18" charset="0"/>
                <a:cs typeface="Times New Roman" panose="02020603050405020304" pitchFamily="18" charset="0"/>
              </a:rPr>
              <a:t>Centers for Disease Control and Prevention. (2024, May 15). </a:t>
            </a:r>
            <a:r>
              <a:rPr lang="en" sz="1467" i="1" dirty="0">
                <a:latin typeface="Times New Roman" panose="02020603050405020304" pitchFamily="18" charset="0"/>
                <a:cs typeface="Times New Roman" panose="02020603050405020304" pitchFamily="18" charset="0"/>
              </a:rPr>
              <a:t>Chronic Kidney Disease (CKD) Surveillance System</a:t>
            </a:r>
            <a:r>
              <a:rPr lang="en" sz="1467" dirty="0">
                <a:latin typeface="Times New Roman" panose="02020603050405020304" pitchFamily="18" charset="0"/>
                <a:cs typeface="Times New Roman" panose="02020603050405020304" pitchFamily="18" charset="0"/>
              </a:rPr>
              <a:t>.</a:t>
            </a:r>
            <a:r>
              <a:rPr lang="en" sz="1467" dirty="0">
                <a:uFill>
                  <a:noFill/>
                </a:uFill>
                <a:latin typeface="Times New Roman" panose="02020603050405020304" pitchFamily="18" charset="0"/>
                <a:cs typeface="Times New Roman" panose="02020603050405020304" pitchFamily="18" charset="0"/>
                <a:hlinkClick r:id="rId6"/>
              </a:rPr>
              <a:t> </a:t>
            </a:r>
            <a:r>
              <a:rPr lang="en" sz="1467" u="sng" dirty="0">
                <a:latin typeface="Times New Roman" panose="02020603050405020304" pitchFamily="18" charset="0"/>
                <a:cs typeface="Times New Roman" panose="02020603050405020304" pitchFamily="18" charset="0"/>
                <a:hlinkClick r:id="rId6"/>
              </a:rPr>
              <a:t>https://</a:t>
            </a:r>
            <a:r>
              <a:rPr lang="en" sz="1467" u="sng" dirty="0" err="1">
                <a:latin typeface="Times New Roman" panose="02020603050405020304" pitchFamily="18" charset="0"/>
                <a:cs typeface="Times New Roman" panose="02020603050405020304" pitchFamily="18" charset="0"/>
                <a:hlinkClick r:id="rId6"/>
              </a:rPr>
              <a:t>nccd.cdc.gov</a:t>
            </a:r>
            <a:r>
              <a:rPr lang="en" sz="1467" u="sng" dirty="0">
                <a:latin typeface="Times New Roman" panose="02020603050405020304" pitchFamily="18" charset="0"/>
                <a:cs typeface="Times New Roman" panose="02020603050405020304" pitchFamily="18" charset="0"/>
                <a:hlinkClick r:id="rId6"/>
              </a:rPr>
              <a:t>/CKD/</a:t>
            </a:r>
            <a:endParaRPr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91667"/>
              <a:buFont typeface="Arial"/>
              <a:buNone/>
            </a:pPr>
            <a:r>
              <a:rPr lang="en" sz="1600" dirty="0">
                <a:latin typeface="Times New Roman" panose="02020603050405020304" pitchFamily="18" charset="0"/>
                <a:cs typeface="Times New Roman" panose="02020603050405020304" pitchFamily="18" charset="0"/>
              </a:rPr>
              <a:t>Penn Kidney Disease Screening and Awareness Program. (n.d.). </a:t>
            </a:r>
            <a:r>
              <a:rPr lang="en" sz="1600" i="1" dirty="0">
                <a:latin typeface="Times New Roman" panose="02020603050405020304" pitchFamily="18" charset="0"/>
                <a:cs typeface="Times New Roman" panose="02020603050405020304" pitchFamily="18" charset="0"/>
              </a:rPr>
              <a:t>KDSAP</a:t>
            </a:r>
            <a:r>
              <a:rPr lang="en" sz="1600" dirty="0">
                <a:latin typeface="Times New Roman" panose="02020603050405020304" pitchFamily="18" charset="0"/>
                <a:cs typeface="Times New Roman" panose="02020603050405020304" pitchFamily="18" charset="0"/>
              </a:rPr>
              <a:t>.</a:t>
            </a:r>
            <a:r>
              <a:rPr lang="en" sz="1600" dirty="0">
                <a:uFill>
                  <a:noFill/>
                </a:uFill>
                <a:latin typeface="Times New Roman" panose="02020603050405020304" pitchFamily="18" charset="0"/>
                <a:cs typeface="Times New Roman" panose="02020603050405020304" pitchFamily="18" charset="0"/>
                <a:hlinkClick r:id="rId7"/>
              </a:rPr>
              <a:t> </a:t>
            </a:r>
            <a:r>
              <a:rPr lang="en" sz="1600" u="sng" dirty="0">
                <a:latin typeface="Times New Roman" panose="02020603050405020304" pitchFamily="18" charset="0"/>
                <a:cs typeface="Times New Roman" panose="02020603050405020304" pitchFamily="18" charset="0"/>
                <a:hlinkClick r:id="rId7"/>
              </a:rPr>
              <a:t>https://</a:t>
            </a:r>
            <a:r>
              <a:rPr lang="en" sz="1600" u="sng" dirty="0" err="1">
                <a:latin typeface="Times New Roman" panose="02020603050405020304" pitchFamily="18" charset="0"/>
                <a:cs typeface="Times New Roman" panose="02020603050405020304" pitchFamily="18" charset="0"/>
                <a:hlinkClick r:id="rId7"/>
              </a:rPr>
              <a:t>www.pennkdsap.org</a:t>
            </a:r>
            <a:r>
              <a:rPr lang="en" sz="1600" u="sng" dirty="0">
                <a:latin typeface="Times New Roman" panose="02020603050405020304" pitchFamily="18" charset="0"/>
                <a:cs typeface="Times New Roman" panose="02020603050405020304" pitchFamily="18" charset="0"/>
                <a:hlinkClick r:id="rId7"/>
              </a:rPr>
              <a:t>/</a:t>
            </a:r>
            <a:r>
              <a:rPr lang="en" sz="1600" u="sng" dirty="0" err="1">
                <a:latin typeface="Times New Roman" panose="02020603050405020304" pitchFamily="18" charset="0"/>
                <a:cs typeface="Times New Roman" panose="02020603050405020304" pitchFamily="18" charset="0"/>
                <a:hlinkClick r:id="rId7"/>
              </a:rPr>
              <a:t>kdsap</a:t>
            </a:r>
            <a:endParaRPr sz="1600" u="sng"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ct val="91667"/>
              <a:buFont typeface="Arial"/>
              <a:buNone/>
            </a:pPr>
            <a:r>
              <a:rPr lang="en" sz="1600" dirty="0">
                <a:latin typeface="Times New Roman" panose="02020603050405020304" pitchFamily="18" charset="0"/>
                <a:cs typeface="Times New Roman" panose="02020603050405020304" pitchFamily="18" charset="0"/>
              </a:rPr>
              <a:t> </a:t>
            </a:r>
            <a:endParaRPr sz="16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 sz="1600" dirty="0">
                <a:latin typeface="Times New Roman" panose="02020603050405020304" pitchFamily="18" charset="0"/>
                <a:cs typeface="Times New Roman" panose="02020603050405020304" pitchFamily="18" charset="0"/>
              </a:rPr>
              <a:t>Temple Health. (n.d.). </a:t>
            </a:r>
            <a:r>
              <a:rPr lang="en" sz="1600" i="1" dirty="0">
                <a:latin typeface="Times New Roman" panose="02020603050405020304" pitchFamily="18" charset="0"/>
                <a:cs typeface="Times New Roman" panose="02020603050405020304" pitchFamily="18" charset="0"/>
              </a:rPr>
              <a:t>Comprehensive hypertension program</a:t>
            </a:r>
            <a:r>
              <a:rPr lang="en" sz="1600" dirty="0">
                <a:latin typeface="Times New Roman" panose="02020603050405020304" pitchFamily="18" charset="0"/>
                <a:cs typeface="Times New Roman" panose="02020603050405020304" pitchFamily="18" charset="0"/>
              </a:rPr>
              <a:t>.</a:t>
            </a:r>
            <a:r>
              <a:rPr lang="en" sz="1600" dirty="0">
                <a:uFill>
                  <a:noFill/>
                </a:uFill>
                <a:latin typeface="Times New Roman" panose="02020603050405020304" pitchFamily="18" charset="0"/>
                <a:cs typeface="Times New Roman" panose="02020603050405020304" pitchFamily="18" charset="0"/>
                <a:hlinkClick r:id="rId8"/>
              </a:rPr>
              <a:t> </a:t>
            </a:r>
            <a:r>
              <a:rPr lang="en" sz="1600" u="sng" dirty="0">
                <a:latin typeface="Times New Roman" panose="02020603050405020304" pitchFamily="18" charset="0"/>
                <a:cs typeface="Times New Roman" panose="02020603050405020304" pitchFamily="18" charset="0"/>
                <a:hlinkClick r:id="rId9"/>
              </a:rPr>
              <a:t>https://</a:t>
            </a:r>
            <a:r>
              <a:rPr lang="en" sz="1600" u="sng" dirty="0" err="1">
                <a:latin typeface="Times New Roman" panose="02020603050405020304" pitchFamily="18" charset="0"/>
                <a:cs typeface="Times New Roman" panose="02020603050405020304" pitchFamily="18" charset="0"/>
                <a:hlinkClick r:id="rId9"/>
              </a:rPr>
              <a:t>www.templehealth.org</a:t>
            </a:r>
            <a:r>
              <a:rPr lang="en" sz="1600" u="sng" dirty="0">
                <a:latin typeface="Times New Roman" panose="02020603050405020304" pitchFamily="18" charset="0"/>
                <a:cs typeface="Times New Roman" panose="02020603050405020304" pitchFamily="18" charset="0"/>
                <a:hlinkClick r:id="rId9"/>
              </a:rPr>
              <a:t>/services/heart-vascular/patient-care/programs/comprehensive-hypertension</a:t>
            </a:r>
            <a:endParaRPr sz="16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600" dirty="0">
                <a:latin typeface="Times New Roman" panose="02020603050405020304" pitchFamily="18" charset="0"/>
                <a:cs typeface="Times New Roman" panose="02020603050405020304" pitchFamily="18" charset="0"/>
              </a:rPr>
              <a:t>The Community Guide. (n.d.). </a:t>
            </a:r>
            <a:r>
              <a:rPr lang="en" sz="1600" i="1" dirty="0">
                <a:latin typeface="Times New Roman" panose="02020603050405020304" pitchFamily="18" charset="0"/>
                <a:cs typeface="Times New Roman" panose="02020603050405020304" pitchFamily="18" charset="0"/>
              </a:rPr>
              <a:t>Heart disease and stroke prevention: Self-measured blood pressure monitoring interventions for improved blood pressure control when combined with additional support</a:t>
            </a:r>
            <a:r>
              <a:rPr lang="en" sz="1600" dirty="0">
                <a:latin typeface="Times New Roman" panose="02020603050405020304" pitchFamily="18" charset="0"/>
                <a:cs typeface="Times New Roman" panose="02020603050405020304" pitchFamily="18" charset="0"/>
              </a:rPr>
              <a:t>.</a:t>
            </a:r>
            <a:r>
              <a:rPr lang="en" sz="1600" dirty="0">
                <a:uFill>
                  <a:noFill/>
                </a:uFill>
                <a:latin typeface="Times New Roman" panose="02020603050405020304" pitchFamily="18" charset="0"/>
                <a:cs typeface="Times New Roman" panose="02020603050405020304" pitchFamily="18" charset="0"/>
                <a:hlinkClick r:id="rId10"/>
              </a:rPr>
              <a:t> </a:t>
            </a:r>
            <a:r>
              <a:rPr lang="en" sz="1600" u="sng" dirty="0">
                <a:latin typeface="Times New Roman" panose="02020603050405020304" pitchFamily="18" charset="0"/>
                <a:cs typeface="Times New Roman" panose="02020603050405020304" pitchFamily="18" charset="0"/>
                <a:hlinkClick r:id="rId11"/>
              </a:rPr>
              <a:t>https://www.thecommunityguide.org/findings/heart-disease-stroke-prevention-self-measured-blood-pressure-with-additional-support.html</a:t>
            </a:r>
            <a:endParaRPr sz="16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467" dirty="0">
                <a:latin typeface="Times New Roman" panose="02020603050405020304" pitchFamily="18" charset="0"/>
                <a:cs typeface="Times New Roman" panose="02020603050405020304" pitchFamily="18" charset="0"/>
              </a:rPr>
              <a:t>Chronic Kidney Disease Improvement in Research and Treatment Act, H.R. 5027, 118th </a:t>
            </a:r>
            <a:r>
              <a:rPr lang="en" sz="1467" dirty="0" err="1">
                <a:latin typeface="Times New Roman" panose="02020603050405020304" pitchFamily="18" charset="0"/>
                <a:cs typeface="Times New Roman" panose="02020603050405020304" pitchFamily="18" charset="0"/>
              </a:rPr>
              <a:t>Cong</a:t>
            </a:r>
            <a:r>
              <a:rPr lang="en" sz="1467" dirty="0">
                <a:latin typeface="Times New Roman" panose="02020603050405020304" pitchFamily="18" charset="0"/>
                <a:cs typeface="Times New Roman" panose="02020603050405020304" pitchFamily="18" charset="0"/>
              </a:rPr>
              <a:t>. (2023).</a:t>
            </a:r>
            <a:r>
              <a:rPr lang="en" sz="1467" dirty="0">
                <a:uFill>
                  <a:noFill/>
                </a:uFill>
                <a:latin typeface="Times New Roman" panose="02020603050405020304" pitchFamily="18" charset="0"/>
                <a:cs typeface="Times New Roman" panose="02020603050405020304" pitchFamily="18" charset="0"/>
                <a:hlinkClick r:id="rId12"/>
              </a:rPr>
              <a:t> </a:t>
            </a:r>
            <a:r>
              <a:rPr lang="en" sz="1467" u="sng" dirty="0">
                <a:latin typeface="Times New Roman" panose="02020603050405020304" pitchFamily="18" charset="0"/>
                <a:cs typeface="Times New Roman" panose="02020603050405020304" pitchFamily="18" charset="0"/>
                <a:hlinkClick r:id="rId12"/>
              </a:rPr>
              <a:t>https://www.congress.gov/bill/118th-congress/house-bill/5027</a:t>
            </a:r>
            <a:endParaRPr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None/>
            </a:pPr>
            <a:r>
              <a:rPr lang="en" sz="1467" dirty="0">
                <a:latin typeface="Times New Roman" panose="02020603050405020304" pitchFamily="18" charset="0"/>
                <a:cs typeface="Times New Roman" panose="02020603050405020304" pitchFamily="18" charset="0"/>
              </a:rPr>
              <a:t>Chronic Kidney Disease Improvement in Research and Treatment Act, S. 4469, 118th </a:t>
            </a:r>
            <a:r>
              <a:rPr lang="en" sz="1467" dirty="0" err="1">
                <a:latin typeface="Times New Roman" panose="02020603050405020304" pitchFamily="18" charset="0"/>
                <a:cs typeface="Times New Roman" panose="02020603050405020304" pitchFamily="18" charset="0"/>
              </a:rPr>
              <a:t>Cong</a:t>
            </a:r>
            <a:r>
              <a:rPr lang="en" sz="1467" dirty="0">
                <a:latin typeface="Times New Roman" panose="02020603050405020304" pitchFamily="18" charset="0"/>
                <a:cs typeface="Times New Roman" panose="02020603050405020304" pitchFamily="18" charset="0"/>
              </a:rPr>
              <a:t>. (2024).</a:t>
            </a:r>
            <a:r>
              <a:rPr lang="en" sz="1467" dirty="0">
                <a:uFill>
                  <a:noFill/>
                </a:uFill>
                <a:latin typeface="Times New Roman" panose="02020603050405020304" pitchFamily="18" charset="0"/>
                <a:cs typeface="Times New Roman" panose="02020603050405020304" pitchFamily="18" charset="0"/>
                <a:hlinkClick r:id="rId13"/>
              </a:rPr>
              <a:t> </a:t>
            </a:r>
            <a:r>
              <a:rPr lang="en" sz="1467" u="sng" dirty="0">
                <a:latin typeface="Times New Roman" panose="02020603050405020304" pitchFamily="18" charset="0"/>
                <a:cs typeface="Times New Roman" panose="02020603050405020304" pitchFamily="18" charset="0"/>
                <a:hlinkClick r:id="rId13"/>
              </a:rPr>
              <a:t>https://www.congress.gov/bill/118th-congress/senate-bill/4469</a:t>
            </a:r>
            <a:endParaRPr sz="1600" dirty="0">
              <a:latin typeface="Times New Roman" panose="02020603050405020304" pitchFamily="18" charset="0"/>
              <a:cs typeface="Times New Roman" panose="02020603050405020304" pitchFamily="18" charset="0"/>
            </a:endParaRPr>
          </a:p>
          <a:p>
            <a:pPr marL="0" lvl="0" indent="0" algn="l" rtl="0">
              <a:spcBef>
                <a:spcPts val="1600"/>
              </a:spcBef>
              <a:spcAft>
                <a:spcPts val="0"/>
              </a:spcAft>
              <a:buClr>
                <a:schemeClr val="dk1"/>
              </a:buClr>
              <a:buSzPct val="91667"/>
              <a:buFont typeface="Arial"/>
              <a:buNone/>
            </a:pPr>
            <a:endParaRPr sz="1600" dirty="0"/>
          </a:p>
          <a:p>
            <a:pPr marL="0" lvl="0" indent="0" algn="l" rtl="0">
              <a:spcBef>
                <a:spcPts val="0"/>
              </a:spcBef>
              <a:spcAft>
                <a:spcPts val="1600"/>
              </a:spcAft>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227</Words>
  <Application>Microsoft Office PowerPoint</Application>
  <PresentationFormat>Widescreen</PresentationFormat>
  <Paragraphs>27</Paragraphs>
  <Slides>27</Slides>
  <Notes>24</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Chronic Kidney Disease </vt:lpstr>
      <vt:lpstr>Chronic Kidney Disease </vt:lpstr>
      <vt:lpstr>PowerPoint Presentation</vt:lpstr>
      <vt:lpstr>PowerPoint Presentation</vt:lpstr>
      <vt:lpstr>PowerPoint Presentation</vt:lpstr>
      <vt:lpstr>PowerPoint Presentation</vt:lpstr>
      <vt:lpstr>PowerPoint Presentation</vt:lpstr>
      <vt:lpstr>PowerPoint Presentation</vt:lpstr>
      <vt:lpstr>CKD lens on County Health Rankings </vt:lpstr>
      <vt:lpstr>National Chronic Kidney Disease Surveillance System (CDC) </vt:lpstr>
      <vt:lpstr>National Chronic Kidney Disease Surveillance System (CDC) </vt:lpstr>
      <vt:lpstr>2.  National Kidney Disease Education Program (NKDEP) </vt:lpstr>
      <vt:lpstr>2.  National Kidney Disease Education Program (NKDEP) </vt:lpstr>
      <vt:lpstr>3. Advancing American Kidney Health Initiative (2019)</vt:lpstr>
      <vt:lpstr>3. Advancing American Kidney Health Initiative (2019) </vt:lpstr>
      <vt:lpstr>Intervention 1: Diabetes Self-Managment Education for CKD Prevention  </vt:lpstr>
      <vt:lpstr>Intervention 1: Diabetes Self-Managment Education for CKD Prevention  </vt:lpstr>
      <vt:lpstr>Intervention 2: Annual CKD Screening for High-Risk Adults     </vt:lpstr>
      <vt:lpstr>Intervention 2: Annual CKD Screening for High-Risk Adults  </vt:lpstr>
      <vt:lpstr>Intervention 3: Hypertension Control with Self-Monitored Blood Pressure and Follow-Up Care </vt:lpstr>
      <vt:lpstr>Intervention 3: Hypertension Control with Self-Monitored Blood Pressure and Follow-Up Care </vt:lpstr>
      <vt:lpstr>The Chronic Kidney Disease Improvement in Research and Treatment Act (H.R. 5027 / S. 4469) </vt:lpstr>
      <vt:lpstr>Support and Opposition: Key Arguments </vt:lpstr>
      <vt:lpstr>PowerPoint Presentation</vt:lpstr>
      <vt:lpstr>How to Get Involved in the Policy Process </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Parker, William G.</dc:creator>
  <cp:lastModifiedBy>Almutairi, Manal Awwadh</cp:lastModifiedBy>
  <cp:revision>10</cp:revision>
  <dcterms:created xsi:type="dcterms:W3CDTF">2023-09-18T15:33:38Z</dcterms:created>
  <dcterms:modified xsi:type="dcterms:W3CDTF">2026-04-18T22:42:00Z</dcterms:modified>
</cp:coreProperties>
</file>